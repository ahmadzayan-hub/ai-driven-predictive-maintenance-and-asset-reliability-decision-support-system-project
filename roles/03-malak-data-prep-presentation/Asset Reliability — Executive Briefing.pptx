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one-line message: we lose far more money when equipment stops than we spend keeping it running, and a handful of decisions can change that. The analysis covers 180 assets in five groups: heavy mining equipment, railway signalling, hospital equipment, oil and gas pumps, and power systems. The data is a synthetic teaching dataset, so treat the dollar figures as illustrations of the method rather than audited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in one breath. We built one dataset that connects five things that usually sit in separate systems: the condition of each machine, its breakdowns, the repair work, the people and parts used, and the money lost when it stops. It covers 5,000 records over three years for 180 assets of five kinds, in five industries: mining, railways, healthcare, oil and gas, and power infrastructure. The data is synthetic, built for teaching, so the numbers illustrate the method. The goal is to move from simply recording repairs after they happen to deciding where to act before equipment fails.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downtime is the real cost, not maintenance. For every dollar we spend keeping equipment running, we lose about four and a half dollars when it stops. So cutting maintenance budgets to save money is usually the wrong move; spending smarter to avoid breakdowns is the right one. Overall equipment is available about 97% of the time, which sounds good, but the remaining 3% is where the $229M goes.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headline indicators from our publication. Read the top row as good news: equipment is available almost 97% of the time and runs about 342 hours between breakdowns. Three-quarters of maintenance is planned rather than emergency work. The orange numbers are the warning signs: only three-quarters of repairs meet their deadline, and 14% of work orders are overdue. 3,950 of the 5,000 records have at least one overdue work order. Averages hide the problem, which is why the rest of the deck looks at specific groups of equipment.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findings, explain the method once. Step 1: we checked the data was complete and that our totals match the figures already published by the team, so we all start from the same numbers. Step 2: we grouped the records, for example by maintenance approach or by how important the equipment is, and compared them. Step 3: before blaming a cause, we checked that the groups were fair to compare, for example that one group was not simply older, and we tested other explanations such as the technician team or the shift. Step 4: we priced each gap the same simple way: the difference per unit, multiplied by how many units it affects. After each finding there is a slide that shows this arithmetic.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answers which assets are deteriorating. Railway signalling has the lowest health score, the most breakdowns, the shortest time between failures and the largest losses. Hospital equipment is the healthiest. Because each equipment type behaves differently, warning limits should be set per type rather than one rule for all. We also checked the five types of fault. Each accounts for about a fifth of downtime, so a traditional “fix the top fault” Pareto exercise does not help here; you would need four of the five fault types to cover 80% of downtime.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ways we look after equipment. One: wait until it breaks, then fix it. Two: service it on a fixed calendar. Three: watch its condition with sensors and step in when the readings say it is wearing out. Waiting for failure looks cheap on the maintenance budget, but those machines break far more often, so the total cost per running hour is $163 against $102 for sensor-guided care. If the equipment we currently run to failure behaved like our sensor-guided equipment, we would avoid about 660 breakdowns, 7,900 hours of downtime and roughly $22M of cost. Sensor-guided care is not more expensive; it is cheaper per hour as well. A middle option, condition checks by technicians, delivers almost exactly the same result and may be cheaper to roll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per hour: the sensor-guided group simply runs more hours, so comparing raw totals would be unfair. We add maintenance spend and lost output for each group, then divide by the hours it ran. Waiting until failure costs $162.9 per hour, sensor-guided care $102.2. The gap is $60.6 per hour. The run-to-failure equipment ran 364,450 hours, so closing the gap is worth 60.6 × 364,450, about $22.1M. We also checked the two groups are alike: same average age and the same share of critical equipment, and the pattern holds at every age. So the difference comes from the maintenance approach, not from older or more important machines.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Equipment is labelled by importance: critical, high, medium, low. You would expect the critical machines to be repaired first and fastest. They are not. They get slightly less technician time than low-priority equipment, sit in the same backlog, and take about 5 hours longer to fix. Because they matter most, that extra downtime costs the most: around $15.9M across the period. The fix is a management rule, not new technology: critical work goes to the front of the queue with parts and staff reserved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divided total lost output by the number of records in each group. A critical record loses $61,015 on average, everything else $42,602. The difference, $18,413, times 862 critical records is about $15.9M. To find out why, we checked the cost of each hour of downtime: it is the same for critical and other equipment, roughly $2,500 an hour. So critical machines don’t lose more per hour; they lose more because they stay down 16.3 hours per breakdown instead of 11.1. That points to how work is prioritised, which is why the action is to put critical jobs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repair job gets a deadline: 4, 8, 12 or 24 hours. Repairs take around 12 hours no matter which deadline they get, so jobs with a 4-hour deadline almost always miss it and jobs with a 24-hour deadline almost never do. The deadlines are not linked to how important the equipment is. This is a quick, free fix: give realistic deadlines based on importance. Critical equipment should get the tight deadlines plus the resources to meet them; low-importance equipment can wait 24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every job we compared the hours it actually took with the deadline it was given, and counted the misses. The pattern is striking: jobs take about 12 hours whatever deadline they get, so the deadline alone decides whether it is “missed”. We then checked whether a weak team or the night shift was to blame. They are not: every team misses about the same share. And deadlines are not linked to importance: a quarter of critical jobs get the most relaxed 24-hour deadline. That is why the action is to reset deadlines by importance, not to push teams harder.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equipment ages it wears, and the share of machines in the high-risk category climbs fast after about year 9: 9% at 9–12 years, 18% at 12–15, and 35% beyond 15. The 289 high-risk records are only 6% of what we track but carry 11% of the losses, about $25M. The practical rule: any machine over 10 years old with a poor condition score should be inspected and either overhauled or scheduled for replacement. Half of these high-risk machines are on the wait-until-it-breaks approach, which links back to finding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grouped every record by the age of the equipment and counted how many were rated high-risk in each group. The high-risk label is not our opinion; it comes from the dataset’s own risk score, which blends the chance of failure, physical condition, overdue work and availability. Anything above 32 is high-risk. The share climbs from about 1% for young equipment to 35% for equipment over 15 years old. We then looked for a simple rule managers can apply: “older than 10 years and condition score under 70” catches 181 of the 289 high-risk cases, which is 63%. That rule became the inspection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monitoring system raises an alarm when temperature, vibration or the condition score crosses a limit. The data shows temperature and pressure have no link to breakdowns, so the temperature rule creates false alarms, mostly on mining equipment and pumps that simply run hot. Meanwhile three quarters of the truly high-risk machines are only on the watch list. Vibration and the condition score are the reliable warning signs. Re-tuning the alarm rules costs nothing and points technicians at the right machines.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sensor reading we sorted the records from best to worst and compared the chance of failure for the best 10% against the worst 10%. A useful warning sign shows a big difference. Condition score goes from 16% to 43% and vibration from 25% to 35%, so both matter. Temperature and pressure barely move it, 29% to 30%, so they tell us almost nothing. Yet the alarm system has a hard temperature limit of 82 degrees, which set off 140 of the 263 alarms, and only 12 of those machines were actually high-risk. Alarms based on condition were right two times out of three. That is why we recommend alarms based on vibration and condition instead of temperature.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Spare parts are cheap compared with downtime. Across the business we spend about 12 cents on spares for every dollar lost to breakdowns, but for critical equipment that drops to 9 cents. All five types of critical equipment are the five most under-stocked groups. When a needed part is missing, the same kind of job loses about 17% more money. Recommendation: bring spare-parts cover for critical equipment up to the same level as everything else, starting with heavy mining equipment.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Spares cover: we divided what we spend on spare parts by what we lose to downtime, for each group. Critical equipment gets 9 cents of spares for each dollar it loses, other equipment 13 cents. Stockout effect: missing parts only happen on machines with many repair orders, so comparing them with all jobs would exaggerate the effect. We compared only the 446 busy jobs: those with a stockout lost 17% more. Some of that is because they also had more breakdowns, so we used a statistical adjustment to separate the two; the stockout on its own adds about $7,000 per job. Both numbers point the same way: stock more parts for critical equipment.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Clustering is an AI method that sorts records into groups that behave alike, without being told the groups in advance. We gave it eight measures: age, condition, vibration, breakdowns, downtime, money lost, overdue work and deadline compliance. It found four natural segments. The key one is “worn and failing”: only 16% of records but 44% of all losses and most of the high-risk cases. The second, “slow service”, is not in bad physical shape but misses most deadlines, so its fix is faster response rather than new equipment. Each segment gets a different treatment, which is far cheaper than treating the whole fleet the same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publication set out twelve business questions. This slide answers the first six in one line each. Every answer comes from the analysis earlier in the deck. The backlog answer is worth stressing: overdue work is spread evenly across every team, shift, site and equipment type, which tells us it is a planning and prioritisation problem, not a staffing problem in one place. Repeat repairs follow the machine, not the technician: machines with multiple breakdowns are twice as likely to need a second visit.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remaining six questions. Money exposure is highest in railway signalling and in critical equipment. Spare parts should be funded where each dollar protects the most output, which puts critical heavy mining equipment first. Deadline compliance is weakest for critical equipment, which links back to the random deadlines finding. For escalation, 58 records are both critical and high-risk, and almost all of them miss their deadlines. On safety, there were only 3 incidents, all on run-to-failure equipment. The last answer explains how AI output turns into action: each machine gets a priority score combining how likely it is to fail, how much its downtime costs and how important it is, and the work queue is sorted by that score every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logic from problem to action. For each problem we asked: what does the data say is causing it, and what did we rule out? For example, missed deadlines are not caused by slow teams, because every team misses about the same share; they are caused by the way deadlines are assigned. So the action changes how deadlines are set rather than pushing teams harder. Each action is then valued with the arithmetic from the earlier “How we got this number” slides. The 66% figure: run-to-failure equipment has 4.57 breakdowns per 1,000 running hours against 2.76 for sensor-guided equipment.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we had the actions, we decided the order with three questions. How much does it cost to start? How quickly does it take effect? How strong is the evidence, meaning how many records support it? Rule changes that cost nothing, work in days and rest on thousands of records go first. Actions that need budget, like monitoring equipment or extra spare parts, come in months two and three, even though the sensor-guided switch has the biggest dollar value. The AI model comes last: it tested well, picking out 86% of high-risk cases early, but it was built on teaching data and needs the asset records fixed before it can be trusted on real equipment.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leave on screen during discussion. Each decision ties back to one finding. Be clear that the savings overlap: moving equipment to sensor-guided care and prioritising critical machines partly fix the same losses, so the honest headline is “around $22M or more”, not the sum of the column. Decisions 2, 3 and 4 are management rules that need no new spending, which makes them easy first wins.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order matters. The first month is about rules that cost nothing: deadlines, priorities and alarm settings. The second and third months change how we maintain equipment and top up spare parts. Only after that do we add the AI risk-warning model and dashboards. In testing, the model picked out 86% of high-risk cases by looking at just the top 10% of machines it flagged. People still make the final call on every repair.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publication proposed several AI uses, and we tested each on the project data. Shaded rows are ready now. The risk classifier is the standout: if technicians check only the 10% of machines it rates riskiest, they catch 86% of the real high-risk cases. Clustering produced the four segments on the earlier slide. The recommendation engine turns the model output into a sorted work list. Downtime and cost estimates become accurate once the breakdown has been logged at triage, explaining about three-quarters of the variation in downtime. Predicting overdue work is weak, which confirms that overdue work comes from planning, not from the machines. Remaining-life prediction needs a permanent ID per machine, and the health score and workload stayed flat from 2024 to 2026, so the forecast is simply “steady” for now. All tests were trained on 2024–2025 data and checked on 2026 data, the way they would be used in real life.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five Power BI dashboards from the publication, each built for one audience. Executives get the fleet health view, reliability engineers the failure view, maintenance managers the work-order view, finance the cost view, and asset and risk leaders the predictive view with the AI priority queue. Shared filters mean that selecting, say, railway signalling at Site 25 updates every page at once. All totals reconcile with the dataset, so the numbers in this deck and in the dashboards will match.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publication’s conclusion. The data and the AI tell us where to act, but value only appears when a prediction becomes a work order that is scheduled on time, has the budget and parts it needs, and has someone accountable for it. The governance principles from our publication: models are tested on data they haven’t seen, they explain their reasons, they are monitored, and a person always authorises the work. Thank the audience and open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for data questions. First, the asset ID: in this dataset the same ID is reused for different kinds of equipment, so we built a combined key from the ID and the equipment type. That makes every key unique for Power BI and gives 900 asset keys, each with about 5 or 6 records. Be honest if asked: even with this key, a record’s site and age can change from one record to the next, because the data is synthetic. It works for reporting but not for following one real machine through its life; a live system would use a permanent asset-register number. Second, the health score formula leaves out failure risk and overdue work and gives a lower score to machines that only had routine service, so we recommend re-weighting it. Third, about 18% of maintenance cost is not labour or parts; we show it as “other costs” so all totals reconcile.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4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315690"/>
            <a:ext cx="10566400" cy="870446"/>
          </a:xfrm>
          <a:prstGeom prst="rect">
            <a:avLst/>
          </a:prstGeom>
          <a:noFill/>
          <a:ln/>
        </p:spPr>
        <p:txBody>
          <a:bodyPr wrap="square" lIns="0" tIns="0" rIns="0" bIns="0" rtlCol="0" anchor="t"/>
          <a:lstStyle>
            <a:lvl1pPr algn="l" indent="0" marL="0">
              <a:lnSpc>
                <a:spcPct val="115000"/>
              </a:lnSpc>
              <a:buNone/>
              <a:defRPr lang="en-US" sz="2980" dirty="0">
                <a:solidFill>
                  <a:srgbClr val="14213D"/>
                </a:solidFill>
                <a:latin typeface="Domine" pitchFamily="34" charset="0"/>
                <a:ea typeface="Domine" pitchFamily="34" charset="-122"/>
                <a:cs typeface="Domine" pitchFamily="34" charset="-120"/>
              </a:defRPr>
            </a:lvl1pPr>
          </a:lstStyle>
          <a:p>
            <a:pPr algn="l" indent="0" marL="0">
              <a:lnSpc>
                <a:spcPct val="115000"/>
              </a:lnSpc>
              <a:buNone/>
            </a:pPr>
            <a:endParaRPr lang="en-US" sz="2980" dirty="0"/>
          </a:p>
        </p:txBody>
      </p:sp>
      <p:sp>
        <p:nvSpPr>
          <p:cNvPr id="3" name="Text Placeholder 2"/>
          <p:cNvSpPr/>
          <p:nvPr>
            <p:ph idx="101" type="body"/>
          </p:nvPr>
        </p:nvSpPr>
        <p:spPr>
          <a:xfrm>
            <a:off x="812800" y="2490936"/>
            <a:ext cx="10566400" cy="3554264"/>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Nunito Sans" pitchFamily="34" charset="0"/>
                <a:ea typeface="Nunito Sans" pitchFamily="34" charset="-122"/>
                <a:cs typeface="Nunito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4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315690"/>
            <a:ext cx="10566400" cy="870446"/>
          </a:xfrm>
          <a:prstGeom prst="rect">
            <a:avLst/>
          </a:prstGeom>
          <a:noFill/>
          <a:ln/>
        </p:spPr>
        <p:txBody>
          <a:bodyPr wrap="square" lIns="0" tIns="0" rIns="0" bIns="0" rtlCol="0" anchor="t"/>
          <a:lstStyle>
            <a:lvl1pPr algn="l" indent="0" marL="0">
              <a:lnSpc>
                <a:spcPct val="115000"/>
              </a:lnSpc>
              <a:buNone/>
              <a:defRPr lang="en-US" sz="2980" dirty="0">
                <a:solidFill>
                  <a:srgbClr val="14213D"/>
                </a:solidFill>
                <a:latin typeface="Domine" pitchFamily="34" charset="0"/>
                <a:ea typeface="Domine" pitchFamily="34" charset="-122"/>
                <a:cs typeface="Domine" pitchFamily="34" charset="-120"/>
              </a:defRPr>
            </a:lvl1pPr>
          </a:lstStyle>
          <a:p>
            <a:pPr algn="l" indent="0" marL="0">
              <a:lnSpc>
                <a:spcPct val="115000"/>
              </a:lnSpc>
              <a:buNone/>
            </a:pPr>
            <a:endParaRPr lang="en-US" sz="2980" dirty="0"/>
          </a:p>
        </p:txBody>
      </p:sp>
      <p:sp>
        <p:nvSpPr>
          <p:cNvPr id="3" name="Text Placeholder 2"/>
          <p:cNvSpPr/>
          <p:nvPr>
            <p:ph idx="101" type="body"/>
          </p:nvPr>
        </p:nvSpPr>
        <p:spPr>
          <a:xfrm>
            <a:off x="812800" y="2490936"/>
            <a:ext cx="10566400" cy="3554264"/>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Nunito Sans" pitchFamily="34" charset="0"/>
                <a:ea typeface="Nunito Sans" pitchFamily="34" charset="-122"/>
                <a:cs typeface="Nunito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172472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F0A35E"/>
                </a:solidFill>
                <a:latin typeface="Nunito Sans" pitchFamily="34" charset="0"/>
                <a:ea typeface="Nunito Sans" pitchFamily="34" charset="-122"/>
                <a:cs typeface="Nunito Sans" pitchFamily="34" charset="-120"/>
              </a:rPr>
              <a:t>EXECUTIVE BRIEFING · GROUP 9226, TEAM 3</a:t>
            </a:r>
            <a:endParaRPr lang="en-US" sz="1400" dirty="0"/>
          </a:p>
        </p:txBody>
      </p:sp>
      <p:sp>
        <p:nvSpPr>
          <p:cNvPr id="3" name="Text 1"/>
          <p:cNvSpPr/>
          <p:nvPr>
            <p:ph type="title"/>
          </p:nvPr>
        </p:nvSpPr>
        <p:spPr>
          <a:xfrm>
            <a:off x="812800" y="2227610"/>
            <a:ext cx="9810750" cy="2036961"/>
          </a:xfrm>
          <a:prstGeom prst="rect">
            <a:avLst/>
          </a:prstGeom>
          <a:noFill/>
          <a:ln/>
        </p:spPr>
        <p:txBody>
          <a:bodyPr wrap="square" lIns="0" tIns="0" rIns="0" bIns="0" rtlCol="0" anchor="t">
            <a:normAutofit/>
          </a:bodyPr>
          <a:lstStyle/>
          <a:p>
            <a:pPr algn="l" indent="0" marL="0">
              <a:lnSpc>
                <a:spcPts val="5280"/>
              </a:lnSpc>
              <a:buNone/>
            </a:pPr>
            <a:r>
              <a:rPr lang="en-US" sz="4800" b="1" i="0" dirty="0">
                <a:solidFill>
                  <a:srgbClr val="F6F4EE"/>
                </a:solidFill>
                <a:latin typeface="Domine" pitchFamily="18" charset="0"/>
                <a:ea typeface="Domine" pitchFamily="18" charset="-122"/>
                <a:cs typeface="Domine" pitchFamily="18" charset="-120"/>
              </a:rPr>
              <a:t>Breakdowns cost us four times what we spend preventing them</a:t>
            </a:r>
            <a:endParaRPr lang="en-US" sz="4800" dirty="0"/>
          </a:p>
        </p:txBody>
      </p:sp>
      <p:sp>
        <p:nvSpPr>
          <p:cNvPr id="4" name="Text 2"/>
          <p:cNvSpPr/>
          <p:nvPr/>
        </p:nvSpPr>
        <p:spPr>
          <a:xfrm>
            <a:off x="812800" y="4493171"/>
            <a:ext cx="8502650" cy="66546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9D3E3"/>
                </a:solidFill>
                <a:latin typeface="Nunito Sans" pitchFamily="34" charset="0"/>
                <a:ea typeface="Nunito Sans" pitchFamily="34" charset="-122"/>
                <a:cs typeface="Nunito Sans" pitchFamily="34" charset="-120"/>
              </a:rPr>
              <a:t>What 5,000 maintenance records across 180 assets tell us, and five decisions that could recover about $22M</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C0631A"/>
                </a:solidFill>
                <a:latin typeface="Nunito Sans" pitchFamily="34" charset="0"/>
                <a:ea typeface="Nunito Sans" pitchFamily="34" charset="-122"/>
                <a:cs typeface="Nunito Sans" pitchFamily="34" charset="-120"/>
              </a:rPr>
              <a:t>THE PROJECT</a:t>
            </a:r>
            <a:endParaRPr lang="en-US" sz="1400" dirty="0"/>
          </a:p>
        </p:txBody>
      </p:sp>
      <p:sp>
        <p:nvSpPr>
          <p:cNvPr id="3" name="Text 1"/>
          <p:cNvSpPr/>
          <p:nvPr>
            <p:ph type="title"/>
          </p:nvPr>
        </p:nvSpPr>
        <p:spPr>
          <a:xfrm>
            <a:off x="812800" y="1366490"/>
            <a:ext cx="10883392" cy="960041"/>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Domine" pitchFamily="18" charset="0"/>
                <a:ea typeface="Domine" pitchFamily="18" charset="-122"/>
                <a:cs typeface="Domine" pitchFamily="18" charset="-120"/>
              </a:rPr>
              <a:t>One dataset that links equipment condition, repair work and money</a:t>
            </a:r>
            <a:endParaRPr lang="en-US" sz="3200" dirty="0"/>
          </a:p>
        </p:txBody>
      </p:sp>
      <p:sp>
        <p:nvSpPr>
          <p:cNvPr id="4" name="Shape 2"/>
          <p:cNvSpPr/>
          <p:nvPr/>
        </p:nvSpPr>
        <p:spPr>
          <a:xfrm>
            <a:off x="815975" y="2609106"/>
            <a:ext cx="2501900" cy="1581051"/>
          </a:xfrm>
          <a:prstGeom prst="roundRect">
            <a:avLst>
              <a:gd name="adj" fmla="val 6225"/>
            </a:avLst>
          </a:prstGeom>
          <a:solidFill>
            <a:srgbClr val="FFFFFF"/>
          </a:solidFill>
          <a:ln w="6350">
            <a:solidFill>
              <a:srgbClr val="E2DED3"/>
            </a:solidFill>
            <a:prstDash val="solid"/>
          </a:ln>
        </p:spPr>
      </p:sp>
      <p:sp>
        <p:nvSpPr>
          <p:cNvPr id="5" name="Text 3"/>
          <p:cNvSpPr/>
          <p:nvPr/>
        </p:nvSpPr>
        <p:spPr>
          <a:xfrm>
            <a:off x="1047750" y="2840881"/>
            <a:ext cx="2099501" cy="59432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14213D"/>
                </a:solidFill>
                <a:latin typeface="Domine" pitchFamily="18" charset="0"/>
                <a:ea typeface="Domine" pitchFamily="18" charset="-122"/>
                <a:cs typeface="Domine" pitchFamily="18" charset="-120"/>
              </a:rPr>
              <a:t>5,000</a:t>
            </a:r>
            <a:endParaRPr lang="en-US" sz="3200" dirty="0"/>
          </a:p>
        </p:txBody>
      </p:sp>
      <p:sp>
        <p:nvSpPr>
          <p:cNvPr id="6" name="Text 4"/>
          <p:cNvSpPr/>
          <p:nvPr/>
        </p:nvSpPr>
        <p:spPr>
          <a:xfrm>
            <a:off x="1047750" y="3460601"/>
            <a:ext cx="2099501"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Nunito Sans" pitchFamily="34" charset="0"/>
                <a:ea typeface="Nunito Sans" pitchFamily="34" charset="-122"/>
                <a:cs typeface="Nunito Sans" pitchFamily="34" charset="-120"/>
              </a:rPr>
              <a:t>records</a:t>
            </a:r>
            <a:endParaRPr lang="en-US" sz="1400" dirty="0"/>
          </a:p>
        </p:txBody>
      </p:sp>
      <p:sp>
        <p:nvSpPr>
          <p:cNvPr id="7" name="Shape 5"/>
          <p:cNvSpPr/>
          <p:nvPr/>
        </p:nvSpPr>
        <p:spPr>
          <a:xfrm>
            <a:off x="3502025" y="2609106"/>
            <a:ext cx="2501900" cy="1581051"/>
          </a:xfrm>
          <a:prstGeom prst="roundRect">
            <a:avLst>
              <a:gd name="adj" fmla="val 6225"/>
            </a:avLst>
          </a:prstGeom>
          <a:solidFill>
            <a:srgbClr val="FFFFFF"/>
          </a:solidFill>
          <a:ln w="6350">
            <a:solidFill>
              <a:srgbClr val="E2DED3"/>
            </a:solidFill>
            <a:prstDash val="solid"/>
          </a:ln>
        </p:spPr>
      </p:sp>
      <p:sp>
        <p:nvSpPr>
          <p:cNvPr id="8" name="Text 6"/>
          <p:cNvSpPr/>
          <p:nvPr/>
        </p:nvSpPr>
        <p:spPr>
          <a:xfrm>
            <a:off x="3733800" y="2840881"/>
            <a:ext cx="2099501" cy="59432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14213D"/>
                </a:solidFill>
                <a:latin typeface="Domine" pitchFamily="18" charset="0"/>
                <a:ea typeface="Domine" pitchFamily="18" charset="-122"/>
                <a:cs typeface="Domine" pitchFamily="18" charset="-120"/>
              </a:rPr>
              <a:t>60</a:t>
            </a:r>
            <a:endParaRPr lang="en-US" sz="3200" dirty="0"/>
          </a:p>
        </p:txBody>
      </p:sp>
      <p:sp>
        <p:nvSpPr>
          <p:cNvPr id="9" name="Text 7"/>
          <p:cNvSpPr/>
          <p:nvPr/>
        </p:nvSpPr>
        <p:spPr>
          <a:xfrm>
            <a:off x="3733800" y="3460601"/>
            <a:ext cx="2099501"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Nunito Sans" pitchFamily="34" charset="0"/>
                <a:ea typeface="Nunito Sans" pitchFamily="34" charset="-122"/>
                <a:cs typeface="Nunito Sans" pitchFamily="34" charset="-120"/>
              </a:rPr>
              <a:t>fields: 18 descriptive, 30 measured, 12 scores</a:t>
            </a:r>
            <a:endParaRPr lang="en-US" sz="1400" dirty="0"/>
          </a:p>
        </p:txBody>
      </p:sp>
      <p:sp>
        <p:nvSpPr>
          <p:cNvPr id="10" name="Shape 8"/>
          <p:cNvSpPr/>
          <p:nvPr/>
        </p:nvSpPr>
        <p:spPr>
          <a:xfrm>
            <a:off x="6188075" y="2609106"/>
            <a:ext cx="2501900" cy="1581051"/>
          </a:xfrm>
          <a:prstGeom prst="roundRect">
            <a:avLst>
              <a:gd name="adj" fmla="val 6225"/>
            </a:avLst>
          </a:prstGeom>
          <a:solidFill>
            <a:srgbClr val="FFFFFF"/>
          </a:solidFill>
          <a:ln w="6350">
            <a:solidFill>
              <a:srgbClr val="E2DED3"/>
            </a:solidFill>
            <a:prstDash val="solid"/>
          </a:ln>
        </p:spPr>
      </p:sp>
      <p:sp>
        <p:nvSpPr>
          <p:cNvPr id="11" name="Text 9"/>
          <p:cNvSpPr/>
          <p:nvPr/>
        </p:nvSpPr>
        <p:spPr>
          <a:xfrm>
            <a:off x="6419850" y="2840881"/>
            <a:ext cx="2099501" cy="59432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14213D"/>
                </a:solidFill>
                <a:latin typeface="Domine" pitchFamily="18" charset="0"/>
                <a:ea typeface="Domine" pitchFamily="18" charset="-122"/>
                <a:cs typeface="Domine" pitchFamily="18" charset="-120"/>
              </a:rPr>
              <a:t>180</a:t>
            </a:r>
            <a:endParaRPr lang="en-US" sz="3200" dirty="0"/>
          </a:p>
        </p:txBody>
      </p:sp>
      <p:sp>
        <p:nvSpPr>
          <p:cNvPr id="12" name="Text 10"/>
          <p:cNvSpPr/>
          <p:nvPr/>
        </p:nvSpPr>
        <p:spPr>
          <a:xfrm>
            <a:off x="6419850" y="3460601"/>
            <a:ext cx="2099501"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Nunito Sans" pitchFamily="34" charset="0"/>
                <a:ea typeface="Nunito Sans" pitchFamily="34" charset="-122"/>
                <a:cs typeface="Nunito Sans" pitchFamily="34" charset="-120"/>
              </a:rPr>
              <a:t>assets across 25 sites and 4 regions</a:t>
            </a:r>
            <a:endParaRPr lang="en-US" sz="1400" dirty="0"/>
          </a:p>
        </p:txBody>
      </p:sp>
      <p:sp>
        <p:nvSpPr>
          <p:cNvPr id="13" name="Shape 11"/>
          <p:cNvSpPr/>
          <p:nvPr/>
        </p:nvSpPr>
        <p:spPr>
          <a:xfrm>
            <a:off x="8874125" y="2609106"/>
            <a:ext cx="2501900" cy="1581051"/>
          </a:xfrm>
          <a:prstGeom prst="roundRect">
            <a:avLst>
              <a:gd name="adj" fmla="val 6225"/>
            </a:avLst>
          </a:prstGeom>
          <a:solidFill>
            <a:srgbClr val="FFFFFF"/>
          </a:solidFill>
          <a:ln w="6350">
            <a:solidFill>
              <a:srgbClr val="E2DED3"/>
            </a:solidFill>
            <a:prstDash val="solid"/>
          </a:ln>
        </p:spPr>
      </p:sp>
      <p:sp>
        <p:nvSpPr>
          <p:cNvPr id="14" name="Text 12"/>
          <p:cNvSpPr/>
          <p:nvPr/>
        </p:nvSpPr>
        <p:spPr>
          <a:xfrm>
            <a:off x="9105900" y="2840881"/>
            <a:ext cx="2099501" cy="59432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14213D"/>
                </a:solidFill>
                <a:latin typeface="Domine" pitchFamily="18" charset="0"/>
                <a:ea typeface="Domine" pitchFamily="18" charset="-122"/>
                <a:cs typeface="Domine" pitchFamily="18" charset="-120"/>
              </a:rPr>
              <a:t>2024–26</a:t>
            </a:r>
            <a:endParaRPr lang="en-US" sz="3200" dirty="0"/>
          </a:p>
        </p:txBody>
      </p:sp>
      <p:sp>
        <p:nvSpPr>
          <p:cNvPr id="15" name="Text 13"/>
          <p:cNvSpPr/>
          <p:nvPr/>
        </p:nvSpPr>
        <p:spPr>
          <a:xfrm>
            <a:off x="9105900" y="3460601"/>
            <a:ext cx="2099501"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Nunito Sans" pitchFamily="34" charset="0"/>
                <a:ea typeface="Nunito Sans" pitchFamily="34" charset="-122"/>
                <a:cs typeface="Nunito Sans" pitchFamily="34" charset="-120"/>
              </a:rPr>
              <a:t>three years of observations</a:t>
            </a:r>
            <a:endParaRPr lang="en-US" sz="1400" dirty="0"/>
          </a:p>
        </p:txBody>
      </p:sp>
      <p:sp>
        <p:nvSpPr>
          <p:cNvPr id="16" name="Shape 14"/>
          <p:cNvSpPr/>
          <p:nvPr/>
        </p:nvSpPr>
        <p:spPr>
          <a:xfrm>
            <a:off x="815975" y="4501307"/>
            <a:ext cx="5187950" cy="1299121"/>
          </a:xfrm>
          <a:prstGeom prst="roundRect">
            <a:avLst>
              <a:gd name="adj" fmla="val 7576"/>
            </a:avLst>
          </a:prstGeom>
          <a:solidFill>
            <a:srgbClr val="FFFFFF"/>
          </a:solidFill>
          <a:ln w="6350">
            <a:solidFill>
              <a:srgbClr val="E2DED3"/>
            </a:solidFill>
            <a:prstDash val="solid"/>
          </a:ln>
        </p:spPr>
      </p:sp>
      <p:sp>
        <p:nvSpPr>
          <p:cNvPr id="17" name="Text 15"/>
          <p:cNvSpPr/>
          <p:nvPr/>
        </p:nvSpPr>
        <p:spPr>
          <a:xfrm>
            <a:off x="1047750" y="4733082"/>
            <a:ext cx="4866132"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Nunito Sans" pitchFamily="34" charset="0"/>
                <a:ea typeface="Nunito Sans" pitchFamily="34" charset="-122"/>
                <a:cs typeface="Nunito Sans" pitchFamily="34" charset="-120"/>
              </a:rPr>
              <a:t>Five equipment types</a:t>
            </a:r>
            <a:endParaRPr lang="en-US" sz="1600" dirty="0"/>
          </a:p>
        </p:txBody>
      </p:sp>
      <p:sp>
        <p:nvSpPr>
          <p:cNvPr id="18" name="Text 16"/>
          <p:cNvSpPr/>
          <p:nvPr/>
        </p:nvSpPr>
        <p:spPr>
          <a:xfrm>
            <a:off x="1047750" y="5053112"/>
            <a:ext cx="4866132"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A5568"/>
                </a:solidFill>
                <a:latin typeface="Nunito Sans" pitchFamily="34" charset="0"/>
                <a:ea typeface="Nunito Sans" pitchFamily="34" charset="-122"/>
                <a:cs typeface="Nunito Sans" pitchFamily="34" charset="-120"/>
              </a:rPr>
              <a:t>Heavy mining equipment, railway signalling, hospital equipment, oil and gas pumps, power systems</a:t>
            </a:r>
            <a:endParaRPr lang="en-US" sz="1400" dirty="0"/>
          </a:p>
        </p:txBody>
      </p:sp>
      <p:sp>
        <p:nvSpPr>
          <p:cNvPr id="19" name="Shape 17"/>
          <p:cNvSpPr/>
          <p:nvPr/>
        </p:nvSpPr>
        <p:spPr>
          <a:xfrm>
            <a:off x="6188075" y="4501307"/>
            <a:ext cx="5187950" cy="1299121"/>
          </a:xfrm>
          <a:prstGeom prst="roundRect">
            <a:avLst>
              <a:gd name="adj" fmla="val 7576"/>
            </a:avLst>
          </a:prstGeom>
          <a:solidFill>
            <a:srgbClr val="FFFFFF"/>
          </a:solidFill>
          <a:ln w="6350">
            <a:solidFill>
              <a:srgbClr val="E2DED3"/>
            </a:solidFill>
            <a:prstDash val="solid"/>
          </a:ln>
        </p:spPr>
      </p:sp>
      <p:sp>
        <p:nvSpPr>
          <p:cNvPr id="20" name="Text 18"/>
          <p:cNvSpPr/>
          <p:nvPr/>
        </p:nvSpPr>
        <p:spPr>
          <a:xfrm>
            <a:off x="6419850" y="4733082"/>
            <a:ext cx="4866132"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Nunito Sans" pitchFamily="34" charset="0"/>
                <a:ea typeface="Nunito Sans" pitchFamily="34" charset="-122"/>
                <a:cs typeface="Nunito Sans" pitchFamily="34" charset="-120"/>
              </a:rPr>
              <a:t>Our aim</a:t>
            </a:r>
            <a:endParaRPr lang="en-US" sz="1600" dirty="0"/>
          </a:p>
        </p:txBody>
      </p:sp>
      <p:sp>
        <p:nvSpPr>
          <p:cNvPr id="21" name="Text 19"/>
          <p:cNvSpPr/>
          <p:nvPr/>
        </p:nvSpPr>
        <p:spPr>
          <a:xfrm>
            <a:off x="6419850" y="5053112"/>
            <a:ext cx="4866132"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A5568"/>
                </a:solidFill>
                <a:latin typeface="Nunito Sans" pitchFamily="34" charset="0"/>
                <a:ea typeface="Nunito Sans" pitchFamily="34" charset="-122"/>
                <a:cs typeface="Nunito Sans" pitchFamily="34" charset="-120"/>
              </a:rPr>
              <a:t>Move from logging repairs after the fact to acting on risk before equipment fails</a:t>
            </a:r>
            <a:endParaRPr lang="en-US" sz="1400" dirty="0"/>
          </a:p>
        </p:txBody>
      </p:sp>
      <p:sp>
        <p:nvSpPr>
          <p:cNvPr id="22" name="Text 2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unito Sans" pitchFamily="34" charset="0"/>
                <a:ea typeface="Nunito Sans" pitchFamily="34" charset="-122"/>
                <a:cs typeface="Nunito Sans" pitchFamily="34" charset="-120"/>
              </a:rPr>
              <a:t>Synthetic teaching dataset (Version 1.0) built for this project; no real company records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E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960041"/>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Domine" pitchFamily="18" charset="0"/>
                <a:ea typeface="Domine" pitchFamily="18" charset="-122"/>
                <a:cs typeface="Domine" pitchFamily="18" charset="-120"/>
              </a:rPr>
              <a:t>The big picture: every $1 we spend on upkeep, we lose $4.54 to breakdowns</a:t>
            </a:r>
            <a:endParaRPr lang="en-US" sz="3200" dirty="0"/>
          </a:p>
        </p:txBody>
      </p:sp>
      <p:sp>
        <p:nvSpPr>
          <p:cNvPr id="3" name="Shape 1"/>
          <p:cNvSpPr/>
          <p:nvPr/>
        </p:nvSpPr>
        <p:spPr>
          <a:xfrm>
            <a:off x="815975" y="2352824"/>
            <a:ext cx="3350667" cy="3486001"/>
          </a:xfrm>
          <a:prstGeom prst="roundRect">
            <a:avLst>
              <a:gd name="adj" fmla="val 3696"/>
            </a:avLst>
          </a:prstGeom>
          <a:solidFill>
            <a:srgbClr val="FFFFFF"/>
          </a:solidFill>
          <a:ln w="6350">
            <a:solidFill>
              <a:srgbClr val="E2DED3"/>
            </a:solidFill>
            <a:prstDash val="solid"/>
          </a:ln>
        </p:spPr>
      </p:sp>
      <p:sp>
        <p:nvSpPr>
          <p:cNvPr id="4" name="Text 2"/>
          <p:cNvSpPr/>
          <p:nvPr/>
        </p:nvSpPr>
        <p:spPr>
          <a:xfrm>
            <a:off x="1123950" y="2660799"/>
            <a:ext cx="2816758" cy="274290"/>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4A5568"/>
                </a:solidFill>
                <a:latin typeface="Nunito Sans" pitchFamily="34" charset="0"/>
                <a:ea typeface="Nunito Sans" pitchFamily="34" charset="-122"/>
                <a:cs typeface="Nunito Sans" pitchFamily="34" charset="-120"/>
              </a:rPr>
              <a:t>WE SPENT</a:t>
            </a:r>
            <a:endParaRPr lang="en-US" sz="1400" dirty="0"/>
          </a:p>
        </p:txBody>
      </p:sp>
      <p:sp>
        <p:nvSpPr>
          <p:cNvPr id="5" name="Text 3"/>
          <p:cNvSpPr/>
          <p:nvPr/>
        </p:nvSpPr>
        <p:spPr>
          <a:xfrm>
            <a:off x="1123950" y="3011289"/>
            <a:ext cx="2816758" cy="807690"/>
          </a:xfrm>
          <a:prstGeom prst="rect">
            <a:avLst/>
          </a:prstGeom>
          <a:noFill/>
          <a:ln/>
        </p:spPr>
        <p:txBody>
          <a:bodyPr wrap="square" lIns="0" tIns="0" rIns="0" bIns="0" rtlCol="0" anchor="t">
            <a:normAutofit/>
          </a:bodyPr>
          <a:lstStyle/>
          <a:p>
            <a:pPr algn="l" indent="0" marL="0">
              <a:lnSpc>
                <a:spcPts val="6160"/>
              </a:lnSpc>
              <a:buNone/>
            </a:pPr>
            <a:r>
              <a:rPr lang="en-US" sz="5600" b="1" dirty="0">
                <a:solidFill>
                  <a:srgbClr val="14213D"/>
                </a:solidFill>
                <a:latin typeface="Domine" pitchFamily="18" charset="0"/>
                <a:ea typeface="Domine" pitchFamily="18" charset="-122"/>
                <a:cs typeface="Domine" pitchFamily="18" charset="-120"/>
              </a:rPr>
              <a:t>$50.4M</a:t>
            </a:r>
            <a:endParaRPr lang="en-US" sz="5600" dirty="0"/>
          </a:p>
        </p:txBody>
      </p:sp>
      <p:sp>
        <p:nvSpPr>
          <p:cNvPr id="6" name="Text 4"/>
          <p:cNvSpPr/>
          <p:nvPr/>
        </p:nvSpPr>
        <p:spPr>
          <a:xfrm>
            <a:off x="1123950" y="3895179"/>
            <a:ext cx="2816758"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Nunito Sans" pitchFamily="34" charset="0"/>
                <a:ea typeface="Nunito Sans" pitchFamily="34" charset="-122"/>
                <a:cs typeface="Nunito Sans" pitchFamily="34" charset="-120"/>
              </a:rPr>
              <a:t>on maintenance: technicians, spare parts and other costs</a:t>
            </a:r>
            <a:endParaRPr lang="en-US" sz="1600" dirty="0"/>
          </a:p>
        </p:txBody>
      </p:sp>
      <p:sp>
        <p:nvSpPr>
          <p:cNvPr id="7" name="Shape 5"/>
          <p:cNvSpPr/>
          <p:nvPr/>
        </p:nvSpPr>
        <p:spPr>
          <a:xfrm>
            <a:off x="4423817" y="2349649"/>
            <a:ext cx="3344366" cy="3492351"/>
          </a:xfrm>
          <a:prstGeom prst="roundRect">
            <a:avLst>
              <a:gd name="adj" fmla="val 3797"/>
            </a:avLst>
          </a:prstGeom>
          <a:solidFill>
            <a:srgbClr val="14213D"/>
          </a:solidFill>
          <a:ln/>
        </p:spPr>
      </p:sp>
      <p:sp>
        <p:nvSpPr>
          <p:cNvPr id="8" name="Text 6"/>
          <p:cNvSpPr/>
          <p:nvPr/>
        </p:nvSpPr>
        <p:spPr>
          <a:xfrm>
            <a:off x="4728617" y="2654449"/>
            <a:ext cx="2816809" cy="274290"/>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F0A35E"/>
                </a:solidFill>
                <a:latin typeface="Nunito Sans" pitchFamily="34" charset="0"/>
                <a:ea typeface="Nunito Sans" pitchFamily="34" charset="-122"/>
                <a:cs typeface="Nunito Sans" pitchFamily="34" charset="-120"/>
              </a:rPr>
              <a:t>WE LOST</a:t>
            </a:r>
            <a:endParaRPr lang="en-US" sz="1400" dirty="0"/>
          </a:p>
        </p:txBody>
      </p:sp>
      <p:sp>
        <p:nvSpPr>
          <p:cNvPr id="9" name="Text 7"/>
          <p:cNvSpPr/>
          <p:nvPr/>
        </p:nvSpPr>
        <p:spPr>
          <a:xfrm>
            <a:off x="4728617" y="3004939"/>
            <a:ext cx="2816809" cy="1589980"/>
          </a:xfrm>
          <a:prstGeom prst="rect">
            <a:avLst/>
          </a:prstGeom>
          <a:noFill/>
          <a:ln/>
        </p:spPr>
        <p:txBody>
          <a:bodyPr wrap="square" lIns="0" tIns="0" rIns="0" bIns="0" rtlCol="0" anchor="t">
            <a:normAutofit/>
          </a:bodyPr>
          <a:lstStyle/>
          <a:p>
            <a:pPr algn="l" indent="0" marL="0">
              <a:lnSpc>
                <a:spcPts val="6160"/>
              </a:lnSpc>
              <a:buNone/>
            </a:pPr>
            <a:r>
              <a:rPr lang="en-US" sz="5600" b="1" dirty="0">
                <a:solidFill>
                  <a:srgbClr val="F6F4EE"/>
                </a:solidFill>
                <a:latin typeface="Domine" pitchFamily="18" charset="0"/>
                <a:ea typeface="Domine" pitchFamily="18" charset="-122"/>
                <a:cs typeface="Domine" pitchFamily="18" charset="-120"/>
              </a:rPr>
              <a:t>$228.9M</a:t>
            </a:r>
            <a:endParaRPr lang="en-US" sz="5600" dirty="0"/>
          </a:p>
        </p:txBody>
      </p:sp>
      <p:sp>
        <p:nvSpPr>
          <p:cNvPr id="10" name="Text 8"/>
          <p:cNvSpPr/>
          <p:nvPr/>
        </p:nvSpPr>
        <p:spPr>
          <a:xfrm>
            <a:off x="4728617" y="4671120"/>
            <a:ext cx="2816809"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D3E3"/>
                </a:solidFill>
                <a:latin typeface="Nunito Sans" pitchFamily="34" charset="0"/>
                <a:ea typeface="Nunito Sans" pitchFamily="34" charset="-122"/>
                <a:cs typeface="Nunito Sans" pitchFamily="34" charset="-120"/>
              </a:rPr>
              <a:t>in lost production and service while equipment was down</a:t>
            </a:r>
            <a:endParaRPr lang="en-US" sz="1600" dirty="0"/>
          </a:p>
        </p:txBody>
      </p:sp>
      <p:sp>
        <p:nvSpPr>
          <p:cNvPr id="11" name="Shape 9"/>
          <p:cNvSpPr/>
          <p:nvPr/>
        </p:nvSpPr>
        <p:spPr>
          <a:xfrm>
            <a:off x="8025358" y="2352824"/>
            <a:ext cx="3350667" cy="3486001"/>
          </a:xfrm>
          <a:prstGeom prst="roundRect">
            <a:avLst>
              <a:gd name="adj" fmla="val 3696"/>
            </a:avLst>
          </a:prstGeom>
          <a:solidFill>
            <a:srgbClr val="FFFFFF"/>
          </a:solidFill>
          <a:ln w="6350">
            <a:solidFill>
              <a:srgbClr val="E2DED3"/>
            </a:solidFill>
            <a:prstDash val="solid"/>
          </a:ln>
        </p:spPr>
      </p:sp>
      <p:sp>
        <p:nvSpPr>
          <p:cNvPr id="12" name="Text 10"/>
          <p:cNvSpPr/>
          <p:nvPr/>
        </p:nvSpPr>
        <p:spPr>
          <a:xfrm>
            <a:off x="8333333" y="2660799"/>
            <a:ext cx="2816758" cy="274290"/>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4A5568"/>
                </a:solidFill>
                <a:latin typeface="Nunito Sans" pitchFamily="34" charset="0"/>
                <a:ea typeface="Nunito Sans" pitchFamily="34" charset="-122"/>
                <a:cs typeface="Nunito Sans" pitchFamily="34" charset="-120"/>
              </a:rPr>
              <a:t>EQUIPMENT WAS DOWN</a:t>
            </a:r>
            <a:endParaRPr lang="en-US" sz="1400" dirty="0"/>
          </a:p>
        </p:txBody>
      </p:sp>
      <p:sp>
        <p:nvSpPr>
          <p:cNvPr id="13" name="Text 11"/>
          <p:cNvSpPr/>
          <p:nvPr/>
        </p:nvSpPr>
        <p:spPr>
          <a:xfrm>
            <a:off x="8333333" y="3011289"/>
            <a:ext cx="2816758" cy="1589980"/>
          </a:xfrm>
          <a:prstGeom prst="rect">
            <a:avLst/>
          </a:prstGeom>
          <a:noFill/>
          <a:ln/>
        </p:spPr>
        <p:txBody>
          <a:bodyPr wrap="square" lIns="0" tIns="0" rIns="0" bIns="0" rtlCol="0" anchor="t">
            <a:normAutofit/>
          </a:bodyPr>
          <a:lstStyle/>
          <a:p>
            <a:pPr algn="l" indent="0" marL="0">
              <a:lnSpc>
                <a:spcPts val="6160"/>
              </a:lnSpc>
              <a:buNone/>
            </a:pPr>
            <a:r>
              <a:rPr lang="en-US" sz="5600" b="1" dirty="0">
                <a:solidFill>
                  <a:srgbClr val="14213D"/>
                </a:solidFill>
                <a:latin typeface="Domine" pitchFamily="18" charset="0"/>
                <a:ea typeface="Domine" pitchFamily="18" charset="-122"/>
                <a:cs typeface="Domine" pitchFamily="18" charset="-120"/>
              </a:rPr>
              <a:t>91,074 h</a:t>
            </a:r>
            <a:endParaRPr lang="en-US" sz="5600" dirty="0"/>
          </a:p>
        </p:txBody>
      </p:sp>
      <p:sp>
        <p:nvSpPr>
          <p:cNvPr id="14" name="Text 12"/>
          <p:cNvSpPr/>
          <p:nvPr/>
        </p:nvSpPr>
        <p:spPr>
          <a:xfrm>
            <a:off x="8333333" y="4677470"/>
            <a:ext cx="2816758"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Nunito Sans" pitchFamily="34" charset="0"/>
                <a:ea typeface="Nunito Sans" pitchFamily="34" charset="-122"/>
                <a:cs typeface="Nunito Sans" pitchFamily="34" charset="-120"/>
              </a:rPr>
              <a:t>across 7,597 breakdowns; about 10 years of lost operating time</a:t>
            </a:r>
            <a:endParaRPr lang="en-US" sz="1600" dirty="0"/>
          </a:p>
        </p:txBody>
      </p:sp>
      <p:sp>
        <p:nvSpPr>
          <p:cNvPr id="15" name="Text 1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unito Sans" pitchFamily="34" charset="0"/>
                <a:ea typeface="Nunito Sans" pitchFamily="34" charset="-122"/>
                <a:cs typeface="Nunito Sans" pitchFamily="34" charset="-120"/>
              </a:rPr>
              <a:t>Source: Group 9226 Team 3 Enterprise Dataset v1.0, 5,000 records, 2024–2026</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64864"/>
          </a:xfrm>
          <a:prstGeom prst="rect">
            <a:avLst/>
          </a:prstGeom>
          <a:noFill/>
          <a:ln/>
        </p:spPr>
        <p:txBody>
          <a:bodyPr wrap="square" lIns="0" tIns="0" rIns="0" bIns="0" rtlCol="0" anchor="t">
            <a:normAutofit/>
          </a:bodyPr>
          <a:lstStyle/>
          <a:p>
            <a:pPr algn="l" indent="0" marL="0">
              <a:lnSpc>
                <a:spcPts val="1923"/>
              </a:lnSpc>
              <a:buNone/>
            </a:pPr>
            <a:r>
              <a:rPr lang="en-US" sz="1374" b="1" spc="150" kern="0" dirty="0">
                <a:solidFill>
                  <a:srgbClr val="C0631A"/>
                </a:solidFill>
                <a:latin typeface="Nunito Sans" pitchFamily="34" charset="0"/>
                <a:ea typeface="Nunito Sans" pitchFamily="34" charset="-122"/>
                <a:cs typeface="Nunito Sans" pitchFamily="34" charset="-120"/>
              </a:rPr>
              <a:t>FLEET SCORECARD</a:t>
            </a:r>
            <a:endParaRPr lang="en-US" sz="1374" dirty="0"/>
          </a:p>
        </p:txBody>
      </p:sp>
      <p:sp>
        <p:nvSpPr>
          <p:cNvPr id="3" name="Text 1"/>
          <p:cNvSpPr/>
          <p:nvPr>
            <p:ph type="title"/>
          </p:nvPr>
        </p:nvSpPr>
        <p:spPr>
          <a:xfrm>
            <a:off x="812800" y="1306264"/>
            <a:ext cx="10883392" cy="812354"/>
          </a:xfrm>
          <a:prstGeom prst="rect">
            <a:avLst/>
          </a:prstGeom>
          <a:noFill/>
          <a:ln/>
        </p:spPr>
        <p:txBody>
          <a:bodyPr wrap="square" lIns="0" tIns="0" rIns="0" bIns="0" rtlCol="0" anchor="t">
            <a:normAutofit/>
          </a:bodyPr>
          <a:lstStyle/>
          <a:p>
            <a:pPr algn="l" indent="0" marL="0">
              <a:lnSpc>
                <a:spcPts val="3109"/>
              </a:lnSpc>
              <a:buNone/>
            </a:pPr>
            <a:r>
              <a:rPr lang="en-US" sz="2704" b="1" i="0" dirty="0">
                <a:solidFill>
                  <a:srgbClr val="14213D"/>
                </a:solidFill>
                <a:latin typeface="Domine" pitchFamily="18" charset="0"/>
                <a:ea typeface="Domine" pitchFamily="18" charset="-122"/>
                <a:cs typeface="Domine" pitchFamily="18" charset="-120"/>
              </a:rPr>
              <a:t>The fleet looks healthy on average; the problems hide in the details</a:t>
            </a:r>
            <a:endParaRPr lang="en-US" sz="2704" dirty="0"/>
          </a:p>
        </p:txBody>
      </p:sp>
      <p:sp>
        <p:nvSpPr>
          <p:cNvPr id="4" name="Shape 2"/>
          <p:cNvSpPr/>
          <p:nvPr/>
        </p:nvSpPr>
        <p:spPr>
          <a:xfrm>
            <a:off x="815975" y="2350393"/>
            <a:ext cx="2520950" cy="1271439"/>
          </a:xfrm>
          <a:prstGeom prst="roundRect">
            <a:avLst>
              <a:gd name="adj" fmla="val 6742"/>
            </a:avLst>
          </a:prstGeom>
          <a:solidFill>
            <a:srgbClr val="FFFFFF"/>
          </a:solidFill>
          <a:ln w="6350">
            <a:solidFill>
              <a:srgbClr val="E2DED3"/>
            </a:solidFill>
            <a:prstDash val="solid"/>
          </a:ln>
        </p:spPr>
      </p:sp>
      <p:sp>
        <p:nvSpPr>
          <p:cNvPr id="5" name="Text 3"/>
          <p:cNvSpPr/>
          <p:nvPr/>
        </p:nvSpPr>
        <p:spPr>
          <a:xfrm>
            <a:off x="1022350" y="2531368"/>
            <a:ext cx="2171446" cy="461119"/>
          </a:xfrm>
          <a:prstGeom prst="rect">
            <a:avLst/>
          </a:prstGeom>
          <a:noFill/>
          <a:ln/>
        </p:spPr>
        <p:txBody>
          <a:bodyPr wrap="square" lIns="0" tIns="0" rIns="0" bIns="0" rtlCol="0" anchor="t">
            <a:normAutofit/>
          </a:bodyPr>
          <a:lstStyle/>
          <a:p>
            <a:pPr algn="l" indent="0" marL="0">
              <a:lnSpc>
                <a:spcPts val="3469"/>
              </a:lnSpc>
              <a:buNone/>
            </a:pPr>
            <a:r>
              <a:rPr lang="en-US" sz="2478" b="1" dirty="0">
                <a:solidFill>
                  <a:srgbClr val="14213D"/>
                </a:solidFill>
                <a:latin typeface="Domine" pitchFamily="18" charset="0"/>
                <a:ea typeface="Domine" pitchFamily="18" charset="-122"/>
                <a:cs typeface="Domine" pitchFamily="18" charset="-120"/>
              </a:rPr>
              <a:t>96.8%</a:t>
            </a:r>
            <a:endParaRPr lang="en-US" sz="2478" dirty="0"/>
          </a:p>
        </p:txBody>
      </p:sp>
      <p:sp>
        <p:nvSpPr>
          <p:cNvPr id="6" name="Text 4"/>
          <p:cNvSpPr/>
          <p:nvPr/>
        </p:nvSpPr>
        <p:spPr>
          <a:xfrm>
            <a:off x="1022350" y="3005187"/>
            <a:ext cx="2171446" cy="461070"/>
          </a:xfrm>
          <a:prstGeom prst="rect">
            <a:avLst/>
          </a:prstGeom>
          <a:noFill/>
          <a:ln/>
        </p:spPr>
        <p:txBody>
          <a:bodyPr wrap="square" lIns="0" tIns="0" rIns="0" bIns="0" rtlCol="0" anchor="t">
            <a:normAutofit/>
          </a:bodyPr>
          <a:lstStyle/>
          <a:p>
            <a:pPr algn="l" indent="0" marL="0">
              <a:lnSpc>
                <a:spcPts val="1735"/>
              </a:lnSpc>
              <a:buNone/>
            </a:pPr>
            <a:r>
              <a:rPr lang="en-US" sz="1239" dirty="0">
                <a:solidFill>
                  <a:srgbClr val="4A5568"/>
                </a:solidFill>
                <a:latin typeface="Nunito Sans" pitchFamily="34" charset="0"/>
                <a:ea typeface="Nunito Sans" pitchFamily="34" charset="-122"/>
                <a:cs typeface="Nunito Sans" pitchFamily="34" charset="-120"/>
              </a:rPr>
              <a:t>of planned time equipment was available</a:t>
            </a:r>
            <a:endParaRPr lang="en-US" sz="1239" dirty="0"/>
          </a:p>
        </p:txBody>
      </p:sp>
      <p:sp>
        <p:nvSpPr>
          <p:cNvPr id="7" name="Shape 5"/>
          <p:cNvSpPr/>
          <p:nvPr/>
        </p:nvSpPr>
        <p:spPr>
          <a:xfrm>
            <a:off x="3495675" y="2350393"/>
            <a:ext cx="2520950" cy="1271439"/>
          </a:xfrm>
          <a:prstGeom prst="roundRect">
            <a:avLst>
              <a:gd name="adj" fmla="val 6742"/>
            </a:avLst>
          </a:prstGeom>
          <a:solidFill>
            <a:srgbClr val="FFFFFF"/>
          </a:solidFill>
          <a:ln w="6350">
            <a:solidFill>
              <a:srgbClr val="E2DED3"/>
            </a:solidFill>
            <a:prstDash val="solid"/>
          </a:ln>
        </p:spPr>
      </p:sp>
      <p:sp>
        <p:nvSpPr>
          <p:cNvPr id="8" name="Text 6"/>
          <p:cNvSpPr/>
          <p:nvPr/>
        </p:nvSpPr>
        <p:spPr>
          <a:xfrm>
            <a:off x="3702050" y="2531368"/>
            <a:ext cx="2171446" cy="461119"/>
          </a:xfrm>
          <a:prstGeom prst="rect">
            <a:avLst/>
          </a:prstGeom>
          <a:noFill/>
          <a:ln/>
        </p:spPr>
        <p:txBody>
          <a:bodyPr wrap="square" lIns="0" tIns="0" rIns="0" bIns="0" rtlCol="0" anchor="t">
            <a:normAutofit/>
          </a:bodyPr>
          <a:lstStyle/>
          <a:p>
            <a:pPr algn="l" indent="0" marL="0">
              <a:lnSpc>
                <a:spcPts val="3469"/>
              </a:lnSpc>
              <a:buNone/>
            </a:pPr>
            <a:r>
              <a:rPr lang="en-US" sz="2478" b="1" dirty="0">
                <a:solidFill>
                  <a:srgbClr val="14213D"/>
                </a:solidFill>
                <a:latin typeface="Domine" pitchFamily="18" charset="0"/>
                <a:ea typeface="Domine" pitchFamily="18" charset="-122"/>
                <a:cs typeface="Domine" pitchFamily="18" charset="-120"/>
              </a:rPr>
              <a:t>79.4%</a:t>
            </a:r>
            <a:endParaRPr lang="en-US" sz="2478" dirty="0"/>
          </a:p>
        </p:txBody>
      </p:sp>
      <p:sp>
        <p:nvSpPr>
          <p:cNvPr id="9" name="Text 7"/>
          <p:cNvSpPr/>
          <p:nvPr/>
        </p:nvSpPr>
        <p:spPr>
          <a:xfrm>
            <a:off x="3702050" y="3005187"/>
            <a:ext cx="2171446" cy="461070"/>
          </a:xfrm>
          <a:prstGeom prst="rect">
            <a:avLst/>
          </a:prstGeom>
          <a:noFill/>
          <a:ln/>
        </p:spPr>
        <p:txBody>
          <a:bodyPr wrap="square" lIns="0" tIns="0" rIns="0" bIns="0" rtlCol="0" anchor="t">
            <a:normAutofit/>
          </a:bodyPr>
          <a:lstStyle/>
          <a:p>
            <a:pPr algn="l" indent="0" marL="0">
              <a:lnSpc>
                <a:spcPts val="1735"/>
              </a:lnSpc>
              <a:buNone/>
            </a:pPr>
            <a:r>
              <a:rPr lang="en-US" sz="1239" dirty="0">
                <a:solidFill>
                  <a:srgbClr val="4A5568"/>
                </a:solidFill>
                <a:latin typeface="Nunito Sans" pitchFamily="34" charset="0"/>
                <a:ea typeface="Nunito Sans" pitchFamily="34" charset="-122"/>
                <a:cs typeface="Nunito Sans" pitchFamily="34" charset="-120"/>
              </a:rPr>
              <a:t>of planned hours actually used</a:t>
            </a:r>
            <a:endParaRPr lang="en-US" sz="1239" dirty="0"/>
          </a:p>
        </p:txBody>
      </p:sp>
      <p:sp>
        <p:nvSpPr>
          <p:cNvPr id="10" name="Shape 8"/>
          <p:cNvSpPr/>
          <p:nvPr/>
        </p:nvSpPr>
        <p:spPr>
          <a:xfrm>
            <a:off x="6175375" y="2350393"/>
            <a:ext cx="2520950" cy="1271439"/>
          </a:xfrm>
          <a:prstGeom prst="roundRect">
            <a:avLst>
              <a:gd name="adj" fmla="val 6742"/>
            </a:avLst>
          </a:prstGeom>
          <a:solidFill>
            <a:srgbClr val="FFFFFF"/>
          </a:solidFill>
          <a:ln w="6350">
            <a:solidFill>
              <a:srgbClr val="E2DED3"/>
            </a:solidFill>
            <a:prstDash val="solid"/>
          </a:ln>
        </p:spPr>
      </p:sp>
      <p:sp>
        <p:nvSpPr>
          <p:cNvPr id="11" name="Text 9"/>
          <p:cNvSpPr/>
          <p:nvPr/>
        </p:nvSpPr>
        <p:spPr>
          <a:xfrm>
            <a:off x="6381750" y="2531368"/>
            <a:ext cx="2171446" cy="461119"/>
          </a:xfrm>
          <a:prstGeom prst="rect">
            <a:avLst/>
          </a:prstGeom>
          <a:noFill/>
          <a:ln/>
        </p:spPr>
        <p:txBody>
          <a:bodyPr wrap="square" lIns="0" tIns="0" rIns="0" bIns="0" rtlCol="0" anchor="t">
            <a:normAutofit/>
          </a:bodyPr>
          <a:lstStyle/>
          <a:p>
            <a:pPr algn="l" indent="0" marL="0">
              <a:lnSpc>
                <a:spcPts val="3469"/>
              </a:lnSpc>
              <a:buNone/>
            </a:pPr>
            <a:r>
              <a:rPr lang="en-US" sz="2478" b="1" dirty="0">
                <a:solidFill>
                  <a:srgbClr val="14213D"/>
                </a:solidFill>
                <a:latin typeface="Domine" pitchFamily="18" charset="0"/>
                <a:ea typeface="Domine" pitchFamily="18" charset="-122"/>
                <a:cs typeface="Domine" pitchFamily="18" charset="-120"/>
              </a:rPr>
              <a:t>342 h</a:t>
            </a:r>
            <a:endParaRPr lang="en-US" sz="2478" dirty="0"/>
          </a:p>
        </p:txBody>
      </p:sp>
      <p:sp>
        <p:nvSpPr>
          <p:cNvPr id="12" name="Text 10"/>
          <p:cNvSpPr/>
          <p:nvPr/>
        </p:nvSpPr>
        <p:spPr>
          <a:xfrm>
            <a:off x="6381750" y="3005187"/>
            <a:ext cx="2171446" cy="461070"/>
          </a:xfrm>
          <a:prstGeom prst="rect">
            <a:avLst/>
          </a:prstGeom>
          <a:noFill/>
          <a:ln/>
        </p:spPr>
        <p:txBody>
          <a:bodyPr wrap="square" lIns="0" tIns="0" rIns="0" bIns="0" rtlCol="0" anchor="t">
            <a:normAutofit/>
          </a:bodyPr>
          <a:lstStyle/>
          <a:p>
            <a:pPr algn="l" indent="0" marL="0">
              <a:lnSpc>
                <a:spcPts val="1735"/>
              </a:lnSpc>
              <a:buNone/>
            </a:pPr>
            <a:r>
              <a:rPr lang="en-US" sz="1239" dirty="0">
                <a:solidFill>
                  <a:srgbClr val="4A5568"/>
                </a:solidFill>
                <a:latin typeface="Nunito Sans" pitchFamily="34" charset="0"/>
                <a:ea typeface="Nunito Sans" pitchFamily="34" charset="-122"/>
                <a:cs typeface="Nunito Sans" pitchFamily="34" charset="-120"/>
              </a:rPr>
              <a:t>average running time between breakdowns</a:t>
            </a:r>
            <a:endParaRPr lang="en-US" sz="1239" dirty="0"/>
          </a:p>
        </p:txBody>
      </p:sp>
      <p:sp>
        <p:nvSpPr>
          <p:cNvPr id="13" name="Shape 11"/>
          <p:cNvSpPr/>
          <p:nvPr/>
        </p:nvSpPr>
        <p:spPr>
          <a:xfrm>
            <a:off x="8855075" y="2350393"/>
            <a:ext cx="2520950" cy="1271439"/>
          </a:xfrm>
          <a:prstGeom prst="roundRect">
            <a:avLst>
              <a:gd name="adj" fmla="val 6742"/>
            </a:avLst>
          </a:prstGeom>
          <a:solidFill>
            <a:srgbClr val="FFFFFF"/>
          </a:solidFill>
          <a:ln w="6350">
            <a:solidFill>
              <a:srgbClr val="E2DED3"/>
            </a:solidFill>
            <a:prstDash val="solid"/>
          </a:ln>
        </p:spPr>
      </p:sp>
      <p:sp>
        <p:nvSpPr>
          <p:cNvPr id="14" name="Text 12"/>
          <p:cNvSpPr/>
          <p:nvPr/>
        </p:nvSpPr>
        <p:spPr>
          <a:xfrm>
            <a:off x="9061450" y="2531368"/>
            <a:ext cx="2171446" cy="487660"/>
          </a:xfrm>
          <a:prstGeom prst="rect">
            <a:avLst/>
          </a:prstGeom>
          <a:noFill/>
          <a:ln/>
        </p:spPr>
        <p:txBody>
          <a:bodyPr wrap="square" lIns="0" tIns="0" rIns="0" bIns="0" rtlCol="0" anchor="t">
            <a:normAutofit/>
          </a:bodyPr>
          <a:lstStyle/>
          <a:p>
            <a:pPr algn="l" indent="0" marL="0">
              <a:lnSpc>
                <a:spcPts val="3640"/>
              </a:lnSpc>
              <a:buNone/>
            </a:pPr>
            <a:r>
              <a:rPr lang="en-US" sz="2600" b="1" dirty="0">
                <a:solidFill>
                  <a:srgbClr val="14213D"/>
                </a:solidFill>
                <a:latin typeface="Domine" pitchFamily="18" charset="0"/>
                <a:ea typeface="Domine" pitchFamily="18" charset="-122"/>
                <a:cs typeface="Domine" pitchFamily="18" charset="-120"/>
              </a:rPr>
              <a:t>11.7 h</a:t>
            </a:r>
            <a:endParaRPr lang="en-US" sz="2600" dirty="0"/>
          </a:p>
        </p:txBody>
      </p:sp>
      <p:sp>
        <p:nvSpPr>
          <p:cNvPr id="15" name="Text 13"/>
          <p:cNvSpPr/>
          <p:nvPr/>
        </p:nvSpPr>
        <p:spPr>
          <a:xfrm>
            <a:off x="9061450" y="3031728"/>
            <a:ext cx="2171446"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Nunito Sans" pitchFamily="34" charset="0"/>
                <a:ea typeface="Nunito Sans" pitchFamily="34" charset="-122"/>
                <a:cs typeface="Nunito Sans" pitchFamily="34" charset="-120"/>
              </a:rPr>
              <a:t>average time to repair</a:t>
            </a:r>
            <a:endParaRPr lang="en-US" sz="1300" dirty="0"/>
          </a:p>
        </p:txBody>
      </p:sp>
      <p:sp>
        <p:nvSpPr>
          <p:cNvPr id="16" name="Shape 14"/>
          <p:cNvSpPr/>
          <p:nvPr/>
        </p:nvSpPr>
        <p:spPr>
          <a:xfrm>
            <a:off x="815975" y="3780582"/>
            <a:ext cx="2520950" cy="1271439"/>
          </a:xfrm>
          <a:prstGeom prst="roundRect">
            <a:avLst>
              <a:gd name="adj" fmla="val 6742"/>
            </a:avLst>
          </a:prstGeom>
          <a:solidFill>
            <a:srgbClr val="FFFFFF"/>
          </a:solidFill>
          <a:ln w="6350">
            <a:solidFill>
              <a:srgbClr val="E2DED3"/>
            </a:solidFill>
            <a:prstDash val="solid"/>
          </a:ln>
        </p:spPr>
      </p:sp>
      <p:sp>
        <p:nvSpPr>
          <p:cNvPr id="17" name="Text 15"/>
          <p:cNvSpPr/>
          <p:nvPr/>
        </p:nvSpPr>
        <p:spPr>
          <a:xfrm>
            <a:off x="1022350" y="3961557"/>
            <a:ext cx="2171446" cy="461119"/>
          </a:xfrm>
          <a:prstGeom prst="rect">
            <a:avLst/>
          </a:prstGeom>
          <a:noFill/>
          <a:ln/>
        </p:spPr>
        <p:txBody>
          <a:bodyPr wrap="square" lIns="0" tIns="0" rIns="0" bIns="0" rtlCol="0" anchor="t">
            <a:normAutofit/>
          </a:bodyPr>
          <a:lstStyle/>
          <a:p>
            <a:pPr algn="l" indent="0" marL="0">
              <a:lnSpc>
                <a:spcPts val="3469"/>
              </a:lnSpc>
              <a:buNone/>
            </a:pPr>
            <a:r>
              <a:rPr lang="en-US" sz="2478" b="1" dirty="0">
                <a:solidFill>
                  <a:srgbClr val="14213D"/>
                </a:solidFill>
                <a:latin typeface="Domine" pitchFamily="18" charset="0"/>
                <a:ea typeface="Domine" pitchFamily="18" charset="-122"/>
                <a:cs typeface="Domine" pitchFamily="18" charset="-120"/>
              </a:rPr>
              <a:t>75.2%</a:t>
            </a:r>
            <a:endParaRPr lang="en-US" sz="2478" dirty="0"/>
          </a:p>
        </p:txBody>
      </p:sp>
      <p:sp>
        <p:nvSpPr>
          <p:cNvPr id="18" name="Text 16"/>
          <p:cNvSpPr/>
          <p:nvPr/>
        </p:nvSpPr>
        <p:spPr>
          <a:xfrm>
            <a:off x="1022350" y="4435376"/>
            <a:ext cx="2171446" cy="461070"/>
          </a:xfrm>
          <a:prstGeom prst="rect">
            <a:avLst/>
          </a:prstGeom>
          <a:noFill/>
          <a:ln/>
        </p:spPr>
        <p:txBody>
          <a:bodyPr wrap="square" lIns="0" tIns="0" rIns="0" bIns="0" rtlCol="0" anchor="t">
            <a:normAutofit/>
          </a:bodyPr>
          <a:lstStyle/>
          <a:p>
            <a:pPr algn="l" indent="0" marL="0">
              <a:lnSpc>
                <a:spcPts val="1735"/>
              </a:lnSpc>
              <a:buNone/>
            </a:pPr>
            <a:r>
              <a:rPr lang="en-US" sz="1239" dirty="0">
                <a:solidFill>
                  <a:srgbClr val="4A5568"/>
                </a:solidFill>
                <a:latin typeface="Nunito Sans" pitchFamily="34" charset="0"/>
                <a:ea typeface="Nunito Sans" pitchFamily="34" charset="-122"/>
                <a:cs typeface="Nunito Sans" pitchFamily="34" charset="-120"/>
              </a:rPr>
              <a:t>of work orders are planned, not emergency</a:t>
            </a:r>
            <a:endParaRPr lang="en-US" sz="1239" dirty="0"/>
          </a:p>
        </p:txBody>
      </p:sp>
      <p:sp>
        <p:nvSpPr>
          <p:cNvPr id="19" name="Shape 17"/>
          <p:cNvSpPr/>
          <p:nvPr/>
        </p:nvSpPr>
        <p:spPr>
          <a:xfrm>
            <a:off x="3495675" y="3780582"/>
            <a:ext cx="2520950" cy="1271439"/>
          </a:xfrm>
          <a:prstGeom prst="roundRect">
            <a:avLst>
              <a:gd name="adj" fmla="val 6742"/>
            </a:avLst>
          </a:prstGeom>
          <a:solidFill>
            <a:srgbClr val="FFFFFF"/>
          </a:solidFill>
          <a:ln w="6350">
            <a:solidFill>
              <a:srgbClr val="E2DED3"/>
            </a:solidFill>
            <a:prstDash val="solid"/>
          </a:ln>
        </p:spPr>
      </p:sp>
      <p:sp>
        <p:nvSpPr>
          <p:cNvPr id="20" name="Text 18"/>
          <p:cNvSpPr/>
          <p:nvPr/>
        </p:nvSpPr>
        <p:spPr>
          <a:xfrm>
            <a:off x="3702050" y="3961557"/>
            <a:ext cx="2171446" cy="487660"/>
          </a:xfrm>
          <a:prstGeom prst="rect">
            <a:avLst/>
          </a:prstGeom>
          <a:noFill/>
          <a:ln/>
        </p:spPr>
        <p:txBody>
          <a:bodyPr wrap="square" lIns="0" tIns="0" rIns="0" bIns="0" rtlCol="0" anchor="t">
            <a:normAutofit/>
          </a:bodyPr>
          <a:lstStyle/>
          <a:p>
            <a:pPr algn="l" indent="0" marL="0">
              <a:lnSpc>
                <a:spcPts val="3640"/>
              </a:lnSpc>
              <a:buNone/>
            </a:pPr>
            <a:r>
              <a:rPr lang="en-US" sz="2600" b="1" dirty="0">
                <a:solidFill>
                  <a:srgbClr val="14213D"/>
                </a:solidFill>
                <a:latin typeface="Domine" pitchFamily="18" charset="0"/>
                <a:ea typeface="Domine" pitchFamily="18" charset="-122"/>
                <a:cs typeface="Domine" pitchFamily="18" charset="-120"/>
              </a:rPr>
              <a:t>76.6%</a:t>
            </a:r>
            <a:endParaRPr lang="en-US" sz="2600" dirty="0"/>
          </a:p>
        </p:txBody>
      </p:sp>
      <p:sp>
        <p:nvSpPr>
          <p:cNvPr id="21" name="Text 19"/>
          <p:cNvSpPr/>
          <p:nvPr/>
        </p:nvSpPr>
        <p:spPr>
          <a:xfrm>
            <a:off x="3702050" y="4461917"/>
            <a:ext cx="2171446"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Nunito Sans" pitchFamily="34" charset="0"/>
                <a:ea typeface="Nunito Sans" pitchFamily="34" charset="-122"/>
                <a:cs typeface="Nunito Sans" pitchFamily="34" charset="-120"/>
              </a:rPr>
              <a:t>of repairs fixed first time</a:t>
            </a:r>
            <a:endParaRPr lang="en-US" sz="1300" dirty="0"/>
          </a:p>
        </p:txBody>
      </p:sp>
      <p:sp>
        <p:nvSpPr>
          <p:cNvPr id="22" name="Shape 20"/>
          <p:cNvSpPr/>
          <p:nvPr/>
        </p:nvSpPr>
        <p:spPr>
          <a:xfrm>
            <a:off x="6175375" y="3780582"/>
            <a:ext cx="2520950" cy="1271439"/>
          </a:xfrm>
          <a:prstGeom prst="roundRect">
            <a:avLst>
              <a:gd name="adj" fmla="val 6742"/>
            </a:avLst>
          </a:prstGeom>
          <a:solidFill>
            <a:srgbClr val="FFFFFF"/>
          </a:solidFill>
          <a:ln w="6350">
            <a:solidFill>
              <a:srgbClr val="E2DED3"/>
            </a:solidFill>
            <a:prstDash val="solid"/>
          </a:ln>
        </p:spPr>
      </p:sp>
      <p:sp>
        <p:nvSpPr>
          <p:cNvPr id="23" name="Text 21"/>
          <p:cNvSpPr/>
          <p:nvPr/>
        </p:nvSpPr>
        <p:spPr>
          <a:xfrm>
            <a:off x="6381750" y="3961557"/>
            <a:ext cx="2171446" cy="461119"/>
          </a:xfrm>
          <a:prstGeom prst="rect">
            <a:avLst/>
          </a:prstGeom>
          <a:noFill/>
          <a:ln/>
        </p:spPr>
        <p:txBody>
          <a:bodyPr wrap="square" lIns="0" tIns="0" rIns="0" bIns="0" rtlCol="0" anchor="t">
            <a:normAutofit/>
          </a:bodyPr>
          <a:lstStyle/>
          <a:p>
            <a:pPr algn="l" indent="0" marL="0">
              <a:lnSpc>
                <a:spcPts val="3469"/>
              </a:lnSpc>
              <a:buNone/>
            </a:pPr>
            <a:r>
              <a:rPr lang="en-US" sz="2478" b="1" dirty="0">
                <a:solidFill>
                  <a:srgbClr val="C0631A"/>
                </a:solidFill>
                <a:latin typeface="Domine" pitchFamily="18" charset="0"/>
                <a:ea typeface="Domine" pitchFamily="18" charset="-122"/>
                <a:cs typeface="Domine" pitchFamily="18" charset="-120"/>
              </a:rPr>
              <a:t>75.8%</a:t>
            </a:r>
            <a:endParaRPr lang="en-US" sz="2478" dirty="0"/>
          </a:p>
        </p:txBody>
      </p:sp>
      <p:sp>
        <p:nvSpPr>
          <p:cNvPr id="24" name="Text 22"/>
          <p:cNvSpPr/>
          <p:nvPr/>
        </p:nvSpPr>
        <p:spPr>
          <a:xfrm>
            <a:off x="6381750" y="4435376"/>
            <a:ext cx="2311400" cy="461070"/>
          </a:xfrm>
          <a:prstGeom prst="rect">
            <a:avLst/>
          </a:prstGeom>
          <a:noFill/>
          <a:ln/>
        </p:spPr>
        <p:txBody>
          <a:bodyPr wrap="square" lIns="0" tIns="0" rIns="0" bIns="0" rtlCol="0" anchor="t">
            <a:normAutofit/>
          </a:bodyPr>
          <a:lstStyle/>
          <a:p>
            <a:pPr algn="l" indent="0" marL="0">
              <a:lnSpc>
                <a:spcPts val="1786"/>
              </a:lnSpc>
              <a:buNone/>
            </a:pPr>
            <a:r>
              <a:rPr lang="en-US" sz="1276" dirty="0">
                <a:solidFill>
                  <a:srgbClr val="4A5568"/>
                </a:solidFill>
                <a:latin typeface="Nunito Sans" pitchFamily="34" charset="0"/>
                <a:ea typeface="Nunito Sans" pitchFamily="34" charset="-122"/>
                <a:cs typeface="Nunito Sans" pitchFamily="34" charset="-120"/>
              </a:rPr>
              <a:t>average deadline compliance</a:t>
            </a:r>
            <a:endParaRPr lang="en-US" sz="1276" dirty="0"/>
          </a:p>
        </p:txBody>
      </p:sp>
      <p:sp>
        <p:nvSpPr>
          <p:cNvPr id="25" name="Shape 23"/>
          <p:cNvSpPr/>
          <p:nvPr/>
        </p:nvSpPr>
        <p:spPr>
          <a:xfrm>
            <a:off x="8855075" y="3780582"/>
            <a:ext cx="2520950" cy="1271439"/>
          </a:xfrm>
          <a:prstGeom prst="roundRect">
            <a:avLst>
              <a:gd name="adj" fmla="val 6742"/>
            </a:avLst>
          </a:prstGeom>
          <a:solidFill>
            <a:srgbClr val="FFFFFF"/>
          </a:solidFill>
          <a:ln w="6350">
            <a:solidFill>
              <a:srgbClr val="E2DED3"/>
            </a:solidFill>
            <a:prstDash val="solid"/>
          </a:ln>
        </p:spPr>
      </p:sp>
      <p:sp>
        <p:nvSpPr>
          <p:cNvPr id="26" name="Text 24"/>
          <p:cNvSpPr/>
          <p:nvPr/>
        </p:nvSpPr>
        <p:spPr>
          <a:xfrm>
            <a:off x="9061450" y="3961557"/>
            <a:ext cx="2171446" cy="461119"/>
          </a:xfrm>
          <a:prstGeom prst="rect">
            <a:avLst/>
          </a:prstGeom>
          <a:noFill/>
          <a:ln/>
        </p:spPr>
        <p:txBody>
          <a:bodyPr wrap="square" lIns="0" tIns="0" rIns="0" bIns="0" rtlCol="0" anchor="t">
            <a:normAutofit/>
          </a:bodyPr>
          <a:lstStyle/>
          <a:p>
            <a:pPr algn="l" indent="0" marL="0">
              <a:lnSpc>
                <a:spcPts val="3469"/>
              </a:lnSpc>
              <a:buNone/>
            </a:pPr>
            <a:r>
              <a:rPr lang="en-US" sz="2478" b="1" dirty="0">
                <a:solidFill>
                  <a:srgbClr val="C0631A"/>
                </a:solidFill>
                <a:latin typeface="Domine" pitchFamily="18" charset="0"/>
                <a:ea typeface="Domine" pitchFamily="18" charset="-122"/>
                <a:cs typeface="Domine" pitchFamily="18" charset="-120"/>
              </a:rPr>
              <a:t>14.2%</a:t>
            </a:r>
            <a:endParaRPr lang="en-US" sz="2478" dirty="0"/>
          </a:p>
        </p:txBody>
      </p:sp>
      <p:sp>
        <p:nvSpPr>
          <p:cNvPr id="27" name="Text 25"/>
          <p:cNvSpPr/>
          <p:nvPr/>
        </p:nvSpPr>
        <p:spPr>
          <a:xfrm>
            <a:off x="9061450" y="4435376"/>
            <a:ext cx="2171446" cy="461070"/>
          </a:xfrm>
          <a:prstGeom prst="rect">
            <a:avLst/>
          </a:prstGeom>
          <a:noFill/>
          <a:ln/>
        </p:spPr>
        <p:txBody>
          <a:bodyPr wrap="square" lIns="0" tIns="0" rIns="0" bIns="0" rtlCol="0" anchor="t">
            <a:normAutofit/>
          </a:bodyPr>
          <a:lstStyle/>
          <a:p>
            <a:pPr algn="l" indent="0" marL="0">
              <a:lnSpc>
                <a:spcPts val="1735"/>
              </a:lnSpc>
              <a:buNone/>
            </a:pPr>
            <a:r>
              <a:rPr lang="en-US" sz="1239" dirty="0">
                <a:solidFill>
                  <a:srgbClr val="4A5568"/>
                </a:solidFill>
                <a:latin typeface="Nunito Sans" pitchFamily="34" charset="0"/>
                <a:ea typeface="Nunito Sans" pitchFamily="34" charset="-122"/>
                <a:cs typeface="Nunito Sans" pitchFamily="34" charset="-120"/>
              </a:rPr>
              <a:t>of work orders overdue (backlog)</a:t>
            </a:r>
            <a:endParaRPr lang="en-US" sz="1239" dirty="0"/>
          </a:p>
        </p:txBody>
      </p:sp>
      <p:sp>
        <p:nvSpPr>
          <p:cNvPr id="28" name="Shape 26"/>
          <p:cNvSpPr/>
          <p:nvPr/>
        </p:nvSpPr>
        <p:spPr>
          <a:xfrm>
            <a:off x="812800" y="5309195"/>
            <a:ext cx="3420517" cy="532805"/>
          </a:xfrm>
          <a:prstGeom prst="roundRect">
            <a:avLst>
              <a:gd name="adj" fmla="val 16685"/>
            </a:avLst>
          </a:prstGeom>
          <a:solidFill>
            <a:srgbClr val="FCEBDD"/>
          </a:solidFill>
          <a:ln/>
        </p:spPr>
      </p:sp>
      <p:sp>
        <p:nvSpPr>
          <p:cNvPr id="29" name="Text 27"/>
          <p:cNvSpPr/>
          <p:nvPr/>
        </p:nvSpPr>
        <p:spPr>
          <a:xfrm>
            <a:off x="1016000" y="5461595"/>
            <a:ext cx="3104540" cy="253405"/>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Nunito Sans" pitchFamily="34" charset="0"/>
                <a:ea typeface="Nunito Sans" pitchFamily="34" charset="-122"/>
                <a:cs typeface="Nunito Sans" pitchFamily="34" charset="-120"/>
              </a:rPr>
              <a:t>78.5 / 100</a:t>
            </a:r>
            <a:r>
              <a:rPr lang="en-US" sz="1400" dirty="0">
                <a:solidFill>
                  <a:srgbClr val="14213D"/>
                </a:solidFill>
                <a:latin typeface="Nunito Sans" pitchFamily="34" charset="0"/>
                <a:ea typeface="Nunito Sans" pitchFamily="34" charset="-122"/>
                <a:cs typeface="Nunito Sans" pitchFamily="34" charset="-120"/>
              </a:rPr>
              <a:t> average health score</a:t>
            </a:r>
            <a:endParaRPr lang="en-US" sz="1400" dirty="0"/>
          </a:p>
        </p:txBody>
      </p:sp>
      <p:sp>
        <p:nvSpPr>
          <p:cNvPr id="30" name="Shape 28"/>
          <p:cNvSpPr/>
          <p:nvPr/>
        </p:nvSpPr>
        <p:spPr>
          <a:xfrm>
            <a:off x="4385717" y="5309195"/>
            <a:ext cx="3420566" cy="532805"/>
          </a:xfrm>
          <a:prstGeom prst="roundRect">
            <a:avLst>
              <a:gd name="adj" fmla="val 16685"/>
            </a:avLst>
          </a:prstGeom>
          <a:solidFill>
            <a:srgbClr val="FCEBDD"/>
          </a:solidFill>
          <a:ln/>
        </p:spPr>
      </p:sp>
      <p:sp>
        <p:nvSpPr>
          <p:cNvPr id="31" name="Text 29"/>
          <p:cNvSpPr/>
          <p:nvPr/>
        </p:nvSpPr>
        <p:spPr>
          <a:xfrm>
            <a:off x="4588917" y="5461595"/>
            <a:ext cx="3104591" cy="253405"/>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Nunito Sans" pitchFamily="34" charset="0"/>
                <a:ea typeface="Nunito Sans" pitchFamily="34" charset="-122"/>
                <a:cs typeface="Nunito Sans" pitchFamily="34" charset="-120"/>
              </a:rPr>
              <a:t>289</a:t>
            </a:r>
            <a:r>
              <a:rPr lang="en-US" sz="1400" dirty="0">
                <a:solidFill>
                  <a:srgbClr val="14213D"/>
                </a:solidFill>
                <a:latin typeface="Nunito Sans" pitchFamily="34" charset="0"/>
                <a:ea typeface="Nunito Sans" pitchFamily="34" charset="-122"/>
                <a:cs typeface="Nunito Sans" pitchFamily="34" charset="-120"/>
              </a:rPr>
              <a:t> high-risk records</a:t>
            </a:r>
            <a:endParaRPr lang="en-US" sz="1400" dirty="0"/>
          </a:p>
        </p:txBody>
      </p:sp>
      <p:sp>
        <p:nvSpPr>
          <p:cNvPr id="32" name="Shape 30"/>
          <p:cNvSpPr/>
          <p:nvPr/>
        </p:nvSpPr>
        <p:spPr>
          <a:xfrm>
            <a:off x="7958683" y="5309195"/>
            <a:ext cx="3420517" cy="532805"/>
          </a:xfrm>
          <a:prstGeom prst="roundRect">
            <a:avLst>
              <a:gd name="adj" fmla="val 16685"/>
            </a:avLst>
          </a:prstGeom>
          <a:solidFill>
            <a:srgbClr val="FCEBDD"/>
          </a:solidFill>
          <a:ln/>
        </p:spPr>
      </p:sp>
      <p:sp>
        <p:nvSpPr>
          <p:cNvPr id="33" name="Text 31"/>
          <p:cNvSpPr/>
          <p:nvPr/>
        </p:nvSpPr>
        <p:spPr>
          <a:xfrm>
            <a:off x="8161883" y="5461595"/>
            <a:ext cx="3104540" cy="253405"/>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Nunito Sans" pitchFamily="34" charset="0"/>
                <a:ea typeface="Nunito Sans" pitchFamily="34" charset="-122"/>
                <a:cs typeface="Nunito Sans" pitchFamily="34" charset="-120"/>
              </a:rPr>
              <a:t>3,950</a:t>
            </a:r>
            <a:r>
              <a:rPr lang="en-US" sz="1400" dirty="0">
                <a:solidFill>
                  <a:srgbClr val="14213D"/>
                </a:solidFill>
                <a:latin typeface="Nunito Sans" pitchFamily="34" charset="0"/>
                <a:ea typeface="Nunito Sans" pitchFamily="34" charset="-122"/>
                <a:cs typeface="Nunito Sans" pitchFamily="34" charset="-120"/>
              </a:rPr>
              <a:t> records with overdue work</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DEAE1"/>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4A5568"/>
                </a:solidFill>
                <a:latin typeface="Nunito Sans" pitchFamily="34" charset="0"/>
                <a:ea typeface="Nunito Sans" pitchFamily="34" charset="-122"/>
                <a:cs typeface="Nunito Sans" pitchFamily="34" charset="-120"/>
              </a:rPr>
              <a:t>HOW WE WORKED</a:t>
            </a:r>
            <a:endParaRPr lang="en-US" sz="1400" dirty="0"/>
          </a:p>
        </p:txBody>
      </p:sp>
      <p:sp>
        <p:nvSpPr>
          <p:cNvPr id="3" name="Text 1"/>
          <p:cNvSpPr/>
          <p:nvPr>
            <p:ph type="title"/>
          </p:nvPr>
        </p:nvSpPr>
        <p:spPr>
          <a:xfrm>
            <a:off x="812800" y="136649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Domine" pitchFamily="18" charset="0"/>
                <a:ea typeface="Domine" pitchFamily="18" charset="-122"/>
                <a:cs typeface="Domine" pitchFamily="18" charset="-120"/>
              </a:rPr>
              <a:t>Every number comes from the same four steps</a:t>
            </a:r>
            <a:endParaRPr lang="en-US" sz="3200" dirty="0"/>
          </a:p>
        </p:txBody>
      </p:sp>
      <p:sp>
        <p:nvSpPr>
          <p:cNvPr id="4" name="Shape 2"/>
          <p:cNvSpPr/>
          <p:nvPr/>
        </p:nvSpPr>
        <p:spPr>
          <a:xfrm>
            <a:off x="812800" y="2138611"/>
            <a:ext cx="2508250" cy="3097262"/>
          </a:xfrm>
          <a:prstGeom prst="roundRect">
            <a:avLst>
              <a:gd name="adj" fmla="val 4051"/>
            </a:avLst>
          </a:prstGeom>
          <a:solidFill>
            <a:srgbClr val="F6F4EE"/>
          </a:solidFill>
          <a:ln/>
        </p:spPr>
      </p:sp>
      <p:sp>
        <p:nvSpPr>
          <p:cNvPr id="5" name="Shape 3"/>
          <p:cNvSpPr/>
          <p:nvPr/>
        </p:nvSpPr>
        <p:spPr>
          <a:xfrm>
            <a:off x="812800" y="2138611"/>
            <a:ext cx="2508250" cy="3097262"/>
          </a:xfrm>
          <a:custGeom>
            <a:avLst/>
            <a:gdLst/>
            <a:ahLst/>
            <a:cxnLst/>
            <a:rect l="l" t="t" r="r" b="b"/>
            <a:pathLst>
              <a:path w="2508250" h="3097262">
                <a:moveTo>
                  <a:pt x="0" y="101600"/>
                </a:moveTo>
                <a:lnTo>
                  <a:pt x="0" y="101600"/>
                </a:lnTo>
                <a:arcTo hR="101600" wR="101600" stAng="10800000" swAng="5400000"/>
                <a:lnTo>
                  <a:pt x="2406650" y="0"/>
                </a:lnTo>
                <a:arcTo hR="101600" wR="101600" stAng="16200000" swAng="5400000"/>
                <a:lnTo>
                  <a:pt x="2508250" y="101600"/>
                </a:lnTo>
                <a:arcTo hR="50800" wR="101600" stAng="0" swAng="-5400000"/>
                <a:lnTo>
                  <a:pt x="101600" y="50800"/>
                </a:lnTo>
                <a:arcTo hR="50800" wR="101600" stAng="16200000" swAng="-5400000"/>
                <a:close/>
              </a:path>
            </a:pathLst>
          </a:custGeom>
          <a:solidFill>
            <a:srgbClr val="2F6FB0"/>
          </a:solidFill>
          <a:ln/>
        </p:spPr>
      </p:sp>
      <p:sp>
        <p:nvSpPr>
          <p:cNvPr id="6" name="Text 4"/>
          <p:cNvSpPr/>
          <p:nvPr/>
        </p:nvSpPr>
        <p:spPr>
          <a:xfrm>
            <a:off x="1066800" y="2443411"/>
            <a:ext cx="2060257" cy="52323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2F6FB0"/>
                </a:solidFill>
                <a:latin typeface="Domine" pitchFamily="18" charset="0"/>
                <a:ea typeface="Domine" pitchFamily="18" charset="-122"/>
                <a:cs typeface="Domine" pitchFamily="18" charset="-120"/>
              </a:rPr>
              <a:t>1</a:t>
            </a:r>
            <a:endParaRPr lang="en-US" sz="2800" dirty="0"/>
          </a:p>
        </p:txBody>
      </p:sp>
      <p:sp>
        <p:nvSpPr>
          <p:cNvPr id="7" name="Text 5"/>
          <p:cNvSpPr/>
          <p:nvPr/>
        </p:nvSpPr>
        <p:spPr>
          <a:xfrm>
            <a:off x="1066800" y="3042841"/>
            <a:ext cx="2060257"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Nunito Sans" pitchFamily="34" charset="0"/>
                <a:ea typeface="Nunito Sans" pitchFamily="34" charset="-122"/>
                <a:cs typeface="Nunito Sans" pitchFamily="34" charset="-120"/>
              </a:rPr>
              <a:t>Check the data</a:t>
            </a:r>
            <a:endParaRPr lang="en-US" sz="1800" dirty="0"/>
          </a:p>
        </p:txBody>
      </p:sp>
      <p:sp>
        <p:nvSpPr>
          <p:cNvPr id="8" name="Text 6"/>
          <p:cNvSpPr/>
          <p:nvPr/>
        </p:nvSpPr>
        <p:spPr>
          <a:xfrm>
            <a:off x="1066800" y="3418731"/>
            <a:ext cx="2060257" cy="1314252"/>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A5568"/>
                </a:solidFill>
                <a:latin typeface="Nunito Sans" pitchFamily="34" charset="0"/>
                <a:ea typeface="Nunito Sans" pitchFamily="34" charset="-122"/>
                <a:cs typeface="Nunito Sans" pitchFamily="34" charset="-120"/>
              </a:rPr>
              <a:t>5,000 records, 60 fields, 180 assets. No gaps, no duplicates. Totals match the team’s published figures.</a:t>
            </a:r>
            <a:endParaRPr lang="en-US" sz="1400" dirty="0"/>
          </a:p>
        </p:txBody>
      </p:sp>
      <p:sp>
        <p:nvSpPr>
          <p:cNvPr id="9" name="Shape 7"/>
          <p:cNvSpPr/>
          <p:nvPr/>
        </p:nvSpPr>
        <p:spPr>
          <a:xfrm>
            <a:off x="3498850" y="2138611"/>
            <a:ext cx="2508250" cy="3097262"/>
          </a:xfrm>
          <a:prstGeom prst="roundRect">
            <a:avLst>
              <a:gd name="adj" fmla="val 4051"/>
            </a:avLst>
          </a:prstGeom>
          <a:solidFill>
            <a:srgbClr val="F6F4EE"/>
          </a:solidFill>
          <a:ln/>
        </p:spPr>
      </p:sp>
      <p:sp>
        <p:nvSpPr>
          <p:cNvPr id="10" name="Shape 8"/>
          <p:cNvSpPr/>
          <p:nvPr/>
        </p:nvSpPr>
        <p:spPr>
          <a:xfrm>
            <a:off x="3498850" y="2138611"/>
            <a:ext cx="2508250" cy="3097262"/>
          </a:xfrm>
          <a:custGeom>
            <a:avLst/>
            <a:gdLst/>
            <a:ahLst/>
            <a:cxnLst/>
            <a:rect l="l" t="t" r="r" b="b"/>
            <a:pathLst>
              <a:path w="2508250" h="3097262">
                <a:moveTo>
                  <a:pt x="0" y="101600"/>
                </a:moveTo>
                <a:lnTo>
                  <a:pt x="0" y="101600"/>
                </a:lnTo>
                <a:arcTo hR="101600" wR="101600" stAng="10800000" swAng="5400000"/>
                <a:lnTo>
                  <a:pt x="2406650" y="0"/>
                </a:lnTo>
                <a:arcTo hR="101600" wR="101600" stAng="16200000" swAng="5400000"/>
                <a:lnTo>
                  <a:pt x="2508250" y="101600"/>
                </a:lnTo>
                <a:arcTo hR="50800" wR="101600" stAng="0" swAng="-5400000"/>
                <a:lnTo>
                  <a:pt x="101600" y="50800"/>
                </a:lnTo>
                <a:arcTo hR="50800" wR="101600" stAng="16200000" swAng="-5400000"/>
                <a:close/>
              </a:path>
            </a:pathLst>
          </a:custGeom>
          <a:solidFill>
            <a:srgbClr val="2F6FB0"/>
          </a:solidFill>
          <a:ln/>
        </p:spPr>
      </p:sp>
      <p:sp>
        <p:nvSpPr>
          <p:cNvPr id="11" name="Text 9"/>
          <p:cNvSpPr/>
          <p:nvPr/>
        </p:nvSpPr>
        <p:spPr>
          <a:xfrm>
            <a:off x="3752850" y="2443411"/>
            <a:ext cx="2060257" cy="52323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2F6FB0"/>
                </a:solidFill>
                <a:latin typeface="Domine" pitchFamily="18" charset="0"/>
                <a:ea typeface="Domine" pitchFamily="18" charset="-122"/>
                <a:cs typeface="Domine" pitchFamily="18" charset="-120"/>
              </a:rPr>
              <a:t>2</a:t>
            </a:r>
            <a:endParaRPr lang="en-US" sz="2800" dirty="0"/>
          </a:p>
        </p:txBody>
      </p:sp>
      <p:sp>
        <p:nvSpPr>
          <p:cNvPr id="12" name="Text 10"/>
          <p:cNvSpPr/>
          <p:nvPr/>
        </p:nvSpPr>
        <p:spPr>
          <a:xfrm>
            <a:off x="3752850" y="3042841"/>
            <a:ext cx="2060257" cy="57398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Nunito Sans" pitchFamily="34" charset="0"/>
                <a:ea typeface="Nunito Sans" pitchFamily="34" charset="-122"/>
                <a:cs typeface="Nunito Sans" pitchFamily="34" charset="-120"/>
              </a:rPr>
              <a:t>Group and compare</a:t>
            </a:r>
            <a:endParaRPr lang="en-US" sz="1800" dirty="0"/>
          </a:p>
        </p:txBody>
      </p:sp>
      <p:sp>
        <p:nvSpPr>
          <p:cNvPr id="13" name="Text 11"/>
          <p:cNvSpPr/>
          <p:nvPr/>
        </p:nvSpPr>
        <p:spPr>
          <a:xfrm>
            <a:off x="3752850" y="3693021"/>
            <a:ext cx="2060257" cy="105648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A5568"/>
                </a:solidFill>
                <a:latin typeface="Nunito Sans" pitchFamily="34" charset="0"/>
                <a:ea typeface="Nunito Sans" pitchFamily="34" charset="-122"/>
                <a:cs typeface="Nunito Sans" pitchFamily="34" charset="-120"/>
              </a:rPr>
              <a:t>Split records into groups (approach, importance, age) and compare costs, losses and repair times.</a:t>
            </a:r>
            <a:endParaRPr lang="en-US" sz="1400" dirty="0"/>
          </a:p>
        </p:txBody>
      </p:sp>
      <p:sp>
        <p:nvSpPr>
          <p:cNvPr id="14" name="Shape 12"/>
          <p:cNvSpPr/>
          <p:nvPr/>
        </p:nvSpPr>
        <p:spPr>
          <a:xfrm>
            <a:off x="6184900" y="2138611"/>
            <a:ext cx="2508250" cy="3097262"/>
          </a:xfrm>
          <a:prstGeom prst="roundRect">
            <a:avLst>
              <a:gd name="adj" fmla="val 4051"/>
            </a:avLst>
          </a:prstGeom>
          <a:solidFill>
            <a:srgbClr val="F6F4EE"/>
          </a:solidFill>
          <a:ln/>
        </p:spPr>
      </p:sp>
      <p:sp>
        <p:nvSpPr>
          <p:cNvPr id="15" name="Shape 13"/>
          <p:cNvSpPr/>
          <p:nvPr/>
        </p:nvSpPr>
        <p:spPr>
          <a:xfrm>
            <a:off x="6184900" y="2138611"/>
            <a:ext cx="2508250" cy="3097262"/>
          </a:xfrm>
          <a:custGeom>
            <a:avLst/>
            <a:gdLst/>
            <a:ahLst/>
            <a:cxnLst/>
            <a:rect l="l" t="t" r="r" b="b"/>
            <a:pathLst>
              <a:path w="2508250" h="3097262">
                <a:moveTo>
                  <a:pt x="0" y="101600"/>
                </a:moveTo>
                <a:lnTo>
                  <a:pt x="0" y="101600"/>
                </a:lnTo>
                <a:arcTo hR="101600" wR="101600" stAng="10800000" swAng="5400000"/>
                <a:lnTo>
                  <a:pt x="2406650" y="0"/>
                </a:lnTo>
                <a:arcTo hR="101600" wR="101600" stAng="16200000" swAng="5400000"/>
                <a:lnTo>
                  <a:pt x="2508250" y="101600"/>
                </a:lnTo>
                <a:arcTo hR="50800" wR="101600" stAng="0" swAng="-5400000"/>
                <a:lnTo>
                  <a:pt x="101600" y="50800"/>
                </a:lnTo>
                <a:arcTo hR="50800" wR="101600" stAng="16200000" swAng="-5400000"/>
                <a:close/>
              </a:path>
            </a:pathLst>
          </a:custGeom>
          <a:solidFill>
            <a:srgbClr val="2F6FB0"/>
          </a:solidFill>
          <a:ln/>
        </p:spPr>
      </p:sp>
      <p:sp>
        <p:nvSpPr>
          <p:cNvPr id="16" name="Text 14"/>
          <p:cNvSpPr/>
          <p:nvPr/>
        </p:nvSpPr>
        <p:spPr>
          <a:xfrm>
            <a:off x="6438900" y="2443411"/>
            <a:ext cx="2060257" cy="52323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2F6FB0"/>
                </a:solidFill>
                <a:latin typeface="Domine" pitchFamily="18" charset="0"/>
                <a:ea typeface="Domine" pitchFamily="18" charset="-122"/>
                <a:cs typeface="Domine" pitchFamily="18" charset="-120"/>
              </a:rPr>
              <a:t>3</a:t>
            </a:r>
            <a:endParaRPr lang="en-US" sz="2800" dirty="0"/>
          </a:p>
        </p:txBody>
      </p:sp>
      <p:sp>
        <p:nvSpPr>
          <p:cNvPr id="17" name="Text 15"/>
          <p:cNvSpPr/>
          <p:nvPr/>
        </p:nvSpPr>
        <p:spPr>
          <a:xfrm>
            <a:off x="6438900" y="3042841"/>
            <a:ext cx="2060257" cy="57398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Nunito Sans" pitchFamily="34" charset="0"/>
                <a:ea typeface="Nunito Sans" pitchFamily="34" charset="-122"/>
                <a:cs typeface="Nunito Sans" pitchFamily="34" charset="-120"/>
              </a:rPr>
              <a:t>Rule out other causes</a:t>
            </a:r>
            <a:endParaRPr lang="en-US" sz="1800" dirty="0"/>
          </a:p>
        </p:txBody>
      </p:sp>
      <p:sp>
        <p:nvSpPr>
          <p:cNvPr id="18" name="Text 16"/>
          <p:cNvSpPr/>
          <p:nvPr/>
        </p:nvSpPr>
        <p:spPr>
          <a:xfrm>
            <a:off x="6438900" y="3693021"/>
            <a:ext cx="2060257" cy="1314252"/>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A5568"/>
                </a:solidFill>
                <a:latin typeface="Nunito Sans" pitchFamily="34" charset="0"/>
                <a:ea typeface="Nunito Sans" pitchFamily="34" charset="-122"/>
                <a:cs typeface="Nunito Sans" pitchFamily="34" charset="-120"/>
              </a:rPr>
              <a:t>Make sure groups are alike in age and importance, and test team, shift and parts delays.</a:t>
            </a:r>
            <a:endParaRPr lang="en-US" sz="1400" dirty="0"/>
          </a:p>
        </p:txBody>
      </p:sp>
      <p:sp>
        <p:nvSpPr>
          <p:cNvPr id="19" name="Shape 17"/>
          <p:cNvSpPr/>
          <p:nvPr/>
        </p:nvSpPr>
        <p:spPr>
          <a:xfrm>
            <a:off x="8870950" y="2138611"/>
            <a:ext cx="2508250" cy="3097262"/>
          </a:xfrm>
          <a:prstGeom prst="roundRect">
            <a:avLst>
              <a:gd name="adj" fmla="val 4051"/>
            </a:avLst>
          </a:prstGeom>
          <a:solidFill>
            <a:srgbClr val="F6F4EE"/>
          </a:solidFill>
          <a:ln/>
        </p:spPr>
      </p:sp>
      <p:sp>
        <p:nvSpPr>
          <p:cNvPr id="20" name="Shape 18"/>
          <p:cNvSpPr/>
          <p:nvPr/>
        </p:nvSpPr>
        <p:spPr>
          <a:xfrm>
            <a:off x="8870950" y="2138611"/>
            <a:ext cx="2508250" cy="3097262"/>
          </a:xfrm>
          <a:custGeom>
            <a:avLst/>
            <a:gdLst/>
            <a:ahLst/>
            <a:cxnLst/>
            <a:rect l="l" t="t" r="r" b="b"/>
            <a:pathLst>
              <a:path w="2508250" h="3097262">
                <a:moveTo>
                  <a:pt x="0" y="101600"/>
                </a:moveTo>
                <a:lnTo>
                  <a:pt x="0" y="101600"/>
                </a:lnTo>
                <a:arcTo hR="101600" wR="101600" stAng="10800000" swAng="5400000"/>
                <a:lnTo>
                  <a:pt x="2406650" y="0"/>
                </a:lnTo>
                <a:arcTo hR="101600" wR="101600" stAng="16200000" swAng="5400000"/>
                <a:lnTo>
                  <a:pt x="2508250" y="101600"/>
                </a:lnTo>
                <a:arcTo hR="50800" wR="101600" stAng="0" swAng="-5400000"/>
                <a:lnTo>
                  <a:pt x="101600" y="50800"/>
                </a:lnTo>
                <a:arcTo hR="50800" wR="101600" stAng="16200000" swAng="-5400000"/>
                <a:close/>
              </a:path>
            </a:pathLst>
          </a:custGeom>
          <a:solidFill>
            <a:srgbClr val="C0631A"/>
          </a:solidFill>
          <a:ln/>
        </p:spPr>
      </p:sp>
      <p:sp>
        <p:nvSpPr>
          <p:cNvPr id="21" name="Text 19"/>
          <p:cNvSpPr/>
          <p:nvPr/>
        </p:nvSpPr>
        <p:spPr>
          <a:xfrm>
            <a:off x="9124950" y="2443411"/>
            <a:ext cx="2060257" cy="52323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C0631A"/>
                </a:solidFill>
                <a:latin typeface="Domine" pitchFamily="18" charset="0"/>
                <a:ea typeface="Domine" pitchFamily="18" charset="-122"/>
                <a:cs typeface="Domine" pitchFamily="18" charset="-120"/>
              </a:rPr>
              <a:t>4</a:t>
            </a:r>
            <a:endParaRPr lang="en-US" sz="2800" dirty="0"/>
          </a:p>
        </p:txBody>
      </p:sp>
      <p:sp>
        <p:nvSpPr>
          <p:cNvPr id="22" name="Text 20"/>
          <p:cNvSpPr/>
          <p:nvPr/>
        </p:nvSpPr>
        <p:spPr>
          <a:xfrm>
            <a:off x="9124950" y="3042841"/>
            <a:ext cx="2060257"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Nunito Sans" pitchFamily="34" charset="0"/>
                <a:ea typeface="Nunito Sans" pitchFamily="34" charset="-122"/>
                <a:cs typeface="Nunito Sans" pitchFamily="34" charset="-120"/>
              </a:rPr>
              <a:t>Price the gap</a:t>
            </a:r>
            <a:endParaRPr lang="en-US" sz="1800" dirty="0"/>
          </a:p>
        </p:txBody>
      </p:sp>
      <p:sp>
        <p:nvSpPr>
          <p:cNvPr id="23" name="Text 21"/>
          <p:cNvSpPr/>
          <p:nvPr/>
        </p:nvSpPr>
        <p:spPr>
          <a:xfrm>
            <a:off x="9124950" y="3418731"/>
            <a:ext cx="2060257"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A5568"/>
                </a:solidFill>
                <a:latin typeface="Nunito Sans" pitchFamily="34" charset="0"/>
                <a:ea typeface="Nunito Sans" pitchFamily="34" charset="-122"/>
                <a:cs typeface="Nunito Sans" pitchFamily="34" charset="-120"/>
              </a:rPr>
              <a:t>Gap per unit × how many units are affected = the value of closing it.</a:t>
            </a:r>
            <a:endParaRPr lang="en-US" sz="1400" dirty="0"/>
          </a:p>
        </p:txBody>
      </p:sp>
      <p:sp>
        <p:nvSpPr>
          <p:cNvPr id="24" name="Text 2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unito Sans" pitchFamily="34" charset="0"/>
                <a:ea typeface="Nunito Sans" pitchFamily="34" charset="-122"/>
                <a:cs typeface="Nunito Sans" pitchFamily="34" charset="-120"/>
              </a:rPr>
              <a:t>The slides marked “How we got this number” walk through each calculation</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C0631A"/>
                </a:solidFill>
                <a:latin typeface="Nunito Sans" pitchFamily="34" charset="0"/>
                <a:ea typeface="Nunito Sans" pitchFamily="34" charset="-122"/>
                <a:cs typeface="Nunito Sans" pitchFamily="34" charset="-120"/>
              </a:rPr>
              <a:t>EQUIPMENT TYPES COMPARED</a:t>
            </a:r>
            <a:endParaRPr lang="en-US" sz="1400" dirty="0"/>
          </a:p>
        </p:txBody>
      </p:sp>
      <p:sp>
        <p:nvSpPr>
          <p:cNvPr id="3" name="Text 1"/>
          <p:cNvSpPr/>
          <p:nvPr>
            <p:ph type="title"/>
          </p:nvPr>
        </p:nvSpPr>
        <p:spPr>
          <a:xfrm>
            <a:off x="812800" y="1315690"/>
            <a:ext cx="10883392" cy="84326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4213D"/>
                </a:solidFill>
                <a:latin typeface="Domine" pitchFamily="18" charset="0"/>
                <a:ea typeface="Domine" pitchFamily="18" charset="-122"/>
                <a:cs typeface="Domine" pitchFamily="18" charset="-120"/>
              </a:rPr>
              <a:t>Railway signalling is the weakest group; hospital equipment the strongest</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400250"/>
          <a:ext cx="10553700" cy="2316063"/>
        </p:xfrm>
        <a:graphic>
          <a:graphicData uri="http://schemas.openxmlformats.org/drawingml/2006/table">
            <a:tbl>
              <a:tblPr/>
              <a:tblGrid>
                <a:gridCol w="2955036"/>
                <a:gridCol w="1266444"/>
                <a:gridCol w="1583055"/>
                <a:gridCol w="1583055"/>
                <a:gridCol w="1583055"/>
                <a:gridCol w="1583055"/>
              </a:tblGrid>
              <a:tr h="386011">
                <a:tc>
                  <a:txBody>
                    <a:bodyPr/>
                    <a:lstStyle/>
                    <a:p>
                      <a:pPr indent="0" marL="0">
                        <a:lnSpc>
                          <a:spcPts val="1960"/>
                        </a:lnSpc>
                        <a:buNone/>
                      </a:pPr>
                      <a:r>
                        <a:rPr lang="en-US" sz="1400" b="1" dirty="0">
                          <a:solidFill>
                            <a:srgbClr val="14213D"/>
                          </a:solidFill>
                          <a:latin typeface="Nunito Sans" pitchFamily="34" charset="0"/>
                          <a:ea typeface="Nunito Sans" pitchFamily="34" charset="-122"/>
                          <a:cs typeface="Nunito Sans" pitchFamily="34" charset="-120"/>
                        </a:rPr>
                        <a:t>Equipment type</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algn="r" indent="0" marL="0">
                        <a:lnSpc>
                          <a:spcPts val="1960"/>
                        </a:lnSpc>
                        <a:buNone/>
                      </a:pPr>
                      <a:r>
                        <a:rPr lang="en-US" sz="1400" b="1" dirty="0">
                          <a:solidFill>
                            <a:srgbClr val="14213D"/>
                          </a:solidFill>
                          <a:latin typeface="Nunito Sans" pitchFamily="34" charset="0"/>
                          <a:ea typeface="Nunito Sans" pitchFamily="34" charset="-122"/>
                          <a:cs typeface="Nunito Sans" pitchFamily="34" charset="-120"/>
                        </a:rPr>
                        <a:t>Health</a:t>
                      </a:r>
                      <a:endParaRPr lang="en-US" sz="1400" dirty="0">
                        <a:latin typeface="Nunito Sans" charset="0"/>
                        <a:ea typeface="Nunito Sans" charset="0"/>
                        <a:cs typeface="Nunito Sans" charset="0"/>
                      </a:endParaRPr>
                    </a:p>
                  </a:txBody>
                  <a:tcPr marL="62230" marR="62230" marT="62230" marB="62230" anchor="t">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algn="r" indent="0" marL="0">
                        <a:lnSpc>
                          <a:spcPts val="1960"/>
                        </a:lnSpc>
                        <a:buNone/>
                      </a:pPr>
                      <a:r>
                        <a:rPr lang="en-US" sz="1400" b="1" dirty="0">
                          <a:solidFill>
                            <a:srgbClr val="14213D"/>
                          </a:solidFill>
                          <a:latin typeface="Nunito Sans" pitchFamily="34" charset="0"/>
                          <a:ea typeface="Nunito Sans" pitchFamily="34" charset="-122"/>
                          <a:cs typeface="Nunito Sans" pitchFamily="34" charset="-120"/>
                        </a:rPr>
                        <a:t>Breakdowns</a:t>
                      </a:r>
                      <a:endParaRPr lang="en-US" sz="1400" dirty="0">
                        <a:latin typeface="Nunito Sans" charset="0"/>
                        <a:ea typeface="Nunito Sans" charset="0"/>
                        <a:cs typeface="Nunito Sans" charset="0"/>
                      </a:endParaRPr>
                    </a:p>
                  </a:txBody>
                  <a:tcPr marL="62230" marR="62230" marT="62230" marB="62230" anchor="t">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algn="r" indent="0" marL="0">
                        <a:lnSpc>
                          <a:spcPts val="1960"/>
                        </a:lnSpc>
                        <a:buNone/>
                      </a:pPr>
                      <a:r>
                        <a:rPr lang="en-US" sz="1400" b="1" dirty="0">
                          <a:solidFill>
                            <a:srgbClr val="14213D"/>
                          </a:solidFill>
                          <a:latin typeface="Nunito Sans" pitchFamily="34" charset="0"/>
                          <a:ea typeface="Nunito Sans" pitchFamily="34" charset="-122"/>
                          <a:cs typeface="Nunito Sans" pitchFamily="34" charset="-120"/>
                        </a:rPr>
                        <a:t>Hours between</a:t>
                      </a:r>
                      <a:endParaRPr lang="en-US" sz="1400" dirty="0">
                        <a:latin typeface="Nunito Sans" charset="0"/>
                        <a:ea typeface="Nunito Sans" charset="0"/>
                        <a:cs typeface="Nunito Sans" charset="0"/>
                      </a:endParaRPr>
                    </a:p>
                  </a:txBody>
                  <a:tcPr marL="62230" marR="62230" marT="62230" marB="62230" anchor="t">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algn="r" indent="0" marL="0">
                        <a:lnSpc>
                          <a:spcPts val="1960"/>
                        </a:lnSpc>
                        <a:buNone/>
                      </a:pPr>
                      <a:r>
                        <a:rPr lang="en-US" sz="1400" b="1" dirty="0">
                          <a:solidFill>
                            <a:srgbClr val="14213D"/>
                          </a:solidFill>
                          <a:latin typeface="Nunito Sans" pitchFamily="34" charset="0"/>
                          <a:ea typeface="Nunito Sans" pitchFamily="34" charset="-122"/>
                          <a:cs typeface="Nunito Sans" pitchFamily="34" charset="-120"/>
                        </a:rPr>
                        <a:t>Loss</a:t>
                      </a:r>
                      <a:endParaRPr lang="en-US" sz="1400" dirty="0">
                        <a:latin typeface="Nunito Sans" charset="0"/>
                        <a:ea typeface="Nunito Sans" charset="0"/>
                        <a:cs typeface="Nunito Sans" charset="0"/>
                      </a:endParaRPr>
                    </a:p>
                  </a:txBody>
                  <a:tcPr marL="62230" marR="62230" marT="62230" marB="62230" anchor="t">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algn="r" indent="0" marL="0">
                        <a:lnSpc>
                          <a:spcPts val="1960"/>
                        </a:lnSpc>
                        <a:buNone/>
                      </a:pPr>
                      <a:r>
                        <a:rPr lang="en-US" sz="1400" b="1" dirty="0">
                          <a:solidFill>
                            <a:srgbClr val="14213D"/>
                          </a:solidFill>
                          <a:latin typeface="Nunito Sans" pitchFamily="34" charset="0"/>
                          <a:ea typeface="Nunito Sans" pitchFamily="34" charset="-122"/>
                          <a:cs typeface="Nunito Sans" pitchFamily="34" charset="-120"/>
                        </a:rPr>
                        <a:t>High-risk</a:t>
                      </a:r>
                      <a:endParaRPr lang="en-US" sz="1400" dirty="0">
                        <a:latin typeface="Nunito Sans" charset="0"/>
                        <a:ea typeface="Nunito Sans" charset="0"/>
                        <a:cs typeface="Nunito Sans" charset="0"/>
                      </a:endParaRPr>
                    </a:p>
                  </a:txBody>
                  <a:tcPr marL="62230" marR="62230" marT="62230" marB="62230" anchor="t">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r>
              <a:tr h="386011">
                <a:tc>
                  <a:txBody>
                    <a:bodyPr/>
                    <a:lstStyle/>
                    <a:p>
                      <a:pP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Railway signalling</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9BCB1"/>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9BCB1"/>
                      </a:solidFill>
                      <a:prstDash val="solid"/>
                      <a:round/>
                      <a:headEnd type="none" w="med" len="med"/>
                      <a:tailEnd type="none" w="med" len="med"/>
                    </a:lnB>
                    <a:solidFill>
                      <a:srgbClr val="FCEBDD"/>
                    </a:solidFill>
                  </a:tcPr>
                </a:tc>
                <a:tc>
                  <a:txBody>
                    <a:bodyPr/>
                    <a:lstStyle/>
                    <a:p>
                      <a:pPr algn="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76.8</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9BCB1"/>
                      </a:solidFill>
                      <a:prstDash val="solid"/>
                      <a:round/>
                      <a:headEnd type="none" w="med" len="med"/>
                      <a:tailEnd type="none" w="med" len="med"/>
                    </a:lnL>
                    <a:lnR w="12700" cap="flat" cmpd="sng" algn="ctr">
                      <a:solidFill>
                        <a:srgbClr val="C9BCB1"/>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9BCB1"/>
                      </a:solidFill>
                      <a:prstDash val="solid"/>
                      <a:round/>
                      <a:headEnd type="none" w="med" len="med"/>
                      <a:tailEnd type="none" w="med" len="med"/>
                    </a:lnB>
                    <a:solidFill>
                      <a:srgbClr val="FCEBDD"/>
                    </a:solidFill>
                  </a:tcPr>
                </a:tc>
                <a:tc>
                  <a:txBody>
                    <a:bodyPr/>
                    <a:lstStyle/>
                    <a:p>
                      <a:pPr algn="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1,709</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9BCB1"/>
                      </a:solidFill>
                      <a:prstDash val="solid"/>
                      <a:round/>
                      <a:headEnd type="none" w="med" len="med"/>
                      <a:tailEnd type="none" w="med" len="med"/>
                    </a:lnL>
                    <a:lnR w="12700" cap="flat" cmpd="sng" algn="ctr">
                      <a:solidFill>
                        <a:srgbClr val="C9BCB1"/>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9BCB1"/>
                      </a:solidFill>
                      <a:prstDash val="solid"/>
                      <a:round/>
                      <a:headEnd type="none" w="med" len="med"/>
                      <a:tailEnd type="none" w="med" len="med"/>
                    </a:lnB>
                    <a:solidFill>
                      <a:srgbClr val="FCEBDD"/>
                    </a:solidFill>
                  </a:tcPr>
                </a:tc>
                <a:tc>
                  <a:txBody>
                    <a:bodyPr/>
                    <a:lstStyle/>
                    <a:p>
                      <a:pPr algn="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316 h</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9BCB1"/>
                      </a:solidFill>
                      <a:prstDash val="solid"/>
                      <a:round/>
                      <a:headEnd type="none" w="med" len="med"/>
                      <a:tailEnd type="none" w="med" len="med"/>
                    </a:lnL>
                    <a:lnR w="12700" cap="flat" cmpd="sng" algn="ctr">
                      <a:solidFill>
                        <a:srgbClr val="C9BCB1"/>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9BCB1"/>
                      </a:solidFill>
                      <a:prstDash val="solid"/>
                      <a:round/>
                      <a:headEnd type="none" w="med" len="med"/>
                      <a:tailEnd type="none" w="med" len="med"/>
                    </a:lnB>
                    <a:solidFill>
                      <a:srgbClr val="FCEBDD"/>
                    </a:solidFill>
                  </a:tcPr>
                </a:tc>
                <a:tc>
                  <a:txBody>
                    <a:bodyPr/>
                    <a:lstStyle/>
                    <a:p>
                      <a:pPr algn="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$54.3M</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9BCB1"/>
                      </a:solidFill>
                      <a:prstDash val="solid"/>
                      <a:round/>
                      <a:headEnd type="none" w="med" len="med"/>
                      <a:tailEnd type="none" w="med" len="med"/>
                    </a:lnL>
                    <a:lnR w="12700" cap="flat" cmpd="sng" algn="ctr">
                      <a:solidFill>
                        <a:srgbClr val="C9BCB1"/>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9BCB1"/>
                      </a:solidFill>
                      <a:prstDash val="solid"/>
                      <a:round/>
                      <a:headEnd type="none" w="med" len="med"/>
                      <a:tailEnd type="none" w="med" len="med"/>
                    </a:lnB>
                    <a:solidFill>
                      <a:srgbClr val="FCEBDD"/>
                    </a:solidFill>
                  </a:tcPr>
                </a:tc>
                <a:tc>
                  <a:txBody>
                    <a:bodyPr/>
                    <a:lstStyle/>
                    <a:p>
                      <a:pPr algn="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86</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9BCB1"/>
                      </a:solidFill>
                      <a:prstDash val="solid"/>
                      <a:round/>
                      <a:headEnd type="none" w="med" len="med"/>
                      <a:tailEnd type="none" w="med" len="med"/>
                    </a:lnL>
                    <a:lnR w="12700" cap="flat" cmpd="sng" algn="ctr">
                      <a:solidFill>
                        <a:srgbClr val="C9BCB1"/>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9BCB1"/>
                      </a:solidFill>
                      <a:prstDash val="solid"/>
                      <a:round/>
                      <a:headEnd type="none" w="med" len="med"/>
                      <a:tailEnd type="none" w="med" len="med"/>
                    </a:lnB>
                    <a:solidFill>
                      <a:srgbClr val="FCEBDD"/>
                    </a:solidFill>
                  </a:tcPr>
                </a:tc>
              </a:tr>
              <a:tr h="386011">
                <a:tc>
                  <a:txBody>
                    <a:bodyPr/>
                    <a:lstStyle/>
                    <a:p>
                      <a:pP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Oil and gas pumps</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BC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77.7</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BC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1,574</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BC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342 h</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BC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$49.6M</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BC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77</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BC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Heavy mining equipment</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78.4</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1,589</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340 h</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$49.7M</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63</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Power systems</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79.5</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1,387</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351 h</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$38.8M</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39</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Hospital equipment</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80.3</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1,338</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362 h</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$36.5M</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24</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bl>
          </a:graphicData>
        </a:graphic>
      </p:graphicFrame>
      <p:sp>
        <p:nvSpPr>
          <p:cNvPr id="5" name="Text 2"/>
          <p:cNvSpPr/>
          <p:nvPr/>
        </p:nvSpPr>
        <p:spPr>
          <a:xfrm>
            <a:off x="812800" y="4970314"/>
            <a:ext cx="10883392" cy="577850"/>
          </a:xfrm>
          <a:prstGeom prst="rect">
            <a:avLst/>
          </a:prstGeom>
          <a:noFill/>
          <a:ln/>
        </p:spPr>
        <p:txBody>
          <a:bodyPr wrap="square" lIns="0" tIns="0" rIns="0" bIns="0" rtlCol="0" anchor="t">
            <a:normAutofit/>
          </a:bodyPr>
          <a:lstStyle/>
          <a:p>
            <a:pPr algn="l" indent="0" marL="0">
              <a:lnSpc>
                <a:spcPts val="2175"/>
              </a:lnSpc>
              <a:buNone/>
            </a:pPr>
            <a:r>
              <a:rPr lang="en-US" sz="1500" b="1" dirty="0">
                <a:solidFill>
                  <a:srgbClr val="14213D"/>
                </a:solidFill>
                <a:latin typeface="Nunito Sans" pitchFamily="34" charset="0"/>
                <a:ea typeface="Nunito Sans" pitchFamily="34" charset="-122"/>
                <a:cs typeface="Nunito Sans" pitchFamily="34" charset="-120"/>
              </a:rPr>
              <a:t>Failure types are evenly spread:</a:t>
            </a:r>
            <a:r>
              <a:rPr lang="en-US" sz="1500" dirty="0">
                <a:solidFill>
                  <a:srgbClr val="14213D"/>
                </a:solidFill>
                <a:latin typeface="Nunito Sans" pitchFamily="34" charset="0"/>
                <a:ea typeface="Nunito Sans" pitchFamily="34" charset="-122"/>
                <a:cs typeface="Nunito Sans" pitchFamily="34" charset="-120"/>
              </a:rPr>
              <a:t> sensor, hydraulic, mechanical, software and electrical faults each cause 19–21% of downtime, so no single fault type is the fix. Effort should target equipment type, age and condition.</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C0631A"/>
                </a:solidFill>
                <a:latin typeface="Nunito Sans" pitchFamily="34" charset="0"/>
                <a:ea typeface="Nunito Sans" pitchFamily="34" charset="-122"/>
                <a:cs typeface="Nunito Sans" pitchFamily="34" charset="-120"/>
              </a:rPr>
              <a:t>FINDING 1 · HOW WE MAINTAIN</a:t>
            </a:r>
            <a:endParaRPr lang="en-US" sz="1400" dirty="0"/>
          </a:p>
        </p:txBody>
      </p:sp>
      <p:sp>
        <p:nvSpPr>
          <p:cNvPr id="3" name="Text 1"/>
          <p:cNvSpPr/>
          <p:nvPr>
            <p:ph type="title"/>
          </p:nvPr>
        </p:nvSpPr>
        <p:spPr>
          <a:xfrm>
            <a:off x="812800" y="1366490"/>
            <a:ext cx="10883392" cy="960041"/>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Domine" pitchFamily="18" charset="0"/>
                <a:ea typeface="Domine" pitchFamily="18" charset="-122"/>
                <a:cs typeface="Domine" pitchFamily="18" charset="-120"/>
              </a:rPr>
              <a:t>Fixing equipment before it breaks costs 37% less than waiting for it to fail</a:t>
            </a:r>
            <a:endParaRPr lang="en-US" sz="3200" dirty="0"/>
          </a:p>
        </p:txBody>
      </p:sp>
      <p:sp>
        <p:nvSpPr>
          <p:cNvPr id="4" name="Text 2"/>
          <p:cNvSpPr/>
          <p:nvPr/>
        </p:nvSpPr>
        <p:spPr>
          <a:xfrm>
            <a:off x="812800" y="2605931"/>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Nunito Sans" pitchFamily="34" charset="0"/>
                <a:ea typeface="Nunito Sans" pitchFamily="34" charset="-122"/>
                <a:cs typeface="Nunito Sans" pitchFamily="34" charset="-120"/>
              </a:rPr>
              <a:t>Total cost for every hour a machine runs (upkeep plus lost output)</a:t>
            </a:r>
            <a:endParaRPr lang="en-US" sz="1400" dirty="0"/>
          </a:p>
        </p:txBody>
      </p:sp>
      <p:sp>
        <p:nvSpPr>
          <p:cNvPr id="5" name="Text 3"/>
          <p:cNvSpPr/>
          <p:nvPr/>
        </p:nvSpPr>
        <p:spPr>
          <a:xfrm>
            <a:off x="812800" y="3118991"/>
            <a:ext cx="300863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Nunito Sans" pitchFamily="34" charset="0"/>
                <a:ea typeface="Nunito Sans" pitchFamily="34" charset="-122"/>
                <a:cs typeface="Nunito Sans" pitchFamily="34" charset="-120"/>
              </a:rPr>
              <a:t>Wait until it breaks</a:t>
            </a:r>
            <a:endParaRPr lang="en-US" sz="1600" dirty="0"/>
          </a:p>
        </p:txBody>
      </p:sp>
      <p:sp>
        <p:nvSpPr>
          <p:cNvPr id="6" name="Shape 4"/>
          <p:cNvSpPr/>
          <p:nvPr/>
        </p:nvSpPr>
        <p:spPr>
          <a:xfrm>
            <a:off x="3886200" y="3032621"/>
            <a:ext cx="6350000" cy="457200"/>
          </a:xfrm>
          <a:prstGeom prst="roundRect">
            <a:avLst>
              <a:gd name="adj" fmla="val 11111"/>
            </a:avLst>
          </a:prstGeom>
          <a:solidFill>
            <a:srgbClr val="C0631A"/>
          </a:solidFill>
          <a:ln/>
        </p:spPr>
      </p:sp>
      <p:sp>
        <p:nvSpPr>
          <p:cNvPr id="7" name="Text 5"/>
          <p:cNvSpPr/>
          <p:nvPr/>
        </p:nvSpPr>
        <p:spPr>
          <a:xfrm>
            <a:off x="10388600" y="3101181"/>
            <a:ext cx="658416"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C0631A"/>
                </a:solidFill>
                <a:latin typeface="Nunito Sans" pitchFamily="34" charset="0"/>
                <a:ea typeface="Nunito Sans" pitchFamily="34" charset="-122"/>
                <a:cs typeface="Nunito Sans" pitchFamily="34" charset="-120"/>
              </a:rPr>
              <a:t>$163</a:t>
            </a:r>
            <a:endParaRPr lang="en-US" sz="1800" dirty="0"/>
          </a:p>
        </p:txBody>
      </p:sp>
      <p:sp>
        <p:nvSpPr>
          <p:cNvPr id="8" name="Text 6"/>
          <p:cNvSpPr/>
          <p:nvPr/>
        </p:nvSpPr>
        <p:spPr>
          <a:xfrm>
            <a:off x="812800" y="3753991"/>
            <a:ext cx="300863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Nunito Sans" pitchFamily="34" charset="0"/>
                <a:ea typeface="Nunito Sans" pitchFamily="34" charset="-122"/>
                <a:cs typeface="Nunito Sans" pitchFamily="34" charset="-120"/>
              </a:rPr>
              <a:t>Fixed calendar schedule</a:t>
            </a:r>
            <a:endParaRPr lang="en-US" sz="1600" dirty="0"/>
          </a:p>
        </p:txBody>
      </p:sp>
      <p:sp>
        <p:nvSpPr>
          <p:cNvPr id="9" name="Shape 7"/>
          <p:cNvSpPr/>
          <p:nvPr/>
        </p:nvSpPr>
        <p:spPr>
          <a:xfrm>
            <a:off x="3886200" y="3667621"/>
            <a:ext cx="4629150" cy="457200"/>
          </a:xfrm>
          <a:prstGeom prst="roundRect">
            <a:avLst>
              <a:gd name="adj" fmla="val 11111"/>
            </a:avLst>
          </a:prstGeom>
          <a:solidFill>
            <a:srgbClr val="9AA5B8"/>
          </a:solidFill>
          <a:ln/>
        </p:spPr>
      </p:sp>
      <p:sp>
        <p:nvSpPr>
          <p:cNvPr id="10" name="Text 8"/>
          <p:cNvSpPr/>
          <p:nvPr/>
        </p:nvSpPr>
        <p:spPr>
          <a:xfrm>
            <a:off x="8667750" y="3736181"/>
            <a:ext cx="658416"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4A5568"/>
                </a:solidFill>
                <a:latin typeface="Nunito Sans" pitchFamily="34" charset="0"/>
                <a:ea typeface="Nunito Sans" pitchFamily="34" charset="-122"/>
                <a:cs typeface="Nunito Sans" pitchFamily="34" charset="-120"/>
              </a:rPr>
              <a:t>$119</a:t>
            </a:r>
            <a:endParaRPr lang="en-US" sz="1800" dirty="0"/>
          </a:p>
        </p:txBody>
      </p:sp>
      <p:sp>
        <p:nvSpPr>
          <p:cNvPr id="11" name="Text 9"/>
          <p:cNvSpPr/>
          <p:nvPr/>
        </p:nvSpPr>
        <p:spPr>
          <a:xfrm>
            <a:off x="812800" y="4388991"/>
            <a:ext cx="300863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Nunito Sans" pitchFamily="34" charset="0"/>
                <a:ea typeface="Nunito Sans" pitchFamily="34" charset="-122"/>
                <a:cs typeface="Nunito Sans" pitchFamily="34" charset="-120"/>
              </a:rPr>
              <a:t>Sensor-guided (predictive)</a:t>
            </a:r>
            <a:endParaRPr lang="en-US" sz="1600" dirty="0"/>
          </a:p>
        </p:txBody>
      </p:sp>
      <p:sp>
        <p:nvSpPr>
          <p:cNvPr id="12" name="Shape 10"/>
          <p:cNvSpPr/>
          <p:nvPr/>
        </p:nvSpPr>
        <p:spPr>
          <a:xfrm>
            <a:off x="3886200" y="4302621"/>
            <a:ext cx="3981450" cy="457200"/>
          </a:xfrm>
          <a:prstGeom prst="roundRect">
            <a:avLst>
              <a:gd name="adj" fmla="val 11111"/>
            </a:avLst>
          </a:prstGeom>
          <a:solidFill>
            <a:srgbClr val="2F6FB0"/>
          </a:solidFill>
          <a:ln/>
        </p:spPr>
      </p:sp>
      <p:sp>
        <p:nvSpPr>
          <p:cNvPr id="13" name="Text 11"/>
          <p:cNvSpPr/>
          <p:nvPr/>
        </p:nvSpPr>
        <p:spPr>
          <a:xfrm>
            <a:off x="8020050" y="4371181"/>
            <a:ext cx="658416"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2F6FB0"/>
                </a:solidFill>
                <a:latin typeface="Nunito Sans" pitchFamily="34" charset="0"/>
                <a:ea typeface="Nunito Sans" pitchFamily="34" charset="-122"/>
                <a:cs typeface="Nunito Sans" pitchFamily="34" charset="-120"/>
              </a:rPr>
              <a:t>$102</a:t>
            </a:r>
            <a:endParaRPr lang="en-US" sz="1800" dirty="0"/>
          </a:p>
        </p:txBody>
      </p:sp>
      <p:sp>
        <p:nvSpPr>
          <p:cNvPr id="14" name="Text 12"/>
          <p:cNvSpPr/>
          <p:nvPr/>
        </p:nvSpPr>
        <p:spPr>
          <a:xfrm>
            <a:off x="812800" y="5064621"/>
            <a:ext cx="10883392"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4213D"/>
                </a:solidFill>
                <a:latin typeface="Nunito Sans" pitchFamily="34" charset="0"/>
                <a:ea typeface="Nunito Sans" pitchFamily="34" charset="-122"/>
                <a:cs typeface="Nunito Sans" pitchFamily="34" charset="-120"/>
              </a:rPr>
              <a:t>Switching our “wait until it breaks” equipment to sensor-guided care would save about $22M.</a:t>
            </a:r>
            <a:endParaRPr lang="en-US" sz="1800" dirty="0"/>
          </a:p>
        </p:txBody>
      </p:sp>
      <p:sp>
        <p:nvSpPr>
          <p:cNvPr id="15" name="Text 1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unito Sans" pitchFamily="34" charset="0"/>
                <a:ea typeface="Nunito Sans" pitchFamily="34" charset="-122"/>
                <a:cs typeface="Nunito Sans" pitchFamily="34" charset="-120"/>
              </a:rPr>
              <a:t>Groups compared are similar in age and importance, so the gap comes from the approach itself</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DEAE1"/>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4A5568"/>
                </a:solidFill>
                <a:latin typeface="Nunito Sans" pitchFamily="34" charset="0"/>
                <a:ea typeface="Nunito Sans" pitchFamily="34" charset="-122"/>
                <a:cs typeface="Nunito Sans" pitchFamily="34" charset="-120"/>
              </a:rPr>
              <a:t>HOW WE GOT THIS NUMBER · FINDING 1</a:t>
            </a:r>
            <a:endParaRPr lang="en-US" sz="1400" dirty="0"/>
          </a:p>
        </p:txBody>
      </p:sp>
      <p:sp>
        <p:nvSpPr>
          <p:cNvPr id="3" name="Text 1"/>
          <p:cNvSpPr/>
          <p:nvPr>
            <p:ph type="title"/>
          </p:nvPr>
        </p:nvSpPr>
        <p:spPr>
          <a:xfrm>
            <a:off x="812800" y="1315690"/>
            <a:ext cx="10883392" cy="84326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4213D"/>
                </a:solidFill>
                <a:latin typeface="Domine" pitchFamily="18" charset="0"/>
                <a:ea typeface="Domine" pitchFamily="18" charset="-122"/>
                <a:cs typeface="Domine" pitchFamily="18" charset="-120"/>
              </a:rPr>
              <a:t>The $22M comes from cost per running hour × hours affected</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400250"/>
          <a:ext cx="6591300" cy="2316063"/>
        </p:xfrm>
        <a:graphic>
          <a:graphicData uri="http://schemas.openxmlformats.org/drawingml/2006/table">
            <a:tbl>
              <a:tblPr/>
              <a:tblGrid>
                <a:gridCol w="2241042"/>
                <a:gridCol w="2175129"/>
                <a:gridCol w="2175129"/>
              </a:tblGrid>
              <a:tr h="386011">
                <a:tc>
                  <a:txBody>
                    <a:bodyPr/>
                    <a:lstStyle/>
                    <a:p>
                      <a:pPr indent="0" marL="0">
                        <a:lnSpc>
                          <a:spcPts val="1960"/>
                        </a:lnSpc>
                        <a:buNone/>
                      </a:pPr>
                      <a:r>
                        <a:rPr lang="en-US" sz="1400" b="1" dirty="0">
                          <a:solidFill>
                            <a:srgbClr val="14213D"/>
                          </a:solidFill>
                          <a:latin typeface="Nunito Sans" pitchFamily="34" charset="0"/>
                          <a:ea typeface="Nunito Sans" pitchFamily="34" charset="-122"/>
                          <a:cs typeface="Nunito Sans" pitchFamily="34" charset="-120"/>
                        </a:rPr>
                        <a:t>Step</a:t>
                      </a:r>
                      <a:endParaRPr lang="en-US" sz="1400" dirty="0">
                        <a:latin typeface="Nunito Sans" charset="0"/>
                        <a:ea typeface="Nunito Sans" charset="0"/>
                        <a:cs typeface="Nunito Sans" charset="0"/>
                      </a:endParaRPr>
                    </a:p>
                  </a:txBody>
                  <a:tcPr marL="62230" marR="62230" marT="62230" marB="62230" anchor="t">
                    <a:lnL w="12700" cap="flat" cmpd="sng" algn="ctr">
                      <a:solidFill>
                        <a:srgbClr val="BDBBB4"/>
                      </a:solidFill>
                      <a:prstDash val="solid"/>
                      <a:round/>
                      <a:headEnd type="none" w="med" len="med"/>
                      <a:tailEnd type="none" w="med" len="med"/>
                    </a:lnL>
                    <a:lnR w="12700" cap="flat" cmpd="sng" algn="ctr">
                      <a:solidFill>
                        <a:srgbClr val="B0AEA7"/>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B0AEA7"/>
                      </a:solidFill>
                      <a:prstDash val="solid"/>
                      <a:round/>
                      <a:headEnd type="none" w="med" len="med"/>
                      <a:tailEnd type="none" w="med" len="med"/>
                    </a:lnB>
                    <a:solidFill>
                      <a:srgbClr val="DCD9D1"/>
                    </a:solidFill>
                  </a:tcPr>
                </a:tc>
                <a:tc>
                  <a:txBody>
                    <a:bodyPr/>
                    <a:lstStyle/>
                    <a:p>
                      <a:pPr algn="r" indent="0" marL="0">
                        <a:lnSpc>
                          <a:spcPts val="1960"/>
                        </a:lnSpc>
                        <a:buNone/>
                      </a:pPr>
                      <a:r>
                        <a:rPr lang="en-US" sz="1400" b="1" dirty="0">
                          <a:solidFill>
                            <a:srgbClr val="14213D"/>
                          </a:solidFill>
                          <a:latin typeface="Nunito Sans" pitchFamily="34" charset="0"/>
                          <a:ea typeface="Nunito Sans" pitchFamily="34" charset="-122"/>
                          <a:cs typeface="Nunito Sans" pitchFamily="34" charset="-120"/>
                        </a:rPr>
                        <a:t>Wait until it breaks</a:t>
                      </a:r>
                      <a:endParaRPr lang="en-US" sz="1400" dirty="0">
                        <a:latin typeface="Nunito Sans" charset="0"/>
                        <a:ea typeface="Nunito Sans" charset="0"/>
                        <a:cs typeface="Nunito Sans" charset="0"/>
                      </a:endParaRPr>
                    </a:p>
                  </a:txBody>
                  <a:tcPr marL="62230" marR="62230" marT="62230" marB="62230" anchor="t">
                    <a:lnL w="12700" cap="flat" cmpd="sng" algn="ctr">
                      <a:solidFill>
                        <a:srgbClr val="B0AEA7"/>
                      </a:solidFill>
                      <a:prstDash val="solid"/>
                      <a:round/>
                      <a:headEnd type="none" w="med" len="med"/>
                      <a:tailEnd type="none" w="med" len="med"/>
                    </a:lnL>
                    <a:lnR w="12700" cap="flat" cmpd="sng" algn="ctr">
                      <a:solidFill>
                        <a:srgbClr val="B0AEA7"/>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B0AEA7"/>
                      </a:solidFill>
                      <a:prstDash val="solid"/>
                      <a:round/>
                      <a:headEnd type="none" w="med" len="med"/>
                      <a:tailEnd type="none" w="med" len="med"/>
                    </a:lnB>
                    <a:solidFill>
                      <a:srgbClr val="DCD9D1"/>
                    </a:solidFill>
                  </a:tcPr>
                </a:tc>
                <a:tc>
                  <a:txBody>
                    <a:bodyPr/>
                    <a:lstStyle/>
                    <a:p>
                      <a:pPr algn="r" indent="0" marL="0">
                        <a:lnSpc>
                          <a:spcPts val="1960"/>
                        </a:lnSpc>
                        <a:buNone/>
                      </a:pPr>
                      <a:r>
                        <a:rPr lang="en-US" sz="1400" b="1" dirty="0">
                          <a:solidFill>
                            <a:srgbClr val="14213D"/>
                          </a:solidFill>
                          <a:latin typeface="Nunito Sans" pitchFamily="34" charset="0"/>
                          <a:ea typeface="Nunito Sans" pitchFamily="34" charset="-122"/>
                          <a:cs typeface="Nunito Sans" pitchFamily="34" charset="-120"/>
                        </a:rPr>
                        <a:t>Sensor-guided</a:t>
                      </a:r>
                      <a:endParaRPr lang="en-US" sz="1400" dirty="0">
                        <a:latin typeface="Nunito Sans" charset="0"/>
                        <a:ea typeface="Nunito Sans" charset="0"/>
                        <a:cs typeface="Nunito Sans" charset="0"/>
                      </a:endParaRPr>
                    </a:p>
                  </a:txBody>
                  <a:tcPr marL="62230" marR="62230" marT="62230" marB="62230" anchor="t">
                    <a:lnL w="12700" cap="flat" cmpd="sng" algn="ctr">
                      <a:solidFill>
                        <a:srgbClr val="B0AEA7"/>
                      </a:solidFill>
                      <a:prstDash val="solid"/>
                      <a:round/>
                      <a:headEnd type="none" w="med" len="med"/>
                      <a:tailEnd type="none" w="med" len="med"/>
                    </a:lnL>
                    <a:lnR w="12700" cap="flat" cmpd="sng" algn="ctr">
                      <a:solidFill>
                        <a:srgbClr val="B0AEA7"/>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B0AEA7"/>
                      </a:solidFill>
                      <a:prstDash val="solid"/>
                      <a:round/>
                      <a:headEnd type="none" w="med" len="med"/>
                      <a:tailEnd type="none" w="med" len="med"/>
                    </a:lnB>
                    <a:solidFill>
                      <a:srgbClr val="DCD9D1"/>
                    </a:solidFill>
                  </a:tcPr>
                </a:tc>
              </a:tr>
              <a:tr h="386011">
                <a:tc>
                  <a:txBody>
                    <a:bodyPr/>
                    <a:lstStyle/>
                    <a:p>
                      <a:pP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Maintenance spend</a:t>
                      </a:r>
                      <a:endParaRPr lang="en-US" sz="1400" dirty="0">
                        <a:latin typeface="Nunito Sans" charset="0"/>
                        <a:ea typeface="Nunito Sans" charset="0"/>
                        <a:cs typeface="Nunito Sans" charset="0"/>
                      </a:endParaRPr>
                    </a:p>
                  </a:txBody>
                  <a:tcPr marL="62230" marR="62230" marT="62230" marB="62230" anchor="t">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B0AEA7"/>
                      </a:solidFill>
                      <a:prstDash val="solid"/>
                      <a:round/>
                      <a:headEnd type="none" w="med" len="med"/>
                      <a:tailEnd type="none" w="med" len="med"/>
                    </a:lnT>
                    <a:lnB w="12700" cap="flat" cmpd="sng" algn="ctr">
                      <a:solidFill>
                        <a:srgbClr val="BDBBB4"/>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$9.85M</a:t>
                      </a:r>
                      <a:endParaRPr lang="en-US" sz="1400" dirty="0">
                        <a:latin typeface="Nunito Sans" charset="0"/>
                        <a:ea typeface="Nunito Sans" charset="0"/>
                        <a:cs typeface="Nunito Sans" charset="0"/>
                      </a:endParaRPr>
                    </a:p>
                  </a:txBody>
                  <a:tcPr marL="62230" marR="62230" marT="62230" marB="62230" anchor="t">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B0AEA7"/>
                      </a:solidFill>
                      <a:prstDash val="solid"/>
                      <a:round/>
                      <a:headEnd type="none" w="med" len="med"/>
                      <a:tailEnd type="none" w="med" len="med"/>
                    </a:lnT>
                    <a:lnB w="12700" cap="flat" cmpd="sng" algn="ctr">
                      <a:solidFill>
                        <a:srgbClr val="BDBBB4"/>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$10.27M</a:t>
                      </a:r>
                      <a:endParaRPr lang="en-US" sz="1400" dirty="0">
                        <a:latin typeface="Nunito Sans" charset="0"/>
                        <a:ea typeface="Nunito Sans" charset="0"/>
                        <a:cs typeface="Nunito Sans" charset="0"/>
                      </a:endParaRPr>
                    </a:p>
                  </a:txBody>
                  <a:tcPr marL="62230" marR="62230" marT="62230" marB="62230" anchor="t">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B0AEA7"/>
                      </a:solidFill>
                      <a:prstDash val="solid"/>
                      <a:round/>
                      <a:headEnd type="none" w="med" len="med"/>
                      <a:tailEnd type="none" w="med" len="med"/>
                    </a:lnT>
                    <a:lnB w="12700" cap="flat" cmpd="sng" algn="ctr">
                      <a:solidFill>
                        <a:srgbClr val="BDBBB4"/>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 Lost output</a:t>
                      </a:r>
                      <a:endParaRPr lang="en-US" sz="1400" dirty="0">
                        <a:latin typeface="Nunito Sans" charset="0"/>
                        <a:ea typeface="Nunito Sans" charset="0"/>
                        <a:cs typeface="Nunito Sans" charset="0"/>
                      </a:endParaRPr>
                    </a:p>
                  </a:txBody>
                  <a:tcPr marL="62230" marR="62230" marT="62230" marB="62230" anchor="t">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BDBBB4"/>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$49.50M</a:t>
                      </a:r>
                      <a:endParaRPr lang="en-US" sz="1400" dirty="0">
                        <a:latin typeface="Nunito Sans" charset="0"/>
                        <a:ea typeface="Nunito Sans" charset="0"/>
                        <a:cs typeface="Nunito Sans" charset="0"/>
                      </a:endParaRPr>
                    </a:p>
                  </a:txBody>
                  <a:tcPr marL="62230" marR="62230" marT="62230" marB="62230" anchor="t">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BDBBB4"/>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$44.36M</a:t>
                      </a:r>
                      <a:endParaRPr lang="en-US" sz="1400" dirty="0">
                        <a:latin typeface="Nunito Sans" charset="0"/>
                        <a:ea typeface="Nunito Sans" charset="0"/>
                        <a:cs typeface="Nunito Sans" charset="0"/>
                      </a:endParaRPr>
                    </a:p>
                  </a:txBody>
                  <a:tcPr marL="62230" marR="62230" marT="62230" marB="62230" anchor="t">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BDBBB4"/>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 Total cost</a:t>
                      </a:r>
                      <a:endParaRPr lang="en-US" sz="1400" dirty="0">
                        <a:latin typeface="Nunito Sans" charset="0"/>
                        <a:ea typeface="Nunito Sans" charset="0"/>
                        <a:cs typeface="Nunito Sans" charset="0"/>
                      </a:endParaRPr>
                    </a:p>
                  </a:txBody>
                  <a:tcPr marL="62230" marR="62230" marT="62230" marB="62230" anchor="t">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BDBBB4"/>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$59.35M</a:t>
                      </a:r>
                      <a:endParaRPr lang="en-US" sz="1400" dirty="0">
                        <a:latin typeface="Nunito Sans" charset="0"/>
                        <a:ea typeface="Nunito Sans" charset="0"/>
                        <a:cs typeface="Nunito Sans" charset="0"/>
                      </a:endParaRPr>
                    </a:p>
                  </a:txBody>
                  <a:tcPr marL="62230" marR="62230" marT="62230" marB="62230" anchor="t">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BDBBB4"/>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$54.63M</a:t>
                      </a:r>
                      <a:endParaRPr lang="en-US" sz="1400" dirty="0">
                        <a:latin typeface="Nunito Sans" charset="0"/>
                        <a:ea typeface="Nunito Sans" charset="0"/>
                        <a:cs typeface="Nunito Sans" charset="0"/>
                      </a:endParaRPr>
                    </a:p>
                  </a:txBody>
                  <a:tcPr marL="62230" marR="62230" marT="62230" marB="62230" anchor="t">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BDBBB4"/>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 Hours running</a:t>
                      </a:r>
                      <a:endParaRPr lang="en-US" sz="1400" dirty="0">
                        <a:latin typeface="Nunito Sans" charset="0"/>
                        <a:ea typeface="Nunito Sans" charset="0"/>
                        <a:cs typeface="Nunito Sans" charset="0"/>
                      </a:endParaRPr>
                    </a:p>
                  </a:txBody>
                  <a:tcPr marL="62230" marR="62230" marT="62230" marB="62230" anchor="t">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BDBBB4"/>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364,450 h</a:t>
                      </a:r>
                      <a:endParaRPr lang="en-US" sz="1400" dirty="0">
                        <a:latin typeface="Nunito Sans" charset="0"/>
                        <a:ea typeface="Nunito Sans" charset="0"/>
                        <a:cs typeface="Nunito Sans" charset="0"/>
                      </a:endParaRPr>
                    </a:p>
                  </a:txBody>
                  <a:tcPr marL="62230" marR="62230" marT="62230" marB="62230" anchor="t">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BDBBB4"/>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534,522 h</a:t>
                      </a:r>
                      <a:endParaRPr lang="en-US" sz="1400" dirty="0">
                        <a:latin typeface="Nunito Sans" charset="0"/>
                        <a:ea typeface="Nunito Sans" charset="0"/>
                        <a:cs typeface="Nunito Sans" charset="0"/>
                      </a:endParaRPr>
                    </a:p>
                  </a:txBody>
                  <a:tcPr marL="62230" marR="62230" marT="62230" marB="62230" anchor="t">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BDBBB4"/>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 Cost per hour</a:t>
                      </a:r>
                      <a:endParaRPr lang="en-US" sz="1400" dirty="0">
                        <a:latin typeface="Nunito Sans" charset="0"/>
                        <a:ea typeface="Nunito Sans" charset="0"/>
                        <a:cs typeface="Nunito Sans" charset="0"/>
                      </a:endParaRPr>
                    </a:p>
                  </a:txBody>
                  <a:tcPr marL="62230" marR="62230" marT="62230" marB="62230" anchor="t">
                    <a:lnL w="12700" cap="flat" cmpd="sng" algn="ctr">
                      <a:solidFill>
                        <a:srgbClr val="BDBBB4"/>
                      </a:solidFill>
                      <a:prstDash val="solid"/>
                      <a:round/>
                      <a:headEnd type="none" w="med" len="med"/>
                      <a:tailEnd type="none" w="med" len="med"/>
                    </a:lnL>
                    <a:lnR w="12700" cap="flat" cmpd="sng" algn="ctr">
                      <a:solidFill>
                        <a:srgbClr val="C9BCB1"/>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9BCB1"/>
                      </a:solidFill>
                      <a:prstDash val="solid"/>
                      <a:round/>
                      <a:headEnd type="none" w="med" len="med"/>
                      <a:tailEnd type="none" w="med" len="med"/>
                    </a:lnB>
                    <a:solidFill>
                      <a:srgbClr val="FCEBDD"/>
                    </a:solidFill>
                  </a:tcPr>
                </a:tc>
                <a:tc>
                  <a:txBody>
                    <a:bodyPr/>
                    <a:lstStyle/>
                    <a:p>
                      <a:pPr algn="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$162.9</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9BCB1"/>
                      </a:solidFill>
                      <a:prstDash val="solid"/>
                      <a:round/>
                      <a:headEnd type="none" w="med" len="med"/>
                      <a:tailEnd type="none" w="med" len="med"/>
                    </a:lnL>
                    <a:lnR w="12700" cap="flat" cmpd="sng" algn="ctr">
                      <a:solidFill>
                        <a:srgbClr val="C9BCB1"/>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9BCB1"/>
                      </a:solidFill>
                      <a:prstDash val="solid"/>
                      <a:round/>
                      <a:headEnd type="none" w="med" len="med"/>
                      <a:tailEnd type="none" w="med" len="med"/>
                    </a:lnB>
                    <a:solidFill>
                      <a:srgbClr val="FCEBDD"/>
                    </a:solidFill>
                  </a:tcPr>
                </a:tc>
                <a:tc>
                  <a:txBody>
                    <a:bodyPr/>
                    <a:lstStyle/>
                    <a:p>
                      <a:pPr algn="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$102.2</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9BCB1"/>
                      </a:solidFill>
                      <a:prstDash val="solid"/>
                      <a:round/>
                      <a:headEnd type="none" w="med" len="med"/>
                      <a:tailEnd type="none" w="med" len="med"/>
                    </a:lnL>
                    <a:lnR w="12700" cap="flat" cmpd="sng" algn="ctr">
                      <a:solidFill>
                        <a:srgbClr val="C9BCB1"/>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9BCB1"/>
                      </a:solidFill>
                      <a:prstDash val="solid"/>
                      <a:round/>
                      <a:headEnd type="none" w="med" len="med"/>
                      <a:tailEnd type="none" w="med" len="med"/>
                    </a:lnB>
                    <a:solidFill>
                      <a:srgbClr val="FCEBDD"/>
                    </a:solidFill>
                  </a:tcPr>
                </a:tc>
              </a:tr>
            </a:tbl>
          </a:graphicData>
        </a:graphic>
      </p:graphicFrame>
      <p:sp>
        <p:nvSpPr>
          <p:cNvPr id="5" name="Text 2"/>
          <p:cNvSpPr/>
          <p:nvPr/>
        </p:nvSpPr>
        <p:spPr>
          <a:xfrm>
            <a:off x="812800" y="4843314"/>
            <a:ext cx="5882630" cy="908050"/>
          </a:xfrm>
          <a:prstGeom prst="roundRect">
            <a:avLst>
              <a:gd name="adj" fmla="val 11189"/>
            </a:avLst>
          </a:prstGeom>
          <a:solidFill>
            <a:srgbClr val="F6F4EE"/>
          </a:solidFill>
          <a:ln/>
        </p:spPr>
        <p:txBody>
          <a:bodyPr wrap="square" lIns="198842" tIns="148042" rIns="36079" bIns="122642" rtlCol="0" anchor="t">
            <a:normAutofit/>
          </a:bodyPr>
          <a:lstStyle/>
          <a:p>
            <a:pPr algn="l" indent="0" marL="0">
              <a:lnSpc>
                <a:spcPts val="2175"/>
              </a:lnSpc>
              <a:buNone/>
            </a:pPr>
            <a:r>
              <a:rPr lang="en-US" sz="1500" b="1" dirty="0">
                <a:solidFill>
                  <a:srgbClr val="14213D"/>
                </a:solidFill>
                <a:latin typeface="Nunito Sans" pitchFamily="34" charset="0"/>
                <a:ea typeface="Nunito Sans" pitchFamily="34" charset="-122"/>
                <a:cs typeface="Nunito Sans" pitchFamily="34" charset="-120"/>
              </a:rPr>
              <a:t>Saving:</a:t>
            </a:r>
            <a:r>
              <a:rPr lang="en-US" sz="1500" dirty="0">
                <a:solidFill>
                  <a:srgbClr val="14213D"/>
                </a:solidFill>
                <a:latin typeface="Nunito Sans" pitchFamily="34" charset="0"/>
                <a:ea typeface="Nunito Sans" pitchFamily="34" charset="-122"/>
                <a:cs typeface="Nunito Sans" pitchFamily="34" charset="-120"/>
              </a:rPr>
              <a:t> ($162.9 − $102.2) = $60.6 per hour × 364,450 hours = </a:t>
            </a:r>
            <a:r>
              <a:rPr lang="en-US" sz="1500" b="1" dirty="0">
                <a:solidFill>
                  <a:srgbClr val="14213D"/>
                </a:solidFill>
                <a:latin typeface="Nunito Sans" pitchFamily="34" charset="0"/>
                <a:ea typeface="Nunito Sans" pitchFamily="34" charset="-122"/>
                <a:cs typeface="Nunito Sans" pitchFamily="34" charset="-120"/>
              </a:rPr>
              <a:t>$22.1M</a:t>
            </a:r>
            <a:endParaRPr lang="en-US" sz="1500" dirty="0"/>
          </a:p>
        </p:txBody>
      </p:sp>
      <p:sp>
        <p:nvSpPr>
          <p:cNvPr id="6" name="Shape 3"/>
          <p:cNvSpPr/>
          <p:nvPr/>
        </p:nvSpPr>
        <p:spPr>
          <a:xfrm>
            <a:off x="6949430" y="2387550"/>
            <a:ext cx="4429770" cy="3363813"/>
          </a:xfrm>
          <a:prstGeom prst="roundRect">
            <a:avLst>
              <a:gd name="adj" fmla="val 3020"/>
            </a:avLst>
          </a:prstGeom>
          <a:solidFill>
            <a:srgbClr val="F6F4EE"/>
          </a:solidFill>
          <a:ln/>
        </p:spPr>
      </p:sp>
      <p:sp>
        <p:nvSpPr>
          <p:cNvPr id="7" name="Text 4"/>
          <p:cNvSpPr/>
          <p:nvPr/>
        </p:nvSpPr>
        <p:spPr>
          <a:xfrm>
            <a:off x="7203430" y="2641550"/>
            <a:ext cx="4039423" cy="25653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2F6FB0"/>
                </a:solidFill>
                <a:latin typeface="Nunito Sans" pitchFamily="34" charset="0"/>
                <a:ea typeface="Nunito Sans" pitchFamily="34" charset="-122"/>
                <a:cs typeface="Nunito Sans" pitchFamily="34" charset="-120"/>
              </a:rPr>
              <a:t>IS IT A FAIR COMPARISON?</a:t>
            </a:r>
            <a:endParaRPr lang="en-US" sz="1300" dirty="0"/>
          </a:p>
        </p:txBody>
      </p:sp>
      <p:sp>
        <p:nvSpPr>
          <p:cNvPr id="8" name="Text 5"/>
          <p:cNvSpPr/>
          <p:nvPr/>
        </p:nvSpPr>
        <p:spPr>
          <a:xfrm>
            <a:off x="7203430" y="2999680"/>
            <a:ext cx="4039423" cy="283170"/>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4A5568"/>
                </a:solidFill>
                <a:latin typeface="Nunito Sans" pitchFamily="34" charset="0"/>
                <a:ea typeface="Nunito Sans" pitchFamily="34" charset="-122"/>
                <a:cs typeface="Nunito Sans" pitchFamily="34" charset="-120"/>
              </a:rPr>
              <a:t>Same age:</a:t>
            </a:r>
            <a:r>
              <a:rPr lang="en-US" sz="1400" dirty="0">
                <a:solidFill>
                  <a:srgbClr val="4A5568"/>
                </a:solidFill>
                <a:latin typeface="Nunito Sans" pitchFamily="34" charset="0"/>
                <a:ea typeface="Nunito Sans" pitchFamily="34" charset="-122"/>
                <a:cs typeface="Nunito Sans" pitchFamily="34" charset="-120"/>
              </a:rPr>
              <a:t> both groups average 8.0–8.1 years.</a:t>
            </a:r>
            <a:endParaRPr lang="en-US" sz="1400" dirty="0"/>
          </a:p>
        </p:txBody>
      </p:sp>
      <p:sp>
        <p:nvSpPr>
          <p:cNvPr id="9" name="Text 6"/>
          <p:cNvSpPr/>
          <p:nvPr/>
        </p:nvSpPr>
        <p:spPr>
          <a:xfrm>
            <a:off x="7203430" y="3384451"/>
            <a:ext cx="4039423" cy="283170"/>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4A5568"/>
                </a:solidFill>
                <a:latin typeface="Nunito Sans" pitchFamily="34" charset="0"/>
                <a:ea typeface="Nunito Sans" pitchFamily="34" charset="-122"/>
                <a:cs typeface="Nunito Sans" pitchFamily="34" charset="-120"/>
              </a:rPr>
              <a:t>Same importance:</a:t>
            </a:r>
            <a:r>
              <a:rPr lang="en-US" sz="1400" dirty="0">
                <a:solidFill>
                  <a:srgbClr val="4A5568"/>
                </a:solidFill>
                <a:latin typeface="Nunito Sans" pitchFamily="34" charset="0"/>
                <a:ea typeface="Nunito Sans" pitchFamily="34" charset="-122"/>
                <a:cs typeface="Nunito Sans" pitchFamily="34" charset="-120"/>
              </a:rPr>
              <a:t> 17–18% critical in each.</a:t>
            </a:r>
            <a:endParaRPr lang="en-US" sz="1400" dirty="0"/>
          </a:p>
        </p:txBody>
      </p:sp>
      <p:sp>
        <p:nvSpPr>
          <p:cNvPr id="10" name="Text 7"/>
          <p:cNvSpPr/>
          <p:nvPr/>
        </p:nvSpPr>
        <p:spPr>
          <a:xfrm>
            <a:off x="7203430" y="3769221"/>
            <a:ext cx="4039423" cy="540941"/>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4A5568"/>
                </a:solidFill>
                <a:latin typeface="Nunito Sans" pitchFamily="34" charset="0"/>
                <a:ea typeface="Nunito Sans" pitchFamily="34" charset="-122"/>
                <a:cs typeface="Nunito Sans" pitchFamily="34" charset="-120"/>
              </a:rPr>
              <a:t>Holds at every age:</a:t>
            </a:r>
            <a:r>
              <a:rPr lang="en-US" sz="1400" dirty="0">
                <a:solidFill>
                  <a:srgbClr val="4A5568"/>
                </a:solidFill>
                <a:latin typeface="Nunito Sans" pitchFamily="34" charset="0"/>
                <a:ea typeface="Nunito Sans" pitchFamily="34" charset="-122"/>
                <a:cs typeface="Nunito Sans" pitchFamily="34" charset="-120"/>
              </a:rPr>
              <a:t> breakdowns are higher under “wait until it breaks” in all four age bands.</a:t>
            </a:r>
            <a:endParaRPr lang="en-US" sz="1400" dirty="0"/>
          </a:p>
        </p:txBody>
      </p:sp>
      <p:sp>
        <p:nvSpPr>
          <p:cNvPr id="11" name="Text 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unito Sans" pitchFamily="34" charset="0"/>
                <a:ea typeface="Nunito Sans" pitchFamily="34" charset="-122"/>
                <a:cs typeface="Nunito Sans" pitchFamily="34" charset="-120"/>
              </a:rPr>
              <a:t>We compare per running hour because the groups run for different lengths of time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71214"/>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C0631A"/>
                </a:solidFill>
                <a:latin typeface="Nunito Sans" pitchFamily="34" charset="0"/>
                <a:ea typeface="Nunito Sans" pitchFamily="34" charset="-122"/>
                <a:cs typeface="Nunito Sans" pitchFamily="34" charset="-120"/>
              </a:rPr>
              <a:t>FINDING 2 · PRIORITIES</a:t>
            </a:r>
            <a:endParaRPr lang="en-US" sz="1400" dirty="0"/>
          </a:p>
        </p:txBody>
      </p:sp>
      <p:sp>
        <p:nvSpPr>
          <p:cNvPr id="3" name="Text 1"/>
          <p:cNvSpPr/>
          <p:nvPr>
            <p:ph type="title"/>
          </p:nvPr>
        </p:nvSpPr>
        <p:spPr>
          <a:xfrm>
            <a:off x="812800" y="1363414"/>
            <a:ext cx="10883392" cy="948432"/>
          </a:xfrm>
          <a:prstGeom prst="rect">
            <a:avLst/>
          </a:prstGeom>
          <a:noFill/>
          <a:ln/>
        </p:spPr>
        <p:txBody>
          <a:bodyPr wrap="square" lIns="0" tIns="0" rIns="0" bIns="0" rtlCol="0" anchor="t">
            <a:normAutofit/>
          </a:bodyPr>
          <a:lstStyle/>
          <a:p>
            <a:pPr algn="l" indent="0" marL="0">
              <a:lnSpc>
                <a:spcPts val="3634"/>
              </a:lnSpc>
              <a:buNone/>
            </a:pPr>
            <a:r>
              <a:rPr lang="en-US" sz="3160" b="1" i="0" dirty="0">
                <a:solidFill>
                  <a:srgbClr val="14213D"/>
                </a:solidFill>
                <a:latin typeface="Domine" pitchFamily="18" charset="0"/>
                <a:ea typeface="Domine" pitchFamily="18" charset="-122"/>
                <a:cs typeface="Domine" pitchFamily="18" charset="-120"/>
              </a:rPr>
              <a:t>Our most critical equipment gets no priority, and it costs us about $15.9M</a:t>
            </a:r>
            <a:endParaRPr lang="en-US" sz="316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603946"/>
          <a:ext cx="10553700" cy="2301131"/>
        </p:xfrm>
        <a:graphic>
          <a:graphicData uri="http://schemas.openxmlformats.org/drawingml/2006/table">
            <a:tbl>
              <a:tblPr/>
              <a:tblGrid>
                <a:gridCol w="4221480"/>
                <a:gridCol w="3166110"/>
                <a:gridCol w="3166110"/>
              </a:tblGrid>
              <a:tr h="460226">
                <a:tc>
                  <a:txBody>
                    <a:bodyPr/>
                    <a:lstStyle/>
                    <a:p>
                      <a:pPr indent="0" marL="0">
                        <a:lnSpc>
                          <a:spcPts val="2343"/>
                        </a:lnSpc>
                        <a:buNone/>
                      </a:pPr>
                      <a:r>
                        <a:rPr lang="en-US" sz="1673" b="1" dirty="0">
                          <a:solidFill>
                            <a:srgbClr val="14213D"/>
                          </a:solidFill>
                          <a:latin typeface="Nunito Sans" pitchFamily="34" charset="0"/>
                          <a:ea typeface="Nunito Sans" pitchFamily="34" charset="-122"/>
                          <a:cs typeface="Nunito Sans" pitchFamily="34" charset="-120"/>
                        </a:rPr>
                        <a:t>What we measured</a:t>
                      </a:r>
                      <a:endParaRPr lang="en-US" sz="1673" dirty="0">
                        <a:latin typeface="Nunito Sans" charset="0"/>
                        <a:ea typeface="Nunito Sans" charset="0"/>
                        <a:cs typeface="Nunito Sans" charset="0"/>
                      </a:endParaRPr>
                    </a:p>
                  </a:txBody>
                  <a:tcPr marL="74384" marR="74384" marT="74384" marB="74384" anchor="t">
                    <a:lnL w="12700" cap="flat" cmpd="sng" algn="ctr">
                      <a:solidFill>
                        <a:srgbClr val="C4C3BE"/>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algn="r" indent="0" marL="0">
                        <a:lnSpc>
                          <a:spcPts val="2343"/>
                        </a:lnSpc>
                        <a:buNone/>
                      </a:pPr>
                      <a:r>
                        <a:rPr lang="en-US" sz="1673" b="1" dirty="0">
                          <a:solidFill>
                            <a:srgbClr val="14213D"/>
                          </a:solidFill>
                          <a:latin typeface="Nunito Sans" pitchFamily="34" charset="0"/>
                          <a:ea typeface="Nunito Sans" pitchFamily="34" charset="-122"/>
                          <a:cs typeface="Nunito Sans" pitchFamily="34" charset="-120"/>
                        </a:rPr>
                        <a:t>Critical equipment</a:t>
                      </a:r>
                      <a:endParaRPr lang="en-US" sz="1673" dirty="0">
                        <a:latin typeface="Nunito Sans" charset="0"/>
                        <a:ea typeface="Nunito Sans" charset="0"/>
                        <a:cs typeface="Nunito Sans" charset="0"/>
                      </a:endParaRPr>
                    </a:p>
                  </a:txBody>
                  <a:tcPr marL="74384" marR="74384" marT="74384" marB="74384" anchor="t">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algn="r" indent="0" marL="0">
                        <a:lnSpc>
                          <a:spcPts val="2343"/>
                        </a:lnSpc>
                        <a:buNone/>
                      </a:pPr>
                      <a:r>
                        <a:rPr lang="en-US" sz="1673" b="1" dirty="0">
                          <a:solidFill>
                            <a:srgbClr val="14213D"/>
                          </a:solidFill>
                          <a:latin typeface="Nunito Sans" pitchFamily="34" charset="0"/>
                          <a:ea typeface="Nunito Sans" pitchFamily="34" charset="-122"/>
                          <a:cs typeface="Nunito Sans" pitchFamily="34" charset="-120"/>
                        </a:rPr>
                        <a:t>All other equipment</a:t>
                      </a:r>
                      <a:endParaRPr lang="en-US" sz="1673" dirty="0">
                        <a:latin typeface="Nunito Sans" charset="0"/>
                        <a:ea typeface="Nunito Sans" charset="0"/>
                        <a:cs typeface="Nunito Sans" charset="0"/>
                      </a:endParaRPr>
                    </a:p>
                  </a:txBody>
                  <a:tcPr marL="74384" marR="74384" marT="74384" marB="74384" anchor="t">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r>
              <a:tr h="460226">
                <a:tc>
                  <a:txBody>
                    <a:bodyPr/>
                    <a:lstStyle/>
                    <a:p>
                      <a:pPr indent="0" marL="0">
                        <a:lnSpc>
                          <a:spcPts val="2343"/>
                        </a:lnSpc>
                        <a:buNone/>
                      </a:pPr>
                      <a:r>
                        <a:rPr lang="en-US" sz="1673" dirty="0">
                          <a:solidFill>
                            <a:srgbClr val="14213D"/>
                          </a:solidFill>
                          <a:latin typeface="Nunito Sans" pitchFamily="34" charset="0"/>
                          <a:ea typeface="Nunito Sans" pitchFamily="34" charset="-122"/>
                          <a:cs typeface="Nunito Sans" pitchFamily="34" charset="-120"/>
                        </a:rPr>
                        <a:t>Technician cost per job</a:t>
                      </a:r>
                      <a:endParaRPr lang="en-US" sz="1673" dirty="0">
                        <a:latin typeface="Nunito Sans" charset="0"/>
                        <a:ea typeface="Nunito Sans" charset="0"/>
                        <a:cs typeface="Nunito Sans" charset="0"/>
                      </a:endParaRPr>
                    </a:p>
                  </a:txBody>
                  <a:tcPr marL="74384" marR="74384" marT="74384" marB="74384"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2343"/>
                        </a:lnSpc>
                        <a:buNone/>
                      </a:pPr>
                      <a:r>
                        <a:rPr lang="en-US" sz="1673" dirty="0">
                          <a:solidFill>
                            <a:srgbClr val="14213D"/>
                          </a:solidFill>
                          <a:latin typeface="Nunito Sans" pitchFamily="34" charset="0"/>
                          <a:ea typeface="Nunito Sans" pitchFamily="34" charset="-122"/>
                          <a:cs typeface="Nunito Sans" pitchFamily="34" charset="-120"/>
                        </a:rPr>
                        <a:t>$2,808 (the lowest)</a:t>
                      </a:r>
                      <a:endParaRPr lang="en-US" sz="1673" dirty="0">
                        <a:latin typeface="Nunito Sans" charset="0"/>
                        <a:ea typeface="Nunito Sans" charset="0"/>
                        <a:cs typeface="Nunito Sans" charset="0"/>
                      </a:endParaRPr>
                    </a:p>
                  </a:txBody>
                  <a:tcPr marL="74384" marR="74384" marT="74384" marB="74384"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2343"/>
                        </a:lnSpc>
                        <a:buNone/>
                      </a:pPr>
                      <a:r>
                        <a:rPr lang="en-US" sz="1673" dirty="0">
                          <a:solidFill>
                            <a:srgbClr val="14213D"/>
                          </a:solidFill>
                          <a:latin typeface="Nunito Sans" pitchFamily="34" charset="0"/>
                          <a:ea typeface="Nunito Sans" pitchFamily="34" charset="-122"/>
                          <a:cs typeface="Nunito Sans" pitchFamily="34" charset="-120"/>
                        </a:rPr>
                        <a:t>$2,866–$2,896</a:t>
                      </a:r>
                      <a:endParaRPr lang="en-US" sz="1673" dirty="0">
                        <a:latin typeface="Nunito Sans" charset="0"/>
                        <a:ea typeface="Nunito Sans" charset="0"/>
                        <a:cs typeface="Nunito Sans" charset="0"/>
                      </a:endParaRPr>
                    </a:p>
                  </a:txBody>
                  <a:tcPr marL="74384" marR="74384" marT="74384" marB="74384"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460226">
                <a:tc>
                  <a:txBody>
                    <a:bodyPr/>
                    <a:lstStyle/>
                    <a:p>
                      <a:pPr indent="0" marL="0">
                        <a:lnSpc>
                          <a:spcPts val="2343"/>
                        </a:lnSpc>
                        <a:buNone/>
                      </a:pPr>
                      <a:r>
                        <a:rPr lang="en-US" sz="1673" dirty="0">
                          <a:solidFill>
                            <a:srgbClr val="14213D"/>
                          </a:solidFill>
                          <a:latin typeface="Nunito Sans" pitchFamily="34" charset="0"/>
                          <a:ea typeface="Nunito Sans" pitchFamily="34" charset="-122"/>
                          <a:cs typeface="Nunito Sans" pitchFamily="34" charset="-120"/>
                        </a:rPr>
                        <a:t>Hours to repair</a:t>
                      </a:r>
                      <a:endParaRPr lang="en-US" sz="1673" dirty="0">
                        <a:latin typeface="Nunito Sans" charset="0"/>
                        <a:ea typeface="Nunito Sans" charset="0"/>
                        <a:cs typeface="Nunito Sans" charset="0"/>
                      </a:endParaRPr>
                    </a:p>
                  </a:txBody>
                  <a:tcPr marL="74384" marR="74384" marT="74384" marB="74384" anchor="t">
                    <a:lnL w="12700" cap="flat" cmpd="sng" algn="ctr">
                      <a:solidFill>
                        <a:srgbClr val="C4C3BE"/>
                      </a:solidFill>
                      <a:prstDash val="solid"/>
                      <a:round/>
                      <a:headEnd type="none" w="med" len="med"/>
                      <a:tailEnd type="none" w="med" len="med"/>
                    </a:lnL>
                    <a:lnR w="12700" cap="flat" cmpd="sng" algn="ctr">
                      <a:solidFill>
                        <a:srgbClr val="C9BC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BCB1"/>
                      </a:solidFill>
                      <a:prstDash val="solid"/>
                      <a:round/>
                      <a:headEnd type="none" w="med" len="med"/>
                      <a:tailEnd type="none" w="med" len="med"/>
                    </a:lnB>
                    <a:solidFill>
                      <a:srgbClr val="FCEBDD"/>
                    </a:solidFill>
                  </a:tcPr>
                </a:tc>
                <a:tc>
                  <a:txBody>
                    <a:bodyPr/>
                    <a:lstStyle/>
                    <a:p>
                      <a:pPr algn="r" indent="0" marL="0">
                        <a:lnSpc>
                          <a:spcPts val="2343"/>
                        </a:lnSpc>
                        <a:buNone/>
                      </a:pPr>
                      <a:r>
                        <a:rPr lang="en-US" sz="1673" dirty="0">
                          <a:solidFill>
                            <a:srgbClr val="C0631A"/>
                          </a:solidFill>
                          <a:latin typeface="Nunito Sans" pitchFamily="34" charset="0"/>
                          <a:ea typeface="Nunito Sans" pitchFamily="34" charset="-122"/>
                          <a:cs typeface="Nunito Sans" pitchFamily="34" charset="-120"/>
                        </a:rPr>
                        <a:t>15.8 h</a:t>
                      </a:r>
                      <a:endParaRPr lang="en-US" sz="1673" dirty="0">
                        <a:latin typeface="Nunito Sans" charset="0"/>
                        <a:ea typeface="Nunito Sans" charset="0"/>
                        <a:cs typeface="Nunito Sans" charset="0"/>
                      </a:endParaRPr>
                    </a:p>
                  </a:txBody>
                  <a:tcPr marL="74384" marR="74384" marT="74384" marB="74384" anchor="t">
                    <a:lnL w="12700" cap="flat" cmpd="sng" algn="ctr">
                      <a:solidFill>
                        <a:srgbClr val="C9BCB1"/>
                      </a:solidFill>
                      <a:prstDash val="solid"/>
                      <a:round/>
                      <a:headEnd type="none" w="med" len="med"/>
                      <a:tailEnd type="none" w="med" len="med"/>
                    </a:lnL>
                    <a:lnR w="12700" cap="flat" cmpd="sng" algn="ctr">
                      <a:solidFill>
                        <a:srgbClr val="C9BC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BCB1"/>
                      </a:solidFill>
                      <a:prstDash val="solid"/>
                      <a:round/>
                      <a:headEnd type="none" w="med" len="med"/>
                      <a:tailEnd type="none" w="med" len="med"/>
                    </a:lnB>
                    <a:solidFill>
                      <a:srgbClr val="FCEBDD"/>
                    </a:solidFill>
                  </a:tcPr>
                </a:tc>
                <a:tc>
                  <a:txBody>
                    <a:bodyPr/>
                    <a:lstStyle/>
                    <a:p>
                      <a:pPr algn="r" indent="0" marL="0">
                        <a:lnSpc>
                          <a:spcPts val="2343"/>
                        </a:lnSpc>
                        <a:buNone/>
                      </a:pPr>
                      <a:r>
                        <a:rPr lang="en-US" sz="1673" dirty="0">
                          <a:solidFill>
                            <a:srgbClr val="14213D"/>
                          </a:solidFill>
                          <a:latin typeface="Nunito Sans" pitchFamily="34" charset="0"/>
                          <a:ea typeface="Nunito Sans" pitchFamily="34" charset="-122"/>
                          <a:cs typeface="Nunito Sans" pitchFamily="34" charset="-120"/>
                        </a:rPr>
                        <a:t>10.8 h</a:t>
                      </a:r>
                      <a:endParaRPr lang="en-US" sz="1673" dirty="0">
                        <a:latin typeface="Nunito Sans" charset="0"/>
                        <a:ea typeface="Nunito Sans" charset="0"/>
                        <a:cs typeface="Nunito Sans" charset="0"/>
                      </a:endParaRPr>
                    </a:p>
                  </a:txBody>
                  <a:tcPr marL="74384" marR="74384" marT="74384" marB="74384" anchor="t">
                    <a:lnL w="12700" cap="flat" cmpd="sng" algn="ctr">
                      <a:solidFill>
                        <a:srgbClr val="C9BCB1"/>
                      </a:solidFill>
                      <a:prstDash val="solid"/>
                      <a:round/>
                      <a:headEnd type="none" w="med" len="med"/>
                      <a:tailEnd type="none" w="med" len="med"/>
                    </a:lnL>
                    <a:lnR w="12700" cap="flat" cmpd="sng" algn="ctr">
                      <a:solidFill>
                        <a:srgbClr val="C9BC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BCB1"/>
                      </a:solidFill>
                      <a:prstDash val="solid"/>
                      <a:round/>
                      <a:headEnd type="none" w="med" len="med"/>
                      <a:tailEnd type="none" w="med" len="med"/>
                    </a:lnB>
                    <a:solidFill>
                      <a:srgbClr val="FCEBDD"/>
                    </a:solidFill>
                  </a:tcPr>
                </a:tc>
              </a:tr>
              <a:tr h="460226">
                <a:tc>
                  <a:txBody>
                    <a:bodyPr/>
                    <a:lstStyle/>
                    <a:p>
                      <a:pPr indent="0" marL="0">
                        <a:lnSpc>
                          <a:spcPts val="2343"/>
                        </a:lnSpc>
                        <a:buNone/>
                      </a:pPr>
                      <a:r>
                        <a:rPr lang="en-US" sz="1673" dirty="0">
                          <a:solidFill>
                            <a:srgbClr val="14213D"/>
                          </a:solidFill>
                          <a:latin typeface="Nunito Sans" pitchFamily="34" charset="0"/>
                          <a:ea typeface="Nunito Sans" pitchFamily="34" charset="-122"/>
                          <a:cs typeface="Nunito Sans" pitchFamily="34" charset="-120"/>
                        </a:rPr>
                        <a:t>Repair deadline missed</a:t>
                      </a:r>
                      <a:endParaRPr lang="en-US" sz="1673" dirty="0">
                        <a:latin typeface="Nunito Sans" charset="0"/>
                        <a:ea typeface="Nunito Sans" charset="0"/>
                        <a:cs typeface="Nunito Sans" charset="0"/>
                      </a:endParaRPr>
                    </a:p>
                  </a:txBody>
                  <a:tcPr marL="74384" marR="74384" marT="74384" marB="74384" anchor="t">
                    <a:lnL w="12700" cap="flat" cmpd="sng" algn="ctr">
                      <a:solidFill>
                        <a:srgbClr val="C4C3BE"/>
                      </a:solidFill>
                      <a:prstDash val="solid"/>
                      <a:round/>
                      <a:headEnd type="none" w="med" len="med"/>
                      <a:tailEnd type="none" w="med" len="med"/>
                    </a:lnL>
                    <a:lnR w="12700" cap="flat" cmpd="sng" algn="ctr">
                      <a:solidFill>
                        <a:srgbClr val="C9BCB1"/>
                      </a:solidFill>
                      <a:prstDash val="solid"/>
                      <a:round/>
                      <a:headEnd type="none" w="med" len="med"/>
                      <a:tailEnd type="none" w="med" len="med"/>
                    </a:lnR>
                    <a:lnT w="12700" cap="flat" cmpd="sng" algn="ctr">
                      <a:solidFill>
                        <a:srgbClr val="C9BCB1"/>
                      </a:solidFill>
                      <a:prstDash val="solid"/>
                      <a:round/>
                      <a:headEnd type="none" w="med" len="med"/>
                      <a:tailEnd type="none" w="med" len="med"/>
                    </a:lnT>
                    <a:lnB w="12700" cap="flat" cmpd="sng" algn="ctr">
                      <a:solidFill>
                        <a:srgbClr val="C9BCB1"/>
                      </a:solidFill>
                      <a:prstDash val="solid"/>
                      <a:round/>
                      <a:headEnd type="none" w="med" len="med"/>
                      <a:tailEnd type="none" w="med" len="med"/>
                    </a:lnB>
                    <a:solidFill>
                      <a:srgbClr val="FCEBDD"/>
                    </a:solidFill>
                  </a:tcPr>
                </a:tc>
                <a:tc>
                  <a:txBody>
                    <a:bodyPr/>
                    <a:lstStyle/>
                    <a:p>
                      <a:pPr algn="r" indent="0" marL="0">
                        <a:lnSpc>
                          <a:spcPts val="2343"/>
                        </a:lnSpc>
                        <a:buNone/>
                      </a:pPr>
                      <a:r>
                        <a:rPr lang="en-US" sz="1673" dirty="0">
                          <a:solidFill>
                            <a:srgbClr val="C0631A"/>
                          </a:solidFill>
                          <a:latin typeface="Nunito Sans" pitchFamily="34" charset="0"/>
                          <a:ea typeface="Nunito Sans" pitchFamily="34" charset="-122"/>
                          <a:cs typeface="Nunito Sans" pitchFamily="34" charset="-120"/>
                        </a:rPr>
                        <a:t>71%</a:t>
                      </a:r>
                      <a:endParaRPr lang="en-US" sz="1673" dirty="0">
                        <a:latin typeface="Nunito Sans" charset="0"/>
                        <a:ea typeface="Nunito Sans" charset="0"/>
                        <a:cs typeface="Nunito Sans" charset="0"/>
                      </a:endParaRPr>
                    </a:p>
                  </a:txBody>
                  <a:tcPr marL="74384" marR="74384" marT="74384" marB="74384" anchor="t">
                    <a:lnL w="12700" cap="flat" cmpd="sng" algn="ctr">
                      <a:solidFill>
                        <a:srgbClr val="C9BCB1"/>
                      </a:solidFill>
                      <a:prstDash val="solid"/>
                      <a:round/>
                      <a:headEnd type="none" w="med" len="med"/>
                      <a:tailEnd type="none" w="med" len="med"/>
                    </a:lnL>
                    <a:lnR w="12700" cap="flat" cmpd="sng" algn="ctr">
                      <a:solidFill>
                        <a:srgbClr val="C9BCB1"/>
                      </a:solidFill>
                      <a:prstDash val="solid"/>
                      <a:round/>
                      <a:headEnd type="none" w="med" len="med"/>
                      <a:tailEnd type="none" w="med" len="med"/>
                    </a:lnR>
                    <a:lnT w="12700" cap="flat" cmpd="sng" algn="ctr">
                      <a:solidFill>
                        <a:srgbClr val="C9BCB1"/>
                      </a:solidFill>
                      <a:prstDash val="solid"/>
                      <a:round/>
                      <a:headEnd type="none" w="med" len="med"/>
                      <a:tailEnd type="none" w="med" len="med"/>
                    </a:lnT>
                    <a:lnB w="12700" cap="flat" cmpd="sng" algn="ctr">
                      <a:solidFill>
                        <a:srgbClr val="C9BCB1"/>
                      </a:solidFill>
                      <a:prstDash val="solid"/>
                      <a:round/>
                      <a:headEnd type="none" w="med" len="med"/>
                      <a:tailEnd type="none" w="med" len="med"/>
                    </a:lnB>
                    <a:solidFill>
                      <a:srgbClr val="FCEBDD"/>
                    </a:solidFill>
                  </a:tcPr>
                </a:tc>
                <a:tc>
                  <a:txBody>
                    <a:bodyPr/>
                    <a:lstStyle/>
                    <a:p>
                      <a:pPr algn="r" indent="0" marL="0">
                        <a:lnSpc>
                          <a:spcPts val="2343"/>
                        </a:lnSpc>
                        <a:buNone/>
                      </a:pPr>
                      <a:r>
                        <a:rPr lang="en-US" sz="1673" dirty="0">
                          <a:solidFill>
                            <a:srgbClr val="14213D"/>
                          </a:solidFill>
                          <a:latin typeface="Nunito Sans" pitchFamily="34" charset="0"/>
                          <a:ea typeface="Nunito Sans" pitchFamily="34" charset="-122"/>
                          <a:cs typeface="Nunito Sans" pitchFamily="34" charset="-120"/>
                        </a:rPr>
                        <a:t>50%</a:t>
                      </a:r>
                      <a:endParaRPr lang="en-US" sz="1673" dirty="0">
                        <a:latin typeface="Nunito Sans" charset="0"/>
                        <a:ea typeface="Nunito Sans" charset="0"/>
                        <a:cs typeface="Nunito Sans" charset="0"/>
                      </a:endParaRPr>
                    </a:p>
                  </a:txBody>
                  <a:tcPr marL="74384" marR="74384" marT="74384" marB="74384" anchor="t">
                    <a:lnL w="12700" cap="flat" cmpd="sng" algn="ctr">
                      <a:solidFill>
                        <a:srgbClr val="C9BCB1"/>
                      </a:solidFill>
                      <a:prstDash val="solid"/>
                      <a:round/>
                      <a:headEnd type="none" w="med" len="med"/>
                      <a:tailEnd type="none" w="med" len="med"/>
                    </a:lnL>
                    <a:lnR w="12700" cap="flat" cmpd="sng" algn="ctr">
                      <a:solidFill>
                        <a:srgbClr val="C9BCB1"/>
                      </a:solidFill>
                      <a:prstDash val="solid"/>
                      <a:round/>
                      <a:headEnd type="none" w="med" len="med"/>
                      <a:tailEnd type="none" w="med" len="med"/>
                    </a:lnR>
                    <a:lnT w="12700" cap="flat" cmpd="sng" algn="ctr">
                      <a:solidFill>
                        <a:srgbClr val="C9BCB1"/>
                      </a:solidFill>
                      <a:prstDash val="solid"/>
                      <a:round/>
                      <a:headEnd type="none" w="med" len="med"/>
                      <a:tailEnd type="none" w="med" len="med"/>
                    </a:lnT>
                    <a:lnB w="12700" cap="flat" cmpd="sng" algn="ctr">
                      <a:solidFill>
                        <a:srgbClr val="C9BCB1"/>
                      </a:solidFill>
                      <a:prstDash val="solid"/>
                      <a:round/>
                      <a:headEnd type="none" w="med" len="med"/>
                      <a:tailEnd type="none" w="med" len="med"/>
                    </a:lnB>
                    <a:solidFill>
                      <a:srgbClr val="FCEBDD"/>
                    </a:solidFill>
                  </a:tcPr>
                </a:tc>
              </a:tr>
              <a:tr h="460226">
                <a:tc>
                  <a:txBody>
                    <a:bodyPr/>
                    <a:lstStyle/>
                    <a:p>
                      <a:pPr indent="0" marL="0">
                        <a:lnSpc>
                          <a:spcPts val="2343"/>
                        </a:lnSpc>
                        <a:buNone/>
                      </a:pPr>
                      <a:r>
                        <a:rPr lang="en-US" sz="1673" dirty="0">
                          <a:solidFill>
                            <a:srgbClr val="14213D"/>
                          </a:solidFill>
                          <a:latin typeface="Nunito Sans" pitchFamily="34" charset="0"/>
                          <a:ea typeface="Nunito Sans" pitchFamily="34" charset="-122"/>
                          <a:cs typeface="Nunito Sans" pitchFamily="34" charset="-120"/>
                        </a:rPr>
                        <a:t>Money lost per breakdown record</a:t>
                      </a:r>
                      <a:endParaRPr lang="en-US" sz="1673" dirty="0">
                        <a:latin typeface="Nunito Sans" charset="0"/>
                        <a:ea typeface="Nunito Sans" charset="0"/>
                        <a:cs typeface="Nunito Sans" charset="0"/>
                      </a:endParaRPr>
                    </a:p>
                  </a:txBody>
                  <a:tcPr marL="74384" marR="74384" marT="74384" marB="74384" anchor="t">
                    <a:lnL w="12700" cap="flat" cmpd="sng" algn="ctr">
                      <a:solidFill>
                        <a:srgbClr val="C4C3BE"/>
                      </a:solidFill>
                      <a:prstDash val="solid"/>
                      <a:round/>
                      <a:headEnd type="none" w="med" len="med"/>
                      <a:tailEnd type="none" w="med" len="med"/>
                    </a:lnL>
                    <a:lnR w="12700" cap="flat" cmpd="sng" algn="ctr">
                      <a:solidFill>
                        <a:srgbClr val="C9BCB1"/>
                      </a:solidFill>
                      <a:prstDash val="solid"/>
                      <a:round/>
                      <a:headEnd type="none" w="med" len="med"/>
                      <a:tailEnd type="none" w="med" len="med"/>
                    </a:lnR>
                    <a:lnT w="12700" cap="flat" cmpd="sng" algn="ctr">
                      <a:solidFill>
                        <a:srgbClr val="C9BCB1"/>
                      </a:solidFill>
                      <a:prstDash val="solid"/>
                      <a:round/>
                      <a:headEnd type="none" w="med" len="med"/>
                      <a:tailEnd type="none" w="med" len="med"/>
                    </a:lnT>
                    <a:lnB w="12700" cap="flat" cmpd="sng" algn="ctr">
                      <a:solidFill>
                        <a:srgbClr val="C9BCB1"/>
                      </a:solidFill>
                      <a:prstDash val="solid"/>
                      <a:round/>
                      <a:headEnd type="none" w="med" len="med"/>
                      <a:tailEnd type="none" w="med" len="med"/>
                    </a:lnB>
                    <a:solidFill>
                      <a:srgbClr val="FCEBDD"/>
                    </a:solidFill>
                  </a:tcPr>
                </a:tc>
                <a:tc>
                  <a:txBody>
                    <a:bodyPr/>
                    <a:lstStyle/>
                    <a:p>
                      <a:pPr algn="r" indent="0" marL="0">
                        <a:lnSpc>
                          <a:spcPts val="2343"/>
                        </a:lnSpc>
                        <a:buNone/>
                      </a:pPr>
                      <a:r>
                        <a:rPr lang="en-US" sz="1673" dirty="0">
                          <a:solidFill>
                            <a:srgbClr val="C0631A"/>
                          </a:solidFill>
                          <a:latin typeface="Nunito Sans" pitchFamily="34" charset="0"/>
                          <a:ea typeface="Nunito Sans" pitchFamily="34" charset="-122"/>
                          <a:cs typeface="Nunito Sans" pitchFamily="34" charset="-120"/>
                        </a:rPr>
                        <a:t>$61,000</a:t>
                      </a:r>
                      <a:endParaRPr lang="en-US" sz="1673" dirty="0">
                        <a:latin typeface="Nunito Sans" charset="0"/>
                        <a:ea typeface="Nunito Sans" charset="0"/>
                        <a:cs typeface="Nunito Sans" charset="0"/>
                      </a:endParaRPr>
                    </a:p>
                  </a:txBody>
                  <a:tcPr marL="74384" marR="74384" marT="74384" marB="74384" anchor="t">
                    <a:lnL w="12700" cap="flat" cmpd="sng" algn="ctr">
                      <a:solidFill>
                        <a:srgbClr val="C9BCB1"/>
                      </a:solidFill>
                      <a:prstDash val="solid"/>
                      <a:round/>
                      <a:headEnd type="none" w="med" len="med"/>
                      <a:tailEnd type="none" w="med" len="med"/>
                    </a:lnL>
                    <a:lnR w="12700" cap="flat" cmpd="sng" algn="ctr">
                      <a:solidFill>
                        <a:srgbClr val="C9BCB1"/>
                      </a:solidFill>
                      <a:prstDash val="solid"/>
                      <a:round/>
                      <a:headEnd type="none" w="med" len="med"/>
                      <a:tailEnd type="none" w="med" len="med"/>
                    </a:lnR>
                    <a:lnT w="12700" cap="flat" cmpd="sng" algn="ctr">
                      <a:solidFill>
                        <a:srgbClr val="C9BCB1"/>
                      </a:solidFill>
                      <a:prstDash val="solid"/>
                      <a:round/>
                      <a:headEnd type="none" w="med" len="med"/>
                      <a:tailEnd type="none" w="med" len="med"/>
                    </a:lnT>
                    <a:lnB w="12700" cap="flat" cmpd="sng" algn="ctr">
                      <a:solidFill>
                        <a:srgbClr val="C9BCB1"/>
                      </a:solidFill>
                      <a:prstDash val="solid"/>
                      <a:round/>
                      <a:headEnd type="none" w="med" len="med"/>
                      <a:tailEnd type="none" w="med" len="med"/>
                    </a:lnB>
                    <a:solidFill>
                      <a:srgbClr val="FCEBDD"/>
                    </a:solidFill>
                  </a:tcPr>
                </a:tc>
                <a:tc>
                  <a:txBody>
                    <a:bodyPr/>
                    <a:lstStyle/>
                    <a:p>
                      <a:pPr algn="r" indent="0" marL="0">
                        <a:lnSpc>
                          <a:spcPts val="2343"/>
                        </a:lnSpc>
                        <a:buNone/>
                      </a:pPr>
                      <a:r>
                        <a:rPr lang="en-US" sz="1673" dirty="0">
                          <a:solidFill>
                            <a:srgbClr val="14213D"/>
                          </a:solidFill>
                          <a:latin typeface="Nunito Sans" pitchFamily="34" charset="0"/>
                          <a:ea typeface="Nunito Sans" pitchFamily="34" charset="-122"/>
                          <a:cs typeface="Nunito Sans" pitchFamily="34" charset="-120"/>
                        </a:rPr>
                        <a:t>$42,600</a:t>
                      </a:r>
                      <a:endParaRPr lang="en-US" sz="1673" dirty="0">
                        <a:latin typeface="Nunito Sans" charset="0"/>
                        <a:ea typeface="Nunito Sans" charset="0"/>
                        <a:cs typeface="Nunito Sans" charset="0"/>
                      </a:endParaRPr>
                    </a:p>
                  </a:txBody>
                  <a:tcPr marL="74384" marR="74384" marT="74384" marB="74384" anchor="t">
                    <a:lnL w="12700" cap="flat" cmpd="sng" algn="ctr">
                      <a:solidFill>
                        <a:srgbClr val="C9BCB1"/>
                      </a:solidFill>
                      <a:prstDash val="solid"/>
                      <a:round/>
                      <a:headEnd type="none" w="med" len="med"/>
                      <a:tailEnd type="none" w="med" len="med"/>
                    </a:lnL>
                    <a:lnR w="12700" cap="flat" cmpd="sng" algn="ctr">
                      <a:solidFill>
                        <a:srgbClr val="C9BCB1"/>
                      </a:solidFill>
                      <a:prstDash val="solid"/>
                      <a:round/>
                      <a:headEnd type="none" w="med" len="med"/>
                      <a:tailEnd type="none" w="med" len="med"/>
                    </a:lnR>
                    <a:lnT w="12700" cap="flat" cmpd="sng" algn="ctr">
                      <a:solidFill>
                        <a:srgbClr val="C9BCB1"/>
                      </a:solidFill>
                      <a:prstDash val="solid"/>
                      <a:round/>
                      <a:headEnd type="none" w="med" len="med"/>
                      <a:tailEnd type="none" w="med" len="med"/>
                    </a:lnT>
                    <a:lnB w="12700" cap="flat" cmpd="sng" algn="ctr">
                      <a:solidFill>
                        <a:srgbClr val="C9BCB1"/>
                      </a:solidFill>
                      <a:prstDash val="solid"/>
                      <a:round/>
                      <a:headEnd type="none" w="med" len="med"/>
                      <a:tailEnd type="none" w="med" len="med"/>
                    </a:lnB>
                    <a:solidFill>
                      <a:srgbClr val="FCEBDD"/>
                    </a:solidFill>
                  </a:tcPr>
                </a:tc>
              </a:tr>
            </a:tbl>
          </a:graphicData>
        </a:graphic>
      </p:graphicFrame>
      <p:sp>
        <p:nvSpPr>
          <p:cNvPr id="5" name="Text 2"/>
          <p:cNvSpPr/>
          <p:nvPr/>
        </p:nvSpPr>
        <p:spPr>
          <a:xfrm>
            <a:off x="812800" y="5209877"/>
            <a:ext cx="10883392" cy="657523"/>
          </a:xfrm>
          <a:prstGeom prst="rect">
            <a:avLst/>
          </a:prstGeom>
          <a:noFill/>
          <a:ln/>
        </p:spPr>
        <p:txBody>
          <a:bodyPr wrap="square" lIns="0" tIns="0" rIns="0" bIns="0" rtlCol="0" anchor="t">
            <a:normAutofit/>
          </a:bodyPr>
          <a:lstStyle/>
          <a:p>
            <a:pPr algn="l" indent="0" marL="0">
              <a:lnSpc>
                <a:spcPts val="2512"/>
              </a:lnSpc>
              <a:buNone/>
            </a:pPr>
            <a:r>
              <a:rPr lang="en-US" sz="1794" b="1" dirty="0">
                <a:solidFill>
                  <a:srgbClr val="14213D"/>
                </a:solidFill>
                <a:latin typeface="Nunito Sans" pitchFamily="34" charset="0"/>
                <a:ea typeface="Nunito Sans" pitchFamily="34" charset="-122"/>
                <a:cs typeface="Nunito Sans" pitchFamily="34" charset="-120"/>
              </a:rPr>
              <a:t>Critical machines get the same staff, the same queue and the same deadlines as everything else, so they stay down 46% longer.</a:t>
            </a:r>
            <a:endParaRPr lang="en-US" sz="1794"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DEAE1"/>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4A5568"/>
                </a:solidFill>
                <a:latin typeface="Nunito Sans" pitchFamily="34" charset="0"/>
                <a:ea typeface="Nunito Sans" pitchFamily="34" charset="-122"/>
                <a:cs typeface="Nunito Sans" pitchFamily="34" charset="-120"/>
              </a:rPr>
              <a:t>HOW WE GOT THIS NUMBER · FINDING 2</a:t>
            </a:r>
            <a:endParaRPr lang="en-US" sz="1400" dirty="0"/>
          </a:p>
        </p:txBody>
      </p:sp>
      <p:sp>
        <p:nvSpPr>
          <p:cNvPr id="3" name="Text 1"/>
          <p:cNvSpPr/>
          <p:nvPr>
            <p:ph type="title"/>
          </p:nvPr>
        </p:nvSpPr>
        <p:spPr>
          <a:xfrm>
            <a:off x="812800" y="1315690"/>
            <a:ext cx="10883392" cy="84326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4213D"/>
                </a:solidFill>
                <a:latin typeface="Domine" pitchFamily="18" charset="0"/>
                <a:ea typeface="Domine" pitchFamily="18" charset="-122"/>
                <a:cs typeface="Domine" pitchFamily="18" charset="-120"/>
              </a:rPr>
              <a:t>The $15.9M is the extra loss on each critical record × 862 records</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400250"/>
          <a:ext cx="6591300" cy="2564954"/>
        </p:xfrm>
        <a:graphic>
          <a:graphicData uri="http://schemas.openxmlformats.org/drawingml/2006/table">
            <a:tbl>
              <a:tblPr/>
              <a:tblGrid>
                <a:gridCol w="2241042"/>
                <a:gridCol w="2175129"/>
                <a:gridCol w="2175129"/>
              </a:tblGrid>
              <a:tr h="386011">
                <a:tc>
                  <a:txBody>
                    <a:bodyPr/>
                    <a:lstStyle/>
                    <a:p>
                      <a:pPr indent="0" marL="0">
                        <a:lnSpc>
                          <a:spcPts val="1960"/>
                        </a:lnSpc>
                        <a:buNone/>
                      </a:pPr>
                      <a:r>
                        <a:rPr lang="en-US" sz="1400" b="1" dirty="0">
                          <a:solidFill>
                            <a:srgbClr val="14213D"/>
                          </a:solidFill>
                          <a:latin typeface="Nunito Sans" pitchFamily="34" charset="0"/>
                          <a:ea typeface="Nunito Sans" pitchFamily="34" charset="-122"/>
                          <a:cs typeface="Nunito Sans" pitchFamily="34" charset="-120"/>
                        </a:rPr>
                        <a:t>Step</a:t>
                      </a:r>
                      <a:endParaRPr lang="en-US" sz="1400" dirty="0">
                        <a:latin typeface="Nunito Sans" charset="0"/>
                        <a:ea typeface="Nunito Sans" charset="0"/>
                        <a:cs typeface="Nunito Sans" charset="0"/>
                      </a:endParaRPr>
                    </a:p>
                  </a:txBody>
                  <a:tcPr marL="62230" marR="62230" marT="62230" marB="62230" anchor="t">
                    <a:lnL w="12700" cap="flat" cmpd="sng" algn="ctr">
                      <a:solidFill>
                        <a:srgbClr val="BDBBB4"/>
                      </a:solidFill>
                      <a:prstDash val="solid"/>
                      <a:round/>
                      <a:headEnd type="none" w="med" len="med"/>
                      <a:tailEnd type="none" w="med" len="med"/>
                    </a:lnL>
                    <a:lnR w="12700" cap="flat" cmpd="sng" algn="ctr">
                      <a:solidFill>
                        <a:srgbClr val="B0AEA7"/>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B0AEA7"/>
                      </a:solidFill>
                      <a:prstDash val="solid"/>
                      <a:round/>
                      <a:headEnd type="none" w="med" len="med"/>
                      <a:tailEnd type="none" w="med" len="med"/>
                    </a:lnB>
                    <a:solidFill>
                      <a:srgbClr val="DCD9D1"/>
                    </a:solidFill>
                  </a:tcPr>
                </a:tc>
                <a:tc>
                  <a:txBody>
                    <a:bodyPr/>
                    <a:lstStyle/>
                    <a:p>
                      <a:pPr algn="r" indent="0" marL="0">
                        <a:lnSpc>
                          <a:spcPts val="1960"/>
                        </a:lnSpc>
                        <a:buNone/>
                      </a:pPr>
                      <a:r>
                        <a:rPr lang="en-US" sz="1400" b="1" dirty="0">
                          <a:solidFill>
                            <a:srgbClr val="14213D"/>
                          </a:solidFill>
                          <a:latin typeface="Nunito Sans" pitchFamily="34" charset="0"/>
                          <a:ea typeface="Nunito Sans" pitchFamily="34" charset="-122"/>
                          <a:cs typeface="Nunito Sans" pitchFamily="34" charset="-120"/>
                        </a:rPr>
                        <a:t>Critical</a:t>
                      </a:r>
                      <a:endParaRPr lang="en-US" sz="1400" dirty="0">
                        <a:latin typeface="Nunito Sans" charset="0"/>
                        <a:ea typeface="Nunito Sans" charset="0"/>
                        <a:cs typeface="Nunito Sans" charset="0"/>
                      </a:endParaRPr>
                    </a:p>
                  </a:txBody>
                  <a:tcPr marL="62230" marR="62230" marT="62230" marB="62230" anchor="t">
                    <a:lnL w="12700" cap="flat" cmpd="sng" algn="ctr">
                      <a:solidFill>
                        <a:srgbClr val="B0AEA7"/>
                      </a:solidFill>
                      <a:prstDash val="solid"/>
                      <a:round/>
                      <a:headEnd type="none" w="med" len="med"/>
                      <a:tailEnd type="none" w="med" len="med"/>
                    </a:lnL>
                    <a:lnR w="12700" cap="flat" cmpd="sng" algn="ctr">
                      <a:solidFill>
                        <a:srgbClr val="B0AEA7"/>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B0AEA7"/>
                      </a:solidFill>
                      <a:prstDash val="solid"/>
                      <a:round/>
                      <a:headEnd type="none" w="med" len="med"/>
                      <a:tailEnd type="none" w="med" len="med"/>
                    </a:lnB>
                    <a:solidFill>
                      <a:srgbClr val="DCD9D1"/>
                    </a:solidFill>
                  </a:tcPr>
                </a:tc>
                <a:tc>
                  <a:txBody>
                    <a:bodyPr/>
                    <a:lstStyle/>
                    <a:p>
                      <a:pPr algn="r" indent="0" marL="0">
                        <a:lnSpc>
                          <a:spcPts val="1960"/>
                        </a:lnSpc>
                        <a:buNone/>
                      </a:pPr>
                      <a:r>
                        <a:rPr lang="en-US" sz="1400" b="1" dirty="0">
                          <a:solidFill>
                            <a:srgbClr val="14213D"/>
                          </a:solidFill>
                          <a:latin typeface="Nunito Sans" pitchFamily="34" charset="0"/>
                          <a:ea typeface="Nunito Sans" pitchFamily="34" charset="-122"/>
                          <a:cs typeface="Nunito Sans" pitchFamily="34" charset="-120"/>
                        </a:rPr>
                        <a:t>All others</a:t>
                      </a:r>
                      <a:endParaRPr lang="en-US" sz="1400" dirty="0">
                        <a:latin typeface="Nunito Sans" charset="0"/>
                        <a:ea typeface="Nunito Sans" charset="0"/>
                        <a:cs typeface="Nunito Sans" charset="0"/>
                      </a:endParaRPr>
                    </a:p>
                  </a:txBody>
                  <a:tcPr marL="62230" marR="62230" marT="62230" marB="62230" anchor="t">
                    <a:lnL w="12700" cap="flat" cmpd="sng" algn="ctr">
                      <a:solidFill>
                        <a:srgbClr val="B0AEA7"/>
                      </a:solidFill>
                      <a:prstDash val="solid"/>
                      <a:round/>
                      <a:headEnd type="none" w="med" len="med"/>
                      <a:tailEnd type="none" w="med" len="med"/>
                    </a:lnL>
                    <a:lnR w="12700" cap="flat" cmpd="sng" algn="ctr">
                      <a:solidFill>
                        <a:srgbClr val="B0AEA7"/>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B0AEA7"/>
                      </a:solidFill>
                      <a:prstDash val="solid"/>
                      <a:round/>
                      <a:headEnd type="none" w="med" len="med"/>
                      <a:tailEnd type="none" w="med" len="med"/>
                    </a:lnB>
                    <a:solidFill>
                      <a:srgbClr val="DCD9D1"/>
                    </a:solidFill>
                  </a:tcPr>
                </a:tc>
              </a:tr>
              <a:tr h="386011">
                <a:tc>
                  <a:txBody>
                    <a:bodyPr/>
                    <a:lstStyle/>
                    <a:p>
                      <a:pP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Lost output</a:t>
                      </a:r>
                      <a:endParaRPr lang="en-US" sz="1400" dirty="0">
                        <a:latin typeface="Nunito Sans" charset="0"/>
                        <a:ea typeface="Nunito Sans" charset="0"/>
                        <a:cs typeface="Nunito Sans" charset="0"/>
                      </a:endParaRPr>
                    </a:p>
                  </a:txBody>
                  <a:tcPr marL="62230" marR="62230" marT="62230" marB="62230" anchor="t">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B0AEA7"/>
                      </a:solidFill>
                      <a:prstDash val="solid"/>
                      <a:round/>
                      <a:headEnd type="none" w="med" len="med"/>
                      <a:tailEnd type="none" w="med" len="med"/>
                    </a:lnT>
                    <a:lnB w="12700" cap="flat" cmpd="sng" algn="ctr">
                      <a:solidFill>
                        <a:srgbClr val="BDBBB4"/>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$52.59M</a:t>
                      </a:r>
                      <a:endParaRPr lang="en-US" sz="1400" dirty="0">
                        <a:latin typeface="Nunito Sans" charset="0"/>
                        <a:ea typeface="Nunito Sans" charset="0"/>
                        <a:cs typeface="Nunito Sans" charset="0"/>
                      </a:endParaRPr>
                    </a:p>
                  </a:txBody>
                  <a:tcPr marL="62230" marR="62230" marT="62230" marB="62230" anchor="t">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B0AEA7"/>
                      </a:solidFill>
                      <a:prstDash val="solid"/>
                      <a:round/>
                      <a:headEnd type="none" w="med" len="med"/>
                      <a:tailEnd type="none" w="med" len="med"/>
                    </a:lnT>
                    <a:lnB w="12700" cap="flat" cmpd="sng" algn="ctr">
                      <a:solidFill>
                        <a:srgbClr val="BDBBB4"/>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$176.29M</a:t>
                      </a:r>
                      <a:endParaRPr lang="en-US" sz="1400" dirty="0">
                        <a:latin typeface="Nunito Sans" charset="0"/>
                        <a:ea typeface="Nunito Sans" charset="0"/>
                        <a:cs typeface="Nunito Sans" charset="0"/>
                      </a:endParaRPr>
                    </a:p>
                  </a:txBody>
                  <a:tcPr marL="62230" marR="62230" marT="62230" marB="62230" anchor="t">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B0AEA7"/>
                      </a:solidFill>
                      <a:prstDash val="solid"/>
                      <a:round/>
                      <a:headEnd type="none" w="med" len="med"/>
                      <a:tailEnd type="none" w="med" len="med"/>
                    </a:lnT>
                    <a:lnB w="12700" cap="flat" cmpd="sng" algn="ctr">
                      <a:solidFill>
                        <a:srgbClr val="BDBBB4"/>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 Records</a:t>
                      </a:r>
                      <a:endParaRPr lang="en-US" sz="1400" dirty="0">
                        <a:latin typeface="Nunito Sans" charset="0"/>
                        <a:ea typeface="Nunito Sans" charset="0"/>
                        <a:cs typeface="Nunito Sans" charset="0"/>
                      </a:endParaRPr>
                    </a:p>
                  </a:txBody>
                  <a:tcPr marL="62230" marR="62230" marT="62230" marB="62230" anchor="t">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BDBBB4"/>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862</a:t>
                      </a:r>
                      <a:endParaRPr lang="en-US" sz="1400" dirty="0">
                        <a:latin typeface="Nunito Sans" charset="0"/>
                        <a:ea typeface="Nunito Sans" charset="0"/>
                        <a:cs typeface="Nunito Sans" charset="0"/>
                      </a:endParaRPr>
                    </a:p>
                  </a:txBody>
                  <a:tcPr marL="62230" marR="62230" marT="62230" marB="62230" anchor="t">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BDBBB4"/>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4,138</a:t>
                      </a:r>
                      <a:endParaRPr lang="en-US" sz="1400" dirty="0">
                        <a:latin typeface="Nunito Sans" charset="0"/>
                        <a:ea typeface="Nunito Sans" charset="0"/>
                        <a:cs typeface="Nunito Sans" charset="0"/>
                      </a:endParaRPr>
                    </a:p>
                  </a:txBody>
                  <a:tcPr marL="62230" marR="62230" marT="62230" marB="62230" anchor="t">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BDBBB4"/>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 Loss per record</a:t>
                      </a:r>
                      <a:endParaRPr lang="en-US" sz="1400" dirty="0">
                        <a:latin typeface="Nunito Sans" charset="0"/>
                        <a:ea typeface="Nunito Sans" charset="0"/>
                        <a:cs typeface="Nunito Sans" charset="0"/>
                      </a:endParaRPr>
                    </a:p>
                  </a:txBody>
                  <a:tcPr marL="62230" marR="62230" marT="62230" marB="62230" anchor="t">
                    <a:lnL w="12700" cap="flat" cmpd="sng" algn="ctr">
                      <a:solidFill>
                        <a:srgbClr val="BDBBB4"/>
                      </a:solidFill>
                      <a:prstDash val="solid"/>
                      <a:round/>
                      <a:headEnd type="none" w="med" len="med"/>
                      <a:tailEnd type="none" w="med" len="med"/>
                    </a:lnL>
                    <a:lnR w="12700" cap="flat" cmpd="sng" algn="ctr">
                      <a:solidFill>
                        <a:srgbClr val="C9BCB1"/>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9BCB1"/>
                      </a:solidFill>
                      <a:prstDash val="solid"/>
                      <a:round/>
                      <a:headEnd type="none" w="med" len="med"/>
                      <a:tailEnd type="none" w="med" len="med"/>
                    </a:lnB>
                    <a:solidFill>
                      <a:srgbClr val="FCEBDD"/>
                    </a:solidFill>
                  </a:tcPr>
                </a:tc>
                <a:tc>
                  <a:txBody>
                    <a:bodyPr/>
                    <a:lstStyle/>
                    <a:p>
                      <a:pPr algn="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$61,015</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9BCB1"/>
                      </a:solidFill>
                      <a:prstDash val="solid"/>
                      <a:round/>
                      <a:headEnd type="none" w="med" len="med"/>
                      <a:tailEnd type="none" w="med" len="med"/>
                    </a:lnL>
                    <a:lnR w="12700" cap="flat" cmpd="sng" algn="ctr">
                      <a:solidFill>
                        <a:srgbClr val="C9BCB1"/>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9BCB1"/>
                      </a:solidFill>
                      <a:prstDash val="solid"/>
                      <a:round/>
                      <a:headEnd type="none" w="med" len="med"/>
                      <a:tailEnd type="none" w="med" len="med"/>
                    </a:lnB>
                    <a:solidFill>
                      <a:srgbClr val="FCEBDD"/>
                    </a:solidFill>
                  </a:tcPr>
                </a:tc>
                <a:tc>
                  <a:txBody>
                    <a:bodyPr/>
                    <a:lstStyle/>
                    <a:p>
                      <a:pPr algn="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$42,602</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9BCB1"/>
                      </a:solidFill>
                      <a:prstDash val="solid"/>
                      <a:round/>
                      <a:headEnd type="none" w="med" len="med"/>
                      <a:tailEnd type="none" w="med" len="med"/>
                    </a:lnL>
                    <a:lnR w="12700" cap="flat" cmpd="sng" algn="ctr">
                      <a:solidFill>
                        <a:srgbClr val="C9BCB1"/>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9BCB1"/>
                      </a:solidFill>
                      <a:prstDash val="solid"/>
                      <a:round/>
                      <a:headEnd type="none" w="med" len="med"/>
                      <a:tailEnd type="none" w="med" len="med"/>
                    </a:lnB>
                    <a:solidFill>
                      <a:srgbClr val="FCEBDD"/>
                    </a:solidFill>
                  </a:tcPr>
                </a:tc>
              </a:tr>
              <a:tr h="386011">
                <a:tc>
                  <a:txBody>
                    <a:bodyPr/>
                    <a:lstStyle/>
                    <a:p>
                      <a:pP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Downtime ÷ breakdowns</a:t>
                      </a:r>
                      <a:endParaRPr lang="en-US" sz="1400" dirty="0">
                        <a:latin typeface="Nunito Sans" charset="0"/>
                        <a:ea typeface="Nunito Sans" charset="0"/>
                        <a:cs typeface="Nunito Sans" charset="0"/>
                      </a:endParaRPr>
                    </a:p>
                  </a:txBody>
                  <a:tcPr marL="62230" marR="62230" marT="62230" marB="62230" anchor="t">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9BCB1"/>
                      </a:solidFill>
                      <a:prstDash val="solid"/>
                      <a:round/>
                      <a:headEnd type="none" w="med" len="med"/>
                      <a:tailEnd type="none" w="med" len="med"/>
                    </a:lnT>
                    <a:lnB w="12700" cap="flat" cmpd="sng" algn="ctr">
                      <a:solidFill>
                        <a:srgbClr val="BDBBB4"/>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21,015 h ÷ 1,289</a:t>
                      </a:r>
                      <a:endParaRPr lang="en-US" sz="1400" dirty="0">
                        <a:latin typeface="Nunito Sans" charset="0"/>
                        <a:ea typeface="Nunito Sans" charset="0"/>
                        <a:cs typeface="Nunito Sans" charset="0"/>
                      </a:endParaRPr>
                    </a:p>
                  </a:txBody>
                  <a:tcPr marL="62230" marR="62230" marT="62230" marB="62230" anchor="t">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9BCB1"/>
                      </a:solidFill>
                      <a:prstDash val="solid"/>
                      <a:round/>
                      <a:headEnd type="none" w="med" len="med"/>
                      <a:tailEnd type="none" w="med" len="med"/>
                    </a:lnT>
                    <a:lnB w="12700" cap="flat" cmpd="sng" algn="ctr">
                      <a:solidFill>
                        <a:srgbClr val="BDBBB4"/>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70,058 h ÷ 6,308</a:t>
                      </a:r>
                      <a:endParaRPr lang="en-US" sz="1400" dirty="0">
                        <a:latin typeface="Nunito Sans" charset="0"/>
                        <a:ea typeface="Nunito Sans" charset="0"/>
                        <a:cs typeface="Nunito Sans" charset="0"/>
                      </a:endParaRPr>
                    </a:p>
                  </a:txBody>
                  <a:tcPr marL="62230" marR="62230" marT="62230" marB="62230" anchor="t">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9BCB1"/>
                      </a:solidFill>
                      <a:prstDash val="solid"/>
                      <a:round/>
                      <a:headEnd type="none" w="med" len="med"/>
                      <a:tailEnd type="none" w="med" len="med"/>
                    </a:lnT>
                    <a:lnB w="12700" cap="flat" cmpd="sng" algn="ctr">
                      <a:solidFill>
                        <a:srgbClr val="BDBBB4"/>
                      </a:solidFill>
                      <a:prstDash val="solid"/>
                      <a:round/>
                      <a:headEnd type="none" w="med" len="med"/>
                      <a:tailEnd type="none" w="med" len="med"/>
                    </a:lnB>
                  </a:tcPr>
                </a:tc>
              </a:tr>
              <a:tr h="634901">
                <a:tc>
                  <a:txBody>
                    <a:bodyPr/>
                    <a:lstStyle/>
                    <a:p>
                      <a:pP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 Hours down per breakdown</a:t>
                      </a:r>
                      <a:endParaRPr lang="en-US" sz="1400" dirty="0">
                        <a:latin typeface="Nunito Sans" charset="0"/>
                        <a:ea typeface="Nunito Sans" charset="0"/>
                        <a:cs typeface="Nunito Sans" charset="0"/>
                      </a:endParaRPr>
                    </a:p>
                  </a:txBody>
                  <a:tcPr marL="62230" marR="62230" marT="62230" marB="62230" anchor="t">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BDBBB4"/>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16.3 h</a:t>
                      </a:r>
                      <a:endParaRPr lang="en-US" sz="1400" dirty="0">
                        <a:latin typeface="Nunito Sans" charset="0"/>
                        <a:ea typeface="Nunito Sans" charset="0"/>
                        <a:cs typeface="Nunito Sans" charset="0"/>
                      </a:endParaRPr>
                    </a:p>
                  </a:txBody>
                  <a:tcPr marL="62230" marR="62230" marT="62230" marB="62230" anchor="t">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BDBBB4"/>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11.1 h</a:t>
                      </a:r>
                      <a:endParaRPr lang="en-US" sz="1400" dirty="0">
                        <a:latin typeface="Nunito Sans" charset="0"/>
                        <a:ea typeface="Nunito Sans" charset="0"/>
                        <a:cs typeface="Nunito Sans" charset="0"/>
                      </a:endParaRPr>
                    </a:p>
                  </a:txBody>
                  <a:tcPr marL="62230" marR="62230" marT="62230" marB="62230" anchor="t">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BDBBB4"/>
                      </a:solidFill>
                      <a:prstDash val="solid"/>
                      <a:round/>
                      <a:headEnd type="none" w="med" len="med"/>
                      <a:tailEnd type="none" w="med" len="med"/>
                    </a:lnB>
                  </a:tcPr>
                </a:tc>
              </a:tr>
            </a:tbl>
          </a:graphicData>
        </a:graphic>
      </p:graphicFrame>
      <p:sp>
        <p:nvSpPr>
          <p:cNvPr id="5" name="Text 2"/>
          <p:cNvSpPr/>
          <p:nvPr/>
        </p:nvSpPr>
        <p:spPr>
          <a:xfrm>
            <a:off x="812800" y="5092204"/>
            <a:ext cx="5882630" cy="631825"/>
          </a:xfrm>
          <a:prstGeom prst="roundRect">
            <a:avLst>
              <a:gd name="adj" fmla="val 16080"/>
            </a:avLst>
          </a:prstGeom>
          <a:solidFill>
            <a:srgbClr val="F6F4EE"/>
          </a:solidFill>
          <a:ln/>
        </p:spPr>
        <p:txBody>
          <a:bodyPr wrap="square" lIns="198842" tIns="148042" rIns="36079" bIns="122642" rtlCol="0" anchor="t">
            <a:normAutofit/>
          </a:bodyPr>
          <a:lstStyle/>
          <a:p>
            <a:pPr algn="l" indent="0" marL="0">
              <a:lnSpc>
                <a:spcPts val="2175"/>
              </a:lnSpc>
              <a:buNone/>
            </a:pPr>
            <a:r>
              <a:rPr lang="en-US" sz="1500" b="1" dirty="0">
                <a:solidFill>
                  <a:srgbClr val="14213D"/>
                </a:solidFill>
                <a:latin typeface="Nunito Sans" pitchFamily="34" charset="0"/>
                <a:ea typeface="Nunito Sans" pitchFamily="34" charset="-122"/>
                <a:cs typeface="Nunito Sans" pitchFamily="34" charset="-120"/>
              </a:rPr>
              <a:t>Extra loss:</a:t>
            </a:r>
            <a:r>
              <a:rPr lang="en-US" sz="1500" dirty="0">
                <a:solidFill>
                  <a:srgbClr val="14213D"/>
                </a:solidFill>
                <a:latin typeface="Nunito Sans" pitchFamily="34" charset="0"/>
                <a:ea typeface="Nunito Sans" pitchFamily="34" charset="-122"/>
                <a:cs typeface="Nunito Sans" pitchFamily="34" charset="-120"/>
              </a:rPr>
              <a:t> ($61,015 − $42,602) × 862 records = </a:t>
            </a:r>
            <a:r>
              <a:rPr lang="en-US" sz="1500" b="1" dirty="0">
                <a:solidFill>
                  <a:srgbClr val="14213D"/>
                </a:solidFill>
                <a:latin typeface="Nunito Sans" pitchFamily="34" charset="0"/>
                <a:ea typeface="Nunito Sans" pitchFamily="34" charset="-122"/>
                <a:cs typeface="Nunito Sans" pitchFamily="34" charset="-120"/>
              </a:rPr>
              <a:t>$15.9M</a:t>
            </a:r>
            <a:endParaRPr lang="en-US" sz="1500" dirty="0"/>
          </a:p>
        </p:txBody>
      </p:sp>
      <p:sp>
        <p:nvSpPr>
          <p:cNvPr id="6" name="Shape 3"/>
          <p:cNvSpPr/>
          <p:nvPr/>
        </p:nvSpPr>
        <p:spPr>
          <a:xfrm>
            <a:off x="6949430" y="2387550"/>
            <a:ext cx="4429770" cy="3336479"/>
          </a:xfrm>
          <a:prstGeom prst="roundRect">
            <a:avLst>
              <a:gd name="adj" fmla="val 3045"/>
            </a:avLst>
          </a:prstGeom>
          <a:solidFill>
            <a:srgbClr val="F6F4EE"/>
          </a:solidFill>
          <a:ln/>
        </p:spPr>
      </p:sp>
      <p:sp>
        <p:nvSpPr>
          <p:cNvPr id="7" name="Text 4"/>
          <p:cNvSpPr/>
          <p:nvPr/>
        </p:nvSpPr>
        <p:spPr>
          <a:xfrm>
            <a:off x="7203430" y="2641550"/>
            <a:ext cx="4039423" cy="25653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2F6FB0"/>
                </a:solidFill>
                <a:latin typeface="Nunito Sans" pitchFamily="34" charset="0"/>
                <a:ea typeface="Nunito Sans" pitchFamily="34" charset="-122"/>
                <a:cs typeface="Nunito Sans" pitchFamily="34" charset="-120"/>
              </a:rPr>
              <a:t>WHY WE BLAME PRIORITY</a:t>
            </a:r>
            <a:endParaRPr lang="en-US" sz="1300" dirty="0"/>
          </a:p>
        </p:txBody>
      </p:sp>
      <p:sp>
        <p:nvSpPr>
          <p:cNvPr id="8" name="Text 5"/>
          <p:cNvSpPr/>
          <p:nvPr/>
        </p:nvSpPr>
        <p:spPr>
          <a:xfrm>
            <a:off x="7203430" y="2999680"/>
            <a:ext cx="4039423" cy="540941"/>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4A5568"/>
                </a:solidFill>
                <a:latin typeface="Nunito Sans" pitchFamily="34" charset="0"/>
                <a:ea typeface="Nunito Sans" pitchFamily="34" charset="-122"/>
                <a:cs typeface="Nunito Sans" pitchFamily="34" charset="-120"/>
              </a:rPr>
              <a:t>Cost per hour of downtime is the same</a:t>
            </a:r>
            <a:r>
              <a:rPr lang="en-US" sz="1400" dirty="0">
                <a:solidFill>
                  <a:srgbClr val="4A5568"/>
                </a:solidFill>
                <a:latin typeface="Nunito Sans" pitchFamily="34" charset="0"/>
                <a:ea typeface="Nunito Sans" pitchFamily="34" charset="-122"/>
                <a:cs typeface="Nunito Sans" pitchFamily="34" charset="-120"/>
              </a:rPr>
              <a:t> for critical and other machines (about $2,500).</a:t>
            </a:r>
            <a:endParaRPr lang="en-US" sz="1400" dirty="0"/>
          </a:p>
        </p:txBody>
      </p:sp>
      <p:sp>
        <p:nvSpPr>
          <p:cNvPr id="9" name="Text 6"/>
          <p:cNvSpPr/>
          <p:nvPr/>
        </p:nvSpPr>
        <p:spPr>
          <a:xfrm>
            <a:off x="7203430" y="3642221"/>
            <a:ext cx="4039423"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A5568"/>
                </a:solidFill>
                <a:latin typeface="Nunito Sans" pitchFamily="34" charset="0"/>
                <a:ea typeface="Nunito Sans" pitchFamily="34" charset="-122"/>
                <a:cs typeface="Nunito Sans" pitchFamily="34" charset="-120"/>
              </a:rPr>
              <a:t>So the extra loss comes entirely from </a:t>
            </a:r>
            <a:r>
              <a:rPr lang="en-US" sz="1400" b="1" dirty="0">
                <a:solidFill>
                  <a:srgbClr val="4A5568"/>
                </a:solidFill>
                <a:latin typeface="Nunito Sans" pitchFamily="34" charset="0"/>
                <a:ea typeface="Nunito Sans" pitchFamily="34" charset="-122"/>
                <a:cs typeface="Nunito Sans" pitchFamily="34" charset="-120"/>
              </a:rPr>
              <a:t>longer outages</a:t>
            </a:r>
            <a:r>
              <a:rPr lang="en-US" sz="1400" dirty="0">
                <a:solidFill>
                  <a:srgbClr val="4A5568"/>
                </a:solidFill>
                <a:latin typeface="Nunito Sans" pitchFamily="34" charset="0"/>
                <a:ea typeface="Nunito Sans" pitchFamily="34" charset="-122"/>
                <a:cs typeface="Nunito Sans" pitchFamily="34" charset="-120"/>
              </a:rPr>
              <a:t>, and critical jobs get the least technician spend ($2,808 per record).</a:t>
            </a:r>
            <a:endParaRPr lang="en-US" sz="1400" dirty="0"/>
          </a:p>
        </p:txBody>
      </p:sp>
      <p:sp>
        <p:nvSpPr>
          <p:cNvPr id="10" name="Text 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unito Sans" pitchFamily="34" charset="0"/>
                <a:ea typeface="Nunito Sans" pitchFamily="34" charset="-122"/>
                <a:cs typeface="Nunito Sans" pitchFamily="34" charset="-120"/>
              </a:rPr>
              <a:t>“Up to” $15.9M: matching other equipment’s repair speed is the target, not a guarantee</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C0631A"/>
                </a:solidFill>
                <a:latin typeface="Nunito Sans" pitchFamily="34" charset="0"/>
                <a:ea typeface="Nunito Sans" pitchFamily="34" charset="-122"/>
                <a:cs typeface="Nunito Sans" pitchFamily="34" charset="-120"/>
              </a:rPr>
              <a:t>FINDING 3 · REPAIR DEADLINES</a:t>
            </a:r>
            <a:endParaRPr lang="en-US" sz="1400" dirty="0"/>
          </a:p>
        </p:txBody>
      </p:sp>
      <p:sp>
        <p:nvSpPr>
          <p:cNvPr id="3" name="Text 1"/>
          <p:cNvSpPr/>
          <p:nvPr>
            <p:ph type="title"/>
          </p:nvPr>
        </p:nvSpPr>
        <p:spPr>
          <a:xfrm>
            <a:off x="812800" y="1315690"/>
            <a:ext cx="10883392" cy="960041"/>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Domine" pitchFamily="18" charset="0"/>
                <a:ea typeface="Domine" pitchFamily="18" charset="-122"/>
                <a:cs typeface="Domine" pitchFamily="18" charset="-120"/>
              </a:rPr>
              <a:t>Missed deadlines come from how targets are set, not from slow teams</a:t>
            </a:r>
            <a:endParaRPr lang="en-US" sz="3200" dirty="0"/>
          </a:p>
        </p:txBody>
      </p:sp>
      <p:sp>
        <p:nvSpPr>
          <p:cNvPr id="4" name="Text 2"/>
          <p:cNvSpPr/>
          <p:nvPr/>
        </p:nvSpPr>
        <p:spPr>
          <a:xfrm>
            <a:off x="1088846" y="2418011"/>
            <a:ext cx="590907" cy="345430"/>
          </a:xfrm>
          <a:prstGeom prst="rect">
            <a:avLst/>
          </a:prstGeom>
          <a:noFill/>
          <a:ln/>
        </p:spPr>
        <p:txBody>
          <a:bodyPr wrap="square" lIns="0" tIns="0" rIns="0" bIns="0" rtlCol="0" anchor="t">
            <a:normAutofit/>
          </a:bodyPr>
          <a:lstStyle/>
          <a:p>
            <a:pPr algn="ctr" indent="0" marL="0">
              <a:lnSpc>
                <a:spcPts val="2520"/>
              </a:lnSpc>
              <a:buNone/>
            </a:pPr>
            <a:r>
              <a:rPr lang="en-US" sz="1800" b="1" dirty="0">
                <a:solidFill>
                  <a:srgbClr val="C0631A"/>
                </a:solidFill>
                <a:latin typeface="Nunito Sans" pitchFamily="34" charset="0"/>
                <a:ea typeface="Nunito Sans" pitchFamily="34" charset="-122"/>
                <a:cs typeface="Nunito Sans" pitchFamily="34" charset="-120"/>
              </a:rPr>
              <a:t>95%</a:t>
            </a:r>
            <a:endParaRPr lang="en-US" sz="1800" dirty="0"/>
          </a:p>
        </p:txBody>
      </p:sp>
      <p:sp>
        <p:nvSpPr>
          <p:cNvPr id="5" name="Shape 3"/>
          <p:cNvSpPr/>
          <p:nvPr/>
        </p:nvSpPr>
        <p:spPr>
          <a:xfrm>
            <a:off x="939800" y="2814241"/>
            <a:ext cx="889000" cy="2159000"/>
          </a:xfrm>
          <a:custGeom>
            <a:avLst/>
            <a:gdLst/>
            <a:ahLst/>
            <a:cxnLst/>
            <a:rect l="l" t="t" r="r" b="b"/>
            <a:pathLst>
              <a:path w="889000" h="2159000">
                <a:moveTo>
                  <a:pt x="50800" y="0"/>
                </a:moveTo>
                <a:lnTo>
                  <a:pt x="838200" y="0"/>
                </a:lnTo>
                <a:arcTo hR="50800" wR="50800" stAng="16200000" swAng="5400000"/>
                <a:lnTo>
                  <a:pt x="889000" y="2159000"/>
                </a:lnTo>
                <a:lnTo>
                  <a:pt x="0" y="2159000"/>
                </a:lnTo>
                <a:lnTo>
                  <a:pt x="0" y="50800"/>
                </a:lnTo>
                <a:arcTo hR="50800" wR="50800" stAng="10800000" swAng="5400000"/>
                <a:close/>
              </a:path>
            </a:pathLst>
          </a:custGeom>
          <a:solidFill>
            <a:srgbClr val="C0631A"/>
          </a:solidFill>
          <a:ln/>
        </p:spPr>
      </p:sp>
      <p:sp>
        <p:nvSpPr>
          <p:cNvPr id="6" name="Text 4"/>
          <p:cNvSpPr/>
          <p:nvPr/>
        </p:nvSpPr>
        <p:spPr>
          <a:xfrm>
            <a:off x="896977" y="5049441"/>
            <a:ext cx="974646" cy="27429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4213D"/>
                </a:solidFill>
                <a:latin typeface="Nunito Sans" pitchFamily="34" charset="0"/>
                <a:ea typeface="Nunito Sans" pitchFamily="34" charset="-122"/>
                <a:cs typeface="Nunito Sans" pitchFamily="34" charset="-120"/>
              </a:rPr>
              <a:t>4 h target</a:t>
            </a:r>
            <a:endParaRPr lang="en-US" sz="1400" dirty="0"/>
          </a:p>
        </p:txBody>
      </p:sp>
      <p:sp>
        <p:nvSpPr>
          <p:cNvPr id="7" name="Text 5"/>
          <p:cNvSpPr/>
          <p:nvPr/>
        </p:nvSpPr>
        <p:spPr>
          <a:xfrm>
            <a:off x="2536646" y="2868861"/>
            <a:ext cx="590907" cy="345430"/>
          </a:xfrm>
          <a:prstGeom prst="rect">
            <a:avLst/>
          </a:prstGeom>
          <a:noFill/>
          <a:ln/>
        </p:spPr>
        <p:txBody>
          <a:bodyPr wrap="square" lIns="0" tIns="0" rIns="0" bIns="0" rtlCol="0" anchor="t">
            <a:normAutofit/>
          </a:bodyPr>
          <a:lstStyle/>
          <a:p>
            <a:pPr algn="ctr" indent="0" marL="0">
              <a:lnSpc>
                <a:spcPts val="2520"/>
              </a:lnSpc>
              <a:buNone/>
            </a:pPr>
            <a:r>
              <a:rPr lang="en-US" sz="1800" b="1" dirty="0">
                <a:solidFill>
                  <a:srgbClr val="C0631A"/>
                </a:solidFill>
                <a:latin typeface="Nunito Sans" pitchFamily="34" charset="0"/>
                <a:ea typeface="Nunito Sans" pitchFamily="34" charset="-122"/>
                <a:cs typeface="Nunito Sans" pitchFamily="34" charset="-120"/>
              </a:rPr>
              <a:t>75%</a:t>
            </a:r>
            <a:endParaRPr lang="en-US" sz="1800" dirty="0"/>
          </a:p>
        </p:txBody>
      </p:sp>
      <p:sp>
        <p:nvSpPr>
          <p:cNvPr id="8" name="Shape 6"/>
          <p:cNvSpPr/>
          <p:nvPr/>
        </p:nvSpPr>
        <p:spPr>
          <a:xfrm>
            <a:off x="2387600" y="3265091"/>
            <a:ext cx="889000" cy="1708150"/>
          </a:xfrm>
          <a:custGeom>
            <a:avLst/>
            <a:gdLst/>
            <a:ahLst/>
            <a:cxnLst/>
            <a:rect l="l" t="t" r="r" b="b"/>
            <a:pathLst>
              <a:path w="889000" h="1708150">
                <a:moveTo>
                  <a:pt x="50800" y="0"/>
                </a:moveTo>
                <a:lnTo>
                  <a:pt x="838200" y="0"/>
                </a:lnTo>
                <a:arcTo hR="50800" wR="50800" stAng="16200000" swAng="5400000"/>
                <a:lnTo>
                  <a:pt x="889000" y="1708150"/>
                </a:lnTo>
                <a:lnTo>
                  <a:pt x="0" y="1708150"/>
                </a:lnTo>
                <a:lnTo>
                  <a:pt x="0" y="50800"/>
                </a:lnTo>
                <a:arcTo hR="50800" wR="50800" stAng="10800000" swAng="5400000"/>
                <a:close/>
              </a:path>
            </a:pathLst>
          </a:custGeom>
          <a:solidFill>
            <a:srgbClr val="D98A4E"/>
          </a:solidFill>
          <a:ln/>
        </p:spPr>
      </p:sp>
      <p:sp>
        <p:nvSpPr>
          <p:cNvPr id="9" name="Text 7"/>
          <p:cNvSpPr/>
          <p:nvPr/>
        </p:nvSpPr>
        <p:spPr>
          <a:xfrm>
            <a:off x="2344777" y="5049441"/>
            <a:ext cx="974646" cy="27429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4213D"/>
                </a:solidFill>
                <a:latin typeface="Nunito Sans" pitchFamily="34" charset="0"/>
                <a:ea typeface="Nunito Sans" pitchFamily="34" charset="-122"/>
                <a:cs typeface="Nunito Sans" pitchFamily="34" charset="-120"/>
              </a:rPr>
              <a:t>8 h target</a:t>
            </a:r>
            <a:endParaRPr lang="en-US" sz="1400" dirty="0"/>
          </a:p>
        </p:txBody>
      </p:sp>
      <p:sp>
        <p:nvSpPr>
          <p:cNvPr id="10" name="Text 8"/>
          <p:cNvSpPr/>
          <p:nvPr/>
        </p:nvSpPr>
        <p:spPr>
          <a:xfrm>
            <a:off x="3984446" y="3522911"/>
            <a:ext cx="590907" cy="345430"/>
          </a:xfrm>
          <a:prstGeom prst="rect">
            <a:avLst/>
          </a:prstGeom>
          <a:noFill/>
          <a:ln/>
        </p:spPr>
        <p:txBody>
          <a:bodyPr wrap="square" lIns="0" tIns="0" rIns="0" bIns="0" rtlCol="0" anchor="t">
            <a:normAutofit/>
          </a:bodyPr>
          <a:lstStyle/>
          <a:p>
            <a:pPr algn="ctr" indent="0" marL="0">
              <a:lnSpc>
                <a:spcPts val="2520"/>
              </a:lnSpc>
              <a:buNone/>
            </a:pPr>
            <a:r>
              <a:rPr lang="en-US" sz="1800" b="1" dirty="0">
                <a:solidFill>
                  <a:srgbClr val="4A5568"/>
                </a:solidFill>
                <a:latin typeface="Nunito Sans" pitchFamily="34" charset="0"/>
                <a:ea typeface="Nunito Sans" pitchFamily="34" charset="-122"/>
                <a:cs typeface="Nunito Sans" pitchFamily="34" charset="-120"/>
              </a:rPr>
              <a:t>46%</a:t>
            </a:r>
            <a:endParaRPr lang="en-US" sz="1800" dirty="0"/>
          </a:p>
        </p:txBody>
      </p:sp>
      <p:sp>
        <p:nvSpPr>
          <p:cNvPr id="11" name="Shape 9"/>
          <p:cNvSpPr/>
          <p:nvPr/>
        </p:nvSpPr>
        <p:spPr>
          <a:xfrm>
            <a:off x="3835400" y="3919141"/>
            <a:ext cx="889000" cy="1054100"/>
          </a:xfrm>
          <a:custGeom>
            <a:avLst/>
            <a:gdLst/>
            <a:ahLst/>
            <a:cxnLst/>
            <a:rect l="l" t="t" r="r" b="b"/>
            <a:pathLst>
              <a:path w="889000" h="1054100">
                <a:moveTo>
                  <a:pt x="50800" y="0"/>
                </a:moveTo>
                <a:lnTo>
                  <a:pt x="838200" y="0"/>
                </a:lnTo>
                <a:arcTo hR="50800" wR="50800" stAng="16200000" swAng="5400000"/>
                <a:lnTo>
                  <a:pt x="889000" y="1054100"/>
                </a:lnTo>
                <a:lnTo>
                  <a:pt x="0" y="1054100"/>
                </a:lnTo>
                <a:lnTo>
                  <a:pt x="0" y="50800"/>
                </a:lnTo>
                <a:arcTo hR="50800" wR="50800" stAng="10800000" swAng="5400000"/>
                <a:close/>
              </a:path>
            </a:pathLst>
          </a:custGeom>
          <a:solidFill>
            <a:srgbClr val="9AA5B8"/>
          </a:solidFill>
          <a:ln/>
        </p:spPr>
      </p:sp>
      <p:sp>
        <p:nvSpPr>
          <p:cNvPr id="12" name="Text 10"/>
          <p:cNvSpPr/>
          <p:nvPr/>
        </p:nvSpPr>
        <p:spPr>
          <a:xfrm>
            <a:off x="3728527" y="5049441"/>
            <a:ext cx="1102697" cy="27429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4213D"/>
                </a:solidFill>
                <a:latin typeface="Nunito Sans" pitchFamily="34" charset="0"/>
                <a:ea typeface="Nunito Sans" pitchFamily="34" charset="-122"/>
                <a:cs typeface="Nunito Sans" pitchFamily="34" charset="-120"/>
              </a:rPr>
              <a:t>12 h target</a:t>
            </a:r>
            <a:endParaRPr lang="en-US" sz="1400" dirty="0"/>
          </a:p>
        </p:txBody>
      </p:sp>
      <p:sp>
        <p:nvSpPr>
          <p:cNvPr id="13" name="Text 11"/>
          <p:cNvSpPr/>
          <p:nvPr/>
        </p:nvSpPr>
        <p:spPr>
          <a:xfrm>
            <a:off x="5514524" y="4551611"/>
            <a:ext cx="426303" cy="345430"/>
          </a:xfrm>
          <a:prstGeom prst="rect">
            <a:avLst/>
          </a:prstGeom>
          <a:noFill/>
          <a:ln/>
        </p:spPr>
        <p:txBody>
          <a:bodyPr wrap="square" lIns="0" tIns="0" rIns="0" bIns="0" rtlCol="0" anchor="t">
            <a:normAutofit/>
          </a:bodyPr>
          <a:lstStyle/>
          <a:p>
            <a:pPr algn="ctr" indent="0" marL="0">
              <a:lnSpc>
                <a:spcPts val="2520"/>
              </a:lnSpc>
              <a:buNone/>
            </a:pPr>
            <a:r>
              <a:rPr lang="en-US" sz="1800" b="1" dirty="0">
                <a:solidFill>
                  <a:srgbClr val="2F6FB0"/>
                </a:solidFill>
                <a:latin typeface="Nunito Sans" pitchFamily="34" charset="0"/>
                <a:ea typeface="Nunito Sans" pitchFamily="34" charset="-122"/>
                <a:cs typeface="Nunito Sans" pitchFamily="34" charset="-120"/>
              </a:rPr>
              <a:t>1%</a:t>
            </a:r>
            <a:endParaRPr lang="en-US" sz="1800" dirty="0"/>
          </a:p>
        </p:txBody>
      </p:sp>
      <p:sp>
        <p:nvSpPr>
          <p:cNvPr id="14" name="Shape 12"/>
          <p:cNvSpPr/>
          <p:nvPr/>
        </p:nvSpPr>
        <p:spPr>
          <a:xfrm>
            <a:off x="5283200" y="4947841"/>
            <a:ext cx="889000" cy="25400"/>
          </a:xfrm>
          <a:prstGeom prst="rect">
            <a:avLst/>
          </a:prstGeom>
          <a:solidFill>
            <a:srgbClr val="2F6FB0"/>
          </a:solidFill>
          <a:ln/>
        </p:spPr>
      </p:sp>
      <p:sp>
        <p:nvSpPr>
          <p:cNvPr id="15" name="Text 13"/>
          <p:cNvSpPr/>
          <p:nvPr/>
        </p:nvSpPr>
        <p:spPr>
          <a:xfrm>
            <a:off x="5176327" y="5049441"/>
            <a:ext cx="1102697" cy="27429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4213D"/>
                </a:solidFill>
                <a:latin typeface="Nunito Sans" pitchFamily="34" charset="0"/>
                <a:ea typeface="Nunito Sans" pitchFamily="34" charset="-122"/>
                <a:cs typeface="Nunito Sans" pitchFamily="34" charset="-120"/>
              </a:rPr>
              <a:t>24 h target</a:t>
            </a:r>
            <a:endParaRPr lang="en-US" sz="1400" dirty="0"/>
          </a:p>
        </p:txBody>
      </p:sp>
      <p:sp>
        <p:nvSpPr>
          <p:cNvPr id="16" name="Shape 14"/>
          <p:cNvSpPr/>
          <p:nvPr/>
        </p:nvSpPr>
        <p:spPr>
          <a:xfrm>
            <a:off x="6810375" y="2555925"/>
            <a:ext cx="4565650" cy="2739231"/>
          </a:xfrm>
          <a:prstGeom prst="roundRect">
            <a:avLst>
              <a:gd name="adj" fmla="val 4520"/>
            </a:avLst>
          </a:prstGeom>
          <a:solidFill>
            <a:srgbClr val="FFFFFF"/>
          </a:solidFill>
          <a:ln w="6350">
            <a:solidFill>
              <a:srgbClr val="E2DED3"/>
            </a:solidFill>
            <a:prstDash val="solid"/>
          </a:ln>
        </p:spPr>
      </p:sp>
      <p:sp>
        <p:nvSpPr>
          <p:cNvPr id="17" name="Text 15"/>
          <p:cNvSpPr/>
          <p:nvPr/>
        </p:nvSpPr>
        <p:spPr>
          <a:xfrm>
            <a:off x="7067550" y="2813100"/>
            <a:ext cx="4172839" cy="523180"/>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4A5568"/>
                </a:solidFill>
                <a:latin typeface="Nunito Sans" pitchFamily="34" charset="0"/>
                <a:ea typeface="Nunito Sans" pitchFamily="34" charset="-122"/>
                <a:cs typeface="Nunito Sans" pitchFamily="34" charset="-120"/>
              </a:rPr>
              <a:t>SHARE OF JOBS THAT MISSED THE DEADLINE</a:t>
            </a:r>
            <a:endParaRPr lang="en-US" sz="1400" dirty="0"/>
          </a:p>
        </p:txBody>
      </p:sp>
      <p:sp>
        <p:nvSpPr>
          <p:cNvPr id="18" name="Text 16"/>
          <p:cNvSpPr/>
          <p:nvPr/>
        </p:nvSpPr>
        <p:spPr>
          <a:xfrm>
            <a:off x="7067550" y="3463280"/>
            <a:ext cx="4172839"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Nunito Sans" pitchFamily="34" charset="0"/>
                <a:ea typeface="Nunito Sans" pitchFamily="34" charset="-122"/>
                <a:cs typeface="Nunito Sans" pitchFamily="34" charset="-120"/>
              </a:rPr>
              <a:t>Every repair takes about </a:t>
            </a:r>
            <a:r>
              <a:rPr lang="en-US" sz="1600" b="1" dirty="0">
                <a:solidFill>
                  <a:srgbClr val="14213D"/>
                </a:solidFill>
                <a:latin typeface="Nunito Sans" pitchFamily="34" charset="0"/>
                <a:ea typeface="Nunito Sans" pitchFamily="34" charset="-122"/>
                <a:cs typeface="Nunito Sans" pitchFamily="34" charset="-120"/>
              </a:rPr>
              <a:t>12 hours</a:t>
            </a:r>
            <a:r>
              <a:rPr lang="en-US" sz="1600" dirty="0">
                <a:solidFill>
                  <a:srgbClr val="14213D"/>
                </a:solidFill>
                <a:latin typeface="Nunito Sans" pitchFamily="34" charset="0"/>
                <a:ea typeface="Nunito Sans" pitchFamily="34" charset="-122"/>
                <a:cs typeface="Nunito Sans" pitchFamily="34" charset="-120"/>
              </a:rPr>
              <a:t>, whatever the deadline.</a:t>
            </a:r>
            <a:endParaRPr lang="en-US" sz="1600" dirty="0"/>
          </a:p>
        </p:txBody>
      </p:sp>
      <p:sp>
        <p:nvSpPr>
          <p:cNvPr id="19" name="Text 17"/>
          <p:cNvSpPr/>
          <p:nvPr/>
        </p:nvSpPr>
        <p:spPr>
          <a:xfrm>
            <a:off x="7067550" y="4184600"/>
            <a:ext cx="4172839"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Nunito Sans" pitchFamily="34" charset="0"/>
                <a:ea typeface="Nunito Sans" pitchFamily="34" charset="-122"/>
                <a:cs typeface="Nunito Sans" pitchFamily="34" charset="-120"/>
              </a:rPr>
              <a:t>Deadlines are handed out regardless of importance: a quarter of critical jobs get a relaxed 24 h target.</a:t>
            </a:r>
            <a:endParaRPr lang="en-US" sz="1600" dirty="0"/>
          </a:p>
        </p:txBody>
      </p:sp>
      <p:sp>
        <p:nvSpPr>
          <p:cNvPr id="20" name="Text 1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unito Sans" pitchFamily="34" charset="0"/>
                <a:ea typeface="Nunito Sans" pitchFamily="34" charset="-122"/>
                <a:cs typeface="Nunito Sans" pitchFamily="34" charset="-120"/>
              </a:rPr>
              <a:t>54% of all jobs miss their deadline today; the target assigned explains almost all of it</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DEAE1"/>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4A5568"/>
                </a:solidFill>
                <a:latin typeface="Nunito Sans" pitchFamily="34" charset="0"/>
                <a:ea typeface="Nunito Sans" pitchFamily="34" charset="-122"/>
                <a:cs typeface="Nunito Sans" pitchFamily="34" charset="-120"/>
              </a:rPr>
              <a:t>HOW WE GOT THIS NUMBER · FINDING 3</a:t>
            </a:r>
            <a:endParaRPr lang="en-US" sz="1400" dirty="0"/>
          </a:p>
        </p:txBody>
      </p:sp>
      <p:sp>
        <p:nvSpPr>
          <p:cNvPr id="3" name="Text 1"/>
          <p:cNvSpPr/>
          <p:nvPr>
            <p:ph type="title"/>
          </p:nvPr>
        </p:nvSpPr>
        <p:spPr>
          <a:xfrm>
            <a:off x="812800" y="1315690"/>
            <a:ext cx="10883392" cy="84326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4213D"/>
                </a:solidFill>
                <a:latin typeface="Domine" pitchFamily="18" charset="0"/>
                <a:ea typeface="Domine" pitchFamily="18" charset="-122"/>
                <a:cs typeface="Domine" pitchFamily="18" charset="-120"/>
              </a:rPr>
              <a:t>We counted jobs whose actual repair time ran past their deadline</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400250"/>
          <a:ext cx="6591300" cy="2316063"/>
        </p:xfrm>
        <a:graphic>
          <a:graphicData uri="http://schemas.openxmlformats.org/drawingml/2006/table">
            <a:tbl>
              <a:tblPr/>
              <a:tblGrid>
                <a:gridCol w="1647825"/>
                <a:gridCol w="1647825"/>
                <a:gridCol w="1647825"/>
                <a:gridCol w="1647825"/>
              </a:tblGrid>
              <a:tr h="386011">
                <a:tc>
                  <a:txBody>
                    <a:bodyPr/>
                    <a:lstStyle/>
                    <a:p>
                      <a:pPr indent="0" marL="0">
                        <a:lnSpc>
                          <a:spcPts val="1960"/>
                        </a:lnSpc>
                        <a:buNone/>
                      </a:pPr>
                      <a:r>
                        <a:rPr lang="en-US" sz="1400" b="1" dirty="0">
                          <a:solidFill>
                            <a:srgbClr val="14213D"/>
                          </a:solidFill>
                          <a:latin typeface="Nunito Sans" pitchFamily="34" charset="0"/>
                          <a:ea typeface="Nunito Sans" pitchFamily="34" charset="-122"/>
                          <a:cs typeface="Nunito Sans" pitchFamily="34" charset="-120"/>
                        </a:rPr>
                        <a:t>Deadline</a:t>
                      </a:r>
                      <a:endParaRPr lang="en-US" sz="1400" dirty="0">
                        <a:latin typeface="Nunito Sans" charset="0"/>
                        <a:ea typeface="Nunito Sans" charset="0"/>
                        <a:cs typeface="Nunito Sans" charset="0"/>
                      </a:endParaRPr>
                    </a:p>
                  </a:txBody>
                  <a:tcPr marL="62230" marR="62230" marT="62230" marB="62230" anchor="t">
                    <a:lnL w="12700" cap="flat" cmpd="sng" algn="ctr">
                      <a:solidFill>
                        <a:srgbClr val="BDBBB4"/>
                      </a:solidFill>
                      <a:prstDash val="solid"/>
                      <a:round/>
                      <a:headEnd type="none" w="med" len="med"/>
                      <a:tailEnd type="none" w="med" len="med"/>
                    </a:lnL>
                    <a:lnR w="12700" cap="flat" cmpd="sng" algn="ctr">
                      <a:solidFill>
                        <a:srgbClr val="B0AEA7"/>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B0AEA7"/>
                      </a:solidFill>
                      <a:prstDash val="solid"/>
                      <a:round/>
                      <a:headEnd type="none" w="med" len="med"/>
                      <a:tailEnd type="none" w="med" len="med"/>
                    </a:lnB>
                    <a:solidFill>
                      <a:srgbClr val="DCD9D1"/>
                    </a:solidFill>
                  </a:tcPr>
                </a:tc>
                <a:tc>
                  <a:txBody>
                    <a:bodyPr/>
                    <a:lstStyle/>
                    <a:p>
                      <a:pPr algn="r" indent="0" marL="0">
                        <a:lnSpc>
                          <a:spcPts val="1960"/>
                        </a:lnSpc>
                        <a:buNone/>
                      </a:pPr>
                      <a:r>
                        <a:rPr lang="en-US" sz="1400" b="1" dirty="0">
                          <a:solidFill>
                            <a:srgbClr val="14213D"/>
                          </a:solidFill>
                          <a:latin typeface="Nunito Sans" pitchFamily="34" charset="0"/>
                          <a:ea typeface="Nunito Sans" pitchFamily="34" charset="-122"/>
                          <a:cs typeface="Nunito Sans" pitchFamily="34" charset="-120"/>
                        </a:rPr>
                        <a:t>Jobs</a:t>
                      </a:r>
                      <a:endParaRPr lang="en-US" sz="1400" dirty="0">
                        <a:latin typeface="Nunito Sans" charset="0"/>
                        <a:ea typeface="Nunito Sans" charset="0"/>
                        <a:cs typeface="Nunito Sans" charset="0"/>
                      </a:endParaRPr>
                    </a:p>
                  </a:txBody>
                  <a:tcPr marL="62230" marR="62230" marT="62230" marB="62230" anchor="t">
                    <a:lnL w="12700" cap="flat" cmpd="sng" algn="ctr">
                      <a:solidFill>
                        <a:srgbClr val="B0AEA7"/>
                      </a:solidFill>
                      <a:prstDash val="solid"/>
                      <a:round/>
                      <a:headEnd type="none" w="med" len="med"/>
                      <a:tailEnd type="none" w="med" len="med"/>
                    </a:lnL>
                    <a:lnR w="12700" cap="flat" cmpd="sng" algn="ctr">
                      <a:solidFill>
                        <a:srgbClr val="B0AEA7"/>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B0AEA7"/>
                      </a:solidFill>
                      <a:prstDash val="solid"/>
                      <a:round/>
                      <a:headEnd type="none" w="med" len="med"/>
                      <a:tailEnd type="none" w="med" len="med"/>
                    </a:lnB>
                    <a:solidFill>
                      <a:srgbClr val="DCD9D1"/>
                    </a:solidFill>
                  </a:tcPr>
                </a:tc>
                <a:tc>
                  <a:txBody>
                    <a:bodyPr/>
                    <a:lstStyle/>
                    <a:p>
                      <a:pPr algn="r" indent="0" marL="0">
                        <a:lnSpc>
                          <a:spcPts val="1960"/>
                        </a:lnSpc>
                        <a:buNone/>
                      </a:pPr>
                      <a:r>
                        <a:rPr lang="en-US" sz="1400" b="1" dirty="0">
                          <a:solidFill>
                            <a:srgbClr val="14213D"/>
                          </a:solidFill>
                          <a:latin typeface="Nunito Sans" pitchFamily="34" charset="0"/>
                          <a:ea typeface="Nunito Sans" pitchFamily="34" charset="-122"/>
                          <a:cs typeface="Nunito Sans" pitchFamily="34" charset="-120"/>
                        </a:rPr>
                        <a:t>Missed</a:t>
                      </a:r>
                      <a:endParaRPr lang="en-US" sz="1400" dirty="0">
                        <a:latin typeface="Nunito Sans" charset="0"/>
                        <a:ea typeface="Nunito Sans" charset="0"/>
                        <a:cs typeface="Nunito Sans" charset="0"/>
                      </a:endParaRPr>
                    </a:p>
                  </a:txBody>
                  <a:tcPr marL="62230" marR="62230" marT="62230" marB="62230" anchor="t">
                    <a:lnL w="12700" cap="flat" cmpd="sng" algn="ctr">
                      <a:solidFill>
                        <a:srgbClr val="B0AEA7"/>
                      </a:solidFill>
                      <a:prstDash val="solid"/>
                      <a:round/>
                      <a:headEnd type="none" w="med" len="med"/>
                      <a:tailEnd type="none" w="med" len="med"/>
                    </a:lnL>
                    <a:lnR w="12700" cap="flat" cmpd="sng" algn="ctr">
                      <a:solidFill>
                        <a:srgbClr val="B0AEA7"/>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B0AEA7"/>
                      </a:solidFill>
                      <a:prstDash val="solid"/>
                      <a:round/>
                      <a:headEnd type="none" w="med" len="med"/>
                      <a:tailEnd type="none" w="med" len="med"/>
                    </a:lnB>
                    <a:solidFill>
                      <a:srgbClr val="DCD9D1"/>
                    </a:solidFill>
                  </a:tcPr>
                </a:tc>
                <a:tc>
                  <a:txBody>
                    <a:bodyPr/>
                    <a:lstStyle/>
                    <a:p>
                      <a:pPr algn="r" indent="0" marL="0">
                        <a:lnSpc>
                          <a:spcPts val="1960"/>
                        </a:lnSpc>
                        <a:buNone/>
                      </a:pPr>
                      <a:r>
                        <a:rPr lang="en-US" sz="1400" b="1" dirty="0">
                          <a:solidFill>
                            <a:srgbClr val="14213D"/>
                          </a:solidFill>
                          <a:latin typeface="Nunito Sans" pitchFamily="34" charset="0"/>
                          <a:ea typeface="Nunito Sans" pitchFamily="34" charset="-122"/>
                          <a:cs typeface="Nunito Sans" pitchFamily="34" charset="-120"/>
                        </a:rPr>
                        <a:t>Share</a:t>
                      </a:r>
                      <a:endParaRPr lang="en-US" sz="1400" dirty="0">
                        <a:latin typeface="Nunito Sans" charset="0"/>
                        <a:ea typeface="Nunito Sans" charset="0"/>
                        <a:cs typeface="Nunito Sans" charset="0"/>
                      </a:endParaRPr>
                    </a:p>
                  </a:txBody>
                  <a:tcPr marL="62230" marR="62230" marT="62230" marB="62230" anchor="t">
                    <a:lnL w="12700" cap="flat" cmpd="sng" algn="ctr">
                      <a:solidFill>
                        <a:srgbClr val="B0AEA7"/>
                      </a:solidFill>
                      <a:prstDash val="solid"/>
                      <a:round/>
                      <a:headEnd type="none" w="med" len="med"/>
                      <a:tailEnd type="none" w="med" len="med"/>
                    </a:lnL>
                    <a:lnR w="12700" cap="flat" cmpd="sng" algn="ctr">
                      <a:solidFill>
                        <a:srgbClr val="B0AEA7"/>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B0AEA7"/>
                      </a:solidFill>
                      <a:prstDash val="solid"/>
                      <a:round/>
                      <a:headEnd type="none" w="med" len="med"/>
                      <a:tailEnd type="none" w="med" len="med"/>
                    </a:lnB>
                    <a:solidFill>
                      <a:srgbClr val="DCD9D1"/>
                    </a:solidFill>
                  </a:tcPr>
                </a:tc>
              </a:tr>
              <a:tr h="386011">
                <a:tc>
                  <a:txBody>
                    <a:bodyPr/>
                    <a:lstStyle/>
                    <a:p>
                      <a:pP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4 h</a:t>
                      </a:r>
                      <a:endParaRPr lang="en-US" sz="1400" dirty="0">
                        <a:latin typeface="Nunito Sans" charset="0"/>
                        <a:ea typeface="Nunito Sans" charset="0"/>
                        <a:cs typeface="Nunito Sans" charset="0"/>
                      </a:endParaRPr>
                    </a:p>
                  </a:txBody>
                  <a:tcPr marL="62230" marR="62230" marT="62230" marB="62230" anchor="t">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B0AEA7"/>
                      </a:solidFill>
                      <a:prstDash val="solid"/>
                      <a:round/>
                      <a:headEnd type="none" w="med" len="med"/>
                      <a:tailEnd type="none" w="med" len="med"/>
                    </a:lnT>
                    <a:lnB w="12700" cap="flat" cmpd="sng" algn="ctr">
                      <a:solidFill>
                        <a:srgbClr val="BDBBB4"/>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1,269</a:t>
                      </a:r>
                      <a:endParaRPr lang="en-US" sz="1400" dirty="0">
                        <a:latin typeface="Nunito Sans" charset="0"/>
                        <a:ea typeface="Nunito Sans" charset="0"/>
                        <a:cs typeface="Nunito Sans" charset="0"/>
                      </a:endParaRPr>
                    </a:p>
                  </a:txBody>
                  <a:tcPr marL="62230" marR="62230" marT="62230" marB="62230" anchor="t">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B0AEA7"/>
                      </a:solidFill>
                      <a:prstDash val="solid"/>
                      <a:round/>
                      <a:headEnd type="none" w="med" len="med"/>
                      <a:tailEnd type="none" w="med" len="med"/>
                    </a:lnT>
                    <a:lnB w="12700" cap="flat" cmpd="sng" algn="ctr">
                      <a:solidFill>
                        <a:srgbClr val="BDBBB4"/>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1,211</a:t>
                      </a:r>
                      <a:endParaRPr lang="en-US" sz="1400" dirty="0">
                        <a:latin typeface="Nunito Sans" charset="0"/>
                        <a:ea typeface="Nunito Sans" charset="0"/>
                        <a:cs typeface="Nunito Sans" charset="0"/>
                      </a:endParaRPr>
                    </a:p>
                  </a:txBody>
                  <a:tcPr marL="62230" marR="62230" marT="62230" marB="62230" anchor="t">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B0AEA7"/>
                      </a:solidFill>
                      <a:prstDash val="solid"/>
                      <a:round/>
                      <a:headEnd type="none" w="med" len="med"/>
                      <a:tailEnd type="none" w="med" len="med"/>
                    </a:lnT>
                    <a:lnB w="12700" cap="flat" cmpd="sng" algn="ctr">
                      <a:solidFill>
                        <a:srgbClr val="BDBBB4"/>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95%</a:t>
                      </a:r>
                      <a:endParaRPr lang="en-US" sz="1400" dirty="0">
                        <a:latin typeface="Nunito Sans" charset="0"/>
                        <a:ea typeface="Nunito Sans" charset="0"/>
                        <a:cs typeface="Nunito Sans" charset="0"/>
                      </a:endParaRPr>
                    </a:p>
                  </a:txBody>
                  <a:tcPr marL="62230" marR="62230" marT="62230" marB="62230" anchor="t">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B0AEA7"/>
                      </a:solidFill>
                      <a:prstDash val="solid"/>
                      <a:round/>
                      <a:headEnd type="none" w="med" len="med"/>
                      <a:tailEnd type="none" w="med" len="med"/>
                    </a:lnT>
                    <a:lnB w="12700" cap="flat" cmpd="sng" algn="ctr">
                      <a:solidFill>
                        <a:srgbClr val="BDBBB4"/>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8 h</a:t>
                      </a:r>
                      <a:endParaRPr lang="en-US" sz="1400" dirty="0">
                        <a:latin typeface="Nunito Sans" charset="0"/>
                        <a:ea typeface="Nunito Sans" charset="0"/>
                        <a:cs typeface="Nunito Sans" charset="0"/>
                      </a:endParaRPr>
                    </a:p>
                  </a:txBody>
                  <a:tcPr marL="62230" marR="62230" marT="62230" marB="62230" anchor="t">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BDBBB4"/>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1,215</a:t>
                      </a:r>
                      <a:endParaRPr lang="en-US" sz="1400" dirty="0">
                        <a:latin typeface="Nunito Sans" charset="0"/>
                        <a:ea typeface="Nunito Sans" charset="0"/>
                        <a:cs typeface="Nunito Sans" charset="0"/>
                      </a:endParaRPr>
                    </a:p>
                  </a:txBody>
                  <a:tcPr marL="62230" marR="62230" marT="62230" marB="62230" anchor="t">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BDBBB4"/>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916</a:t>
                      </a:r>
                      <a:endParaRPr lang="en-US" sz="1400" dirty="0">
                        <a:latin typeface="Nunito Sans" charset="0"/>
                        <a:ea typeface="Nunito Sans" charset="0"/>
                        <a:cs typeface="Nunito Sans" charset="0"/>
                      </a:endParaRPr>
                    </a:p>
                  </a:txBody>
                  <a:tcPr marL="62230" marR="62230" marT="62230" marB="62230" anchor="t">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BDBBB4"/>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75%</a:t>
                      </a:r>
                      <a:endParaRPr lang="en-US" sz="1400" dirty="0">
                        <a:latin typeface="Nunito Sans" charset="0"/>
                        <a:ea typeface="Nunito Sans" charset="0"/>
                        <a:cs typeface="Nunito Sans" charset="0"/>
                      </a:endParaRPr>
                    </a:p>
                  </a:txBody>
                  <a:tcPr marL="62230" marR="62230" marT="62230" marB="62230" anchor="t">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BDBBB4"/>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12 h</a:t>
                      </a:r>
                      <a:endParaRPr lang="en-US" sz="1400" dirty="0">
                        <a:latin typeface="Nunito Sans" charset="0"/>
                        <a:ea typeface="Nunito Sans" charset="0"/>
                        <a:cs typeface="Nunito Sans" charset="0"/>
                      </a:endParaRPr>
                    </a:p>
                  </a:txBody>
                  <a:tcPr marL="62230" marR="62230" marT="62230" marB="62230" anchor="t">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BDBBB4"/>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1,201</a:t>
                      </a:r>
                      <a:endParaRPr lang="en-US" sz="1400" dirty="0">
                        <a:latin typeface="Nunito Sans" charset="0"/>
                        <a:ea typeface="Nunito Sans" charset="0"/>
                        <a:cs typeface="Nunito Sans" charset="0"/>
                      </a:endParaRPr>
                    </a:p>
                  </a:txBody>
                  <a:tcPr marL="62230" marR="62230" marT="62230" marB="62230" anchor="t">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BDBBB4"/>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557</a:t>
                      </a:r>
                      <a:endParaRPr lang="en-US" sz="1400" dirty="0">
                        <a:latin typeface="Nunito Sans" charset="0"/>
                        <a:ea typeface="Nunito Sans" charset="0"/>
                        <a:cs typeface="Nunito Sans" charset="0"/>
                      </a:endParaRPr>
                    </a:p>
                  </a:txBody>
                  <a:tcPr marL="62230" marR="62230" marT="62230" marB="62230" anchor="t">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BDBBB4"/>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46%</a:t>
                      </a:r>
                      <a:endParaRPr lang="en-US" sz="1400" dirty="0">
                        <a:latin typeface="Nunito Sans" charset="0"/>
                        <a:ea typeface="Nunito Sans" charset="0"/>
                        <a:cs typeface="Nunito Sans" charset="0"/>
                      </a:endParaRPr>
                    </a:p>
                  </a:txBody>
                  <a:tcPr marL="62230" marR="62230" marT="62230" marB="62230" anchor="t">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BDBBB4"/>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24 h</a:t>
                      </a:r>
                      <a:endParaRPr lang="en-US" sz="1400" dirty="0">
                        <a:latin typeface="Nunito Sans" charset="0"/>
                        <a:ea typeface="Nunito Sans" charset="0"/>
                        <a:cs typeface="Nunito Sans" charset="0"/>
                      </a:endParaRPr>
                    </a:p>
                  </a:txBody>
                  <a:tcPr marL="62230" marR="62230" marT="62230" marB="62230" anchor="t">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BDBBB4"/>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1,315</a:t>
                      </a:r>
                      <a:endParaRPr lang="en-US" sz="1400" dirty="0">
                        <a:latin typeface="Nunito Sans" charset="0"/>
                        <a:ea typeface="Nunito Sans" charset="0"/>
                        <a:cs typeface="Nunito Sans" charset="0"/>
                      </a:endParaRPr>
                    </a:p>
                  </a:txBody>
                  <a:tcPr marL="62230" marR="62230" marT="62230" marB="62230" anchor="t">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BDBBB4"/>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10</a:t>
                      </a:r>
                      <a:endParaRPr lang="en-US" sz="1400" dirty="0">
                        <a:latin typeface="Nunito Sans" charset="0"/>
                        <a:ea typeface="Nunito Sans" charset="0"/>
                        <a:cs typeface="Nunito Sans" charset="0"/>
                      </a:endParaRPr>
                    </a:p>
                  </a:txBody>
                  <a:tcPr marL="62230" marR="62230" marT="62230" marB="62230" anchor="t">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BDBBB4"/>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1%</a:t>
                      </a:r>
                      <a:endParaRPr lang="en-US" sz="1400" dirty="0">
                        <a:latin typeface="Nunito Sans" charset="0"/>
                        <a:ea typeface="Nunito Sans" charset="0"/>
                        <a:cs typeface="Nunito Sans" charset="0"/>
                      </a:endParaRPr>
                    </a:p>
                  </a:txBody>
                  <a:tcPr marL="62230" marR="62230" marT="62230" marB="62230" anchor="t">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BDBBB4"/>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All jobs</a:t>
                      </a:r>
                      <a:endParaRPr lang="en-US" sz="1400" dirty="0">
                        <a:latin typeface="Nunito Sans" charset="0"/>
                        <a:ea typeface="Nunito Sans" charset="0"/>
                        <a:cs typeface="Nunito Sans" charset="0"/>
                      </a:endParaRPr>
                    </a:p>
                  </a:txBody>
                  <a:tcPr marL="62230" marR="62230" marT="62230" marB="62230" anchor="t">
                    <a:lnL w="12700" cap="flat" cmpd="sng" algn="ctr">
                      <a:solidFill>
                        <a:srgbClr val="BDBBB4"/>
                      </a:solidFill>
                      <a:prstDash val="solid"/>
                      <a:round/>
                      <a:headEnd type="none" w="med" len="med"/>
                      <a:tailEnd type="none" w="med" len="med"/>
                    </a:lnL>
                    <a:lnR w="12700" cap="flat" cmpd="sng" algn="ctr">
                      <a:solidFill>
                        <a:srgbClr val="C9BCB1"/>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9BCB1"/>
                      </a:solidFill>
                      <a:prstDash val="solid"/>
                      <a:round/>
                      <a:headEnd type="none" w="med" len="med"/>
                      <a:tailEnd type="none" w="med" len="med"/>
                    </a:lnB>
                    <a:solidFill>
                      <a:srgbClr val="FCEBDD"/>
                    </a:solidFill>
                  </a:tcPr>
                </a:tc>
                <a:tc>
                  <a:txBody>
                    <a:bodyPr/>
                    <a:lstStyle/>
                    <a:p>
                      <a:pPr algn="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5,000</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9BCB1"/>
                      </a:solidFill>
                      <a:prstDash val="solid"/>
                      <a:round/>
                      <a:headEnd type="none" w="med" len="med"/>
                      <a:tailEnd type="none" w="med" len="med"/>
                    </a:lnL>
                    <a:lnR w="12700" cap="flat" cmpd="sng" algn="ctr">
                      <a:solidFill>
                        <a:srgbClr val="C9BCB1"/>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9BCB1"/>
                      </a:solidFill>
                      <a:prstDash val="solid"/>
                      <a:round/>
                      <a:headEnd type="none" w="med" len="med"/>
                      <a:tailEnd type="none" w="med" len="med"/>
                    </a:lnB>
                    <a:solidFill>
                      <a:srgbClr val="FCEBDD"/>
                    </a:solidFill>
                  </a:tcPr>
                </a:tc>
                <a:tc>
                  <a:txBody>
                    <a:bodyPr/>
                    <a:lstStyle/>
                    <a:p>
                      <a:pPr algn="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2,694</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9BCB1"/>
                      </a:solidFill>
                      <a:prstDash val="solid"/>
                      <a:round/>
                      <a:headEnd type="none" w="med" len="med"/>
                      <a:tailEnd type="none" w="med" len="med"/>
                    </a:lnL>
                    <a:lnR w="12700" cap="flat" cmpd="sng" algn="ctr">
                      <a:solidFill>
                        <a:srgbClr val="C9BCB1"/>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9BCB1"/>
                      </a:solidFill>
                      <a:prstDash val="solid"/>
                      <a:round/>
                      <a:headEnd type="none" w="med" len="med"/>
                      <a:tailEnd type="none" w="med" len="med"/>
                    </a:lnB>
                    <a:solidFill>
                      <a:srgbClr val="FCEBDD"/>
                    </a:solidFill>
                  </a:tcPr>
                </a:tc>
                <a:tc>
                  <a:txBody>
                    <a:bodyPr/>
                    <a:lstStyle/>
                    <a:p>
                      <a:pPr algn="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54%</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9BCB1"/>
                      </a:solidFill>
                      <a:prstDash val="solid"/>
                      <a:round/>
                      <a:headEnd type="none" w="med" len="med"/>
                      <a:tailEnd type="none" w="med" len="med"/>
                    </a:lnL>
                    <a:lnR w="12700" cap="flat" cmpd="sng" algn="ctr">
                      <a:solidFill>
                        <a:srgbClr val="C9BCB1"/>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9BCB1"/>
                      </a:solidFill>
                      <a:prstDash val="solid"/>
                      <a:round/>
                      <a:headEnd type="none" w="med" len="med"/>
                      <a:tailEnd type="none" w="med" len="med"/>
                    </a:lnB>
                    <a:solidFill>
                      <a:srgbClr val="FCEBDD"/>
                    </a:solidFill>
                  </a:tcPr>
                </a:tc>
              </a:tr>
            </a:tbl>
          </a:graphicData>
        </a:graphic>
      </p:graphicFrame>
      <p:sp>
        <p:nvSpPr>
          <p:cNvPr id="5" name="Text 2"/>
          <p:cNvSpPr/>
          <p:nvPr/>
        </p:nvSpPr>
        <p:spPr>
          <a:xfrm>
            <a:off x="812800" y="4843314"/>
            <a:ext cx="5882630" cy="908050"/>
          </a:xfrm>
          <a:prstGeom prst="roundRect">
            <a:avLst>
              <a:gd name="adj" fmla="val 11189"/>
            </a:avLst>
          </a:prstGeom>
          <a:solidFill>
            <a:srgbClr val="F6F4EE"/>
          </a:solidFill>
          <a:ln/>
        </p:spPr>
        <p:txBody>
          <a:bodyPr wrap="square" lIns="198842" tIns="148042" rIns="36079" bIns="122642" rtlCol="0" anchor="t">
            <a:normAutofit/>
          </a:bodyPr>
          <a:lstStyle/>
          <a:p>
            <a:pPr algn="l" indent="0" marL="0">
              <a:lnSpc>
                <a:spcPts val="2175"/>
              </a:lnSpc>
              <a:buNone/>
            </a:pPr>
            <a:r>
              <a:rPr lang="en-US" sz="1500" dirty="0">
                <a:solidFill>
                  <a:srgbClr val="14213D"/>
                </a:solidFill>
                <a:latin typeface="Nunito Sans" pitchFamily="34" charset="0"/>
                <a:ea typeface="Nunito Sans" pitchFamily="34" charset="-122"/>
                <a:cs typeface="Nunito Sans" pitchFamily="34" charset="-120"/>
              </a:rPr>
              <a:t>Average actual repair time is </a:t>
            </a:r>
            <a:r>
              <a:rPr lang="en-US" sz="1500" b="1" dirty="0">
                <a:solidFill>
                  <a:srgbClr val="14213D"/>
                </a:solidFill>
                <a:latin typeface="Nunito Sans" pitchFamily="34" charset="0"/>
                <a:ea typeface="Nunito Sans" pitchFamily="34" charset="-122"/>
                <a:cs typeface="Nunito Sans" pitchFamily="34" charset="-120"/>
              </a:rPr>
              <a:t>11.5–11.9 h in every row</a:t>
            </a:r>
            <a:r>
              <a:rPr lang="en-US" sz="1500" dirty="0">
                <a:solidFill>
                  <a:srgbClr val="14213D"/>
                </a:solidFill>
                <a:latin typeface="Nunito Sans" pitchFamily="34" charset="0"/>
                <a:ea typeface="Nunito Sans" pitchFamily="34" charset="-122"/>
                <a:cs typeface="Nunito Sans" pitchFamily="34" charset="-120"/>
              </a:rPr>
              <a:t>: the work is the same, only the deadline changes.</a:t>
            </a:r>
            <a:endParaRPr lang="en-US" sz="1500" dirty="0"/>
          </a:p>
        </p:txBody>
      </p:sp>
      <p:sp>
        <p:nvSpPr>
          <p:cNvPr id="6" name="Shape 3"/>
          <p:cNvSpPr/>
          <p:nvPr/>
        </p:nvSpPr>
        <p:spPr>
          <a:xfrm>
            <a:off x="6949430" y="2387550"/>
            <a:ext cx="4429770" cy="3363813"/>
          </a:xfrm>
          <a:prstGeom prst="roundRect">
            <a:avLst>
              <a:gd name="adj" fmla="val 3020"/>
            </a:avLst>
          </a:prstGeom>
          <a:solidFill>
            <a:srgbClr val="F6F4EE"/>
          </a:solidFill>
          <a:ln/>
        </p:spPr>
      </p:sp>
      <p:sp>
        <p:nvSpPr>
          <p:cNvPr id="7" name="Text 4"/>
          <p:cNvSpPr/>
          <p:nvPr/>
        </p:nvSpPr>
        <p:spPr>
          <a:xfrm>
            <a:off x="7203430" y="2641550"/>
            <a:ext cx="4039423" cy="25653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2F6FB0"/>
                </a:solidFill>
                <a:latin typeface="Nunito Sans" pitchFamily="34" charset="0"/>
                <a:ea typeface="Nunito Sans" pitchFamily="34" charset="-122"/>
                <a:cs typeface="Nunito Sans" pitchFamily="34" charset="-120"/>
              </a:rPr>
              <a:t>WHAT WE RULED OUT</a:t>
            </a:r>
            <a:endParaRPr lang="en-US" sz="1300" dirty="0"/>
          </a:p>
        </p:txBody>
      </p:sp>
      <p:sp>
        <p:nvSpPr>
          <p:cNvPr id="8" name="Text 5"/>
          <p:cNvSpPr/>
          <p:nvPr/>
        </p:nvSpPr>
        <p:spPr>
          <a:xfrm>
            <a:off x="7203430" y="2999680"/>
            <a:ext cx="4039423" cy="283170"/>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4A5568"/>
                </a:solidFill>
                <a:latin typeface="Nunito Sans" pitchFamily="34" charset="0"/>
                <a:ea typeface="Nunito Sans" pitchFamily="34" charset="-122"/>
                <a:cs typeface="Nunito Sans" pitchFamily="34" charset="-120"/>
              </a:rPr>
              <a:t>Team:</a:t>
            </a:r>
            <a:r>
              <a:rPr lang="en-US" sz="1400" dirty="0">
                <a:solidFill>
                  <a:srgbClr val="4A5568"/>
                </a:solidFill>
                <a:latin typeface="Nunito Sans" pitchFamily="34" charset="0"/>
                <a:ea typeface="Nunito Sans" pitchFamily="34" charset="-122"/>
                <a:cs typeface="Nunito Sans" pitchFamily="34" charset="-120"/>
              </a:rPr>
              <a:t> all four teams miss 53–54%.</a:t>
            </a:r>
            <a:endParaRPr lang="en-US" sz="1400" dirty="0"/>
          </a:p>
        </p:txBody>
      </p:sp>
      <p:sp>
        <p:nvSpPr>
          <p:cNvPr id="9" name="Text 6"/>
          <p:cNvSpPr/>
          <p:nvPr/>
        </p:nvSpPr>
        <p:spPr>
          <a:xfrm>
            <a:off x="7203430" y="3384451"/>
            <a:ext cx="4039423" cy="283170"/>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4A5568"/>
                </a:solidFill>
                <a:latin typeface="Nunito Sans" pitchFamily="34" charset="0"/>
                <a:ea typeface="Nunito Sans" pitchFamily="34" charset="-122"/>
                <a:cs typeface="Nunito Sans" pitchFamily="34" charset="-120"/>
              </a:rPr>
              <a:t>Shift:</a:t>
            </a:r>
            <a:r>
              <a:rPr lang="en-US" sz="1400" dirty="0">
                <a:solidFill>
                  <a:srgbClr val="4A5568"/>
                </a:solidFill>
                <a:latin typeface="Nunito Sans" pitchFamily="34" charset="0"/>
                <a:ea typeface="Nunito Sans" pitchFamily="34" charset="-122"/>
                <a:cs typeface="Nunito Sans" pitchFamily="34" charset="-120"/>
              </a:rPr>
              <a:t> day 52%, night 56%.</a:t>
            </a:r>
            <a:endParaRPr lang="en-US" sz="1400" dirty="0"/>
          </a:p>
        </p:txBody>
      </p:sp>
      <p:sp>
        <p:nvSpPr>
          <p:cNvPr id="10" name="Text 7"/>
          <p:cNvSpPr/>
          <p:nvPr/>
        </p:nvSpPr>
        <p:spPr>
          <a:xfrm>
            <a:off x="7203430" y="3769221"/>
            <a:ext cx="4039423" cy="540941"/>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4A5568"/>
                </a:solidFill>
                <a:latin typeface="Nunito Sans" pitchFamily="34" charset="0"/>
                <a:ea typeface="Nunito Sans" pitchFamily="34" charset="-122"/>
                <a:cs typeface="Nunito Sans" pitchFamily="34" charset="-120"/>
              </a:rPr>
              <a:t>Importance:</a:t>
            </a:r>
            <a:r>
              <a:rPr lang="en-US" sz="1400" dirty="0">
                <a:solidFill>
                  <a:srgbClr val="4A5568"/>
                </a:solidFill>
                <a:latin typeface="Nunito Sans" pitchFamily="34" charset="0"/>
                <a:ea typeface="Nunito Sans" pitchFamily="34" charset="-122"/>
                <a:cs typeface="Nunito Sans" pitchFamily="34" charset="-120"/>
              </a:rPr>
              <a:t> 25% of critical jobs get a 24 h deadline; 23% of low-importance jobs get 4 h.</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C0631A"/>
                </a:solidFill>
                <a:latin typeface="Nunito Sans" pitchFamily="34" charset="0"/>
                <a:ea typeface="Nunito Sans" pitchFamily="34" charset="-122"/>
                <a:cs typeface="Nunito Sans" pitchFamily="34" charset="-120"/>
              </a:rPr>
              <a:t>FINDING 4 · AGEING EQUIPMENT</a:t>
            </a:r>
            <a:endParaRPr lang="en-US" sz="1400" dirty="0"/>
          </a:p>
        </p:txBody>
      </p:sp>
      <p:sp>
        <p:nvSpPr>
          <p:cNvPr id="3" name="Text 1"/>
          <p:cNvSpPr/>
          <p:nvPr>
            <p:ph type="title"/>
          </p:nvPr>
        </p:nvSpPr>
        <p:spPr>
          <a:xfrm>
            <a:off x="812800" y="1315690"/>
            <a:ext cx="10883392" cy="960041"/>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Domine" pitchFamily="18" charset="0"/>
                <a:ea typeface="Domine" pitchFamily="18" charset="-122"/>
                <a:cs typeface="Domine" pitchFamily="18" charset="-120"/>
              </a:rPr>
              <a:t>After 9 years, the chance of a high-risk machine doubles every 3 years</a:t>
            </a:r>
            <a:endParaRPr lang="en-US" sz="3200" dirty="0"/>
          </a:p>
        </p:txBody>
      </p:sp>
      <p:sp>
        <p:nvSpPr>
          <p:cNvPr id="4" name="Text 2"/>
          <p:cNvSpPr/>
          <p:nvPr/>
        </p:nvSpPr>
        <p:spPr>
          <a:xfrm>
            <a:off x="1099562" y="4866382"/>
            <a:ext cx="378976" cy="309860"/>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4A5568"/>
                </a:solidFill>
                <a:latin typeface="Nunito Sans" pitchFamily="34" charset="0"/>
                <a:ea typeface="Nunito Sans" pitchFamily="34" charset="-122"/>
                <a:cs typeface="Nunito Sans" pitchFamily="34" charset="-120"/>
              </a:rPr>
              <a:t>0%</a:t>
            </a:r>
            <a:endParaRPr lang="en-US" sz="1600" dirty="0"/>
          </a:p>
        </p:txBody>
      </p:sp>
      <p:sp>
        <p:nvSpPr>
          <p:cNvPr id="5" name="Shape 3"/>
          <p:cNvSpPr/>
          <p:nvPr/>
        </p:nvSpPr>
        <p:spPr>
          <a:xfrm>
            <a:off x="939800" y="5214342"/>
            <a:ext cx="698500" cy="25400"/>
          </a:xfrm>
          <a:prstGeom prst="rect">
            <a:avLst/>
          </a:prstGeom>
          <a:solidFill>
            <a:srgbClr val="9AA5B8"/>
          </a:solidFill>
          <a:ln/>
        </p:spPr>
      </p:sp>
      <p:sp>
        <p:nvSpPr>
          <p:cNvPr id="6" name="Text 4"/>
          <p:cNvSpPr/>
          <p:nvPr/>
        </p:nvSpPr>
        <p:spPr>
          <a:xfrm>
            <a:off x="955085" y="5303242"/>
            <a:ext cx="667881" cy="25653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4213D"/>
                </a:solidFill>
                <a:latin typeface="Nunito Sans" pitchFamily="34" charset="0"/>
                <a:ea typeface="Nunito Sans" pitchFamily="34" charset="-122"/>
                <a:cs typeface="Nunito Sans" pitchFamily="34" charset="-120"/>
              </a:rPr>
              <a:t>0–3 yrs</a:t>
            </a:r>
            <a:endParaRPr lang="en-US" sz="1300" dirty="0"/>
          </a:p>
        </p:txBody>
      </p:sp>
      <p:sp>
        <p:nvSpPr>
          <p:cNvPr id="7" name="Text 5"/>
          <p:cNvSpPr/>
          <p:nvPr/>
        </p:nvSpPr>
        <p:spPr>
          <a:xfrm>
            <a:off x="2229862" y="4834632"/>
            <a:ext cx="378976" cy="309860"/>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4A5568"/>
                </a:solidFill>
                <a:latin typeface="Nunito Sans" pitchFamily="34" charset="0"/>
                <a:ea typeface="Nunito Sans" pitchFamily="34" charset="-122"/>
                <a:cs typeface="Nunito Sans" pitchFamily="34" charset="-120"/>
              </a:rPr>
              <a:t>1%</a:t>
            </a:r>
            <a:endParaRPr lang="en-US" sz="1600" dirty="0"/>
          </a:p>
        </p:txBody>
      </p:sp>
      <p:sp>
        <p:nvSpPr>
          <p:cNvPr id="8" name="Shape 6"/>
          <p:cNvSpPr/>
          <p:nvPr/>
        </p:nvSpPr>
        <p:spPr>
          <a:xfrm>
            <a:off x="2070100" y="5182592"/>
            <a:ext cx="698500" cy="57150"/>
          </a:xfrm>
          <a:prstGeom prst="rect">
            <a:avLst/>
          </a:prstGeom>
          <a:solidFill>
            <a:srgbClr val="9AA5B8"/>
          </a:solidFill>
          <a:ln/>
        </p:spPr>
      </p:sp>
      <p:sp>
        <p:nvSpPr>
          <p:cNvPr id="9" name="Text 7"/>
          <p:cNvSpPr/>
          <p:nvPr/>
        </p:nvSpPr>
        <p:spPr>
          <a:xfrm>
            <a:off x="2085385" y="5303242"/>
            <a:ext cx="667881" cy="25653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4213D"/>
                </a:solidFill>
                <a:latin typeface="Nunito Sans" pitchFamily="34" charset="0"/>
                <a:ea typeface="Nunito Sans" pitchFamily="34" charset="-122"/>
                <a:cs typeface="Nunito Sans" pitchFamily="34" charset="-120"/>
              </a:rPr>
              <a:t>3–6 yrs</a:t>
            </a:r>
            <a:endParaRPr lang="en-US" sz="1300" dirty="0"/>
          </a:p>
        </p:txBody>
      </p:sp>
      <p:sp>
        <p:nvSpPr>
          <p:cNvPr id="10" name="Text 8"/>
          <p:cNvSpPr/>
          <p:nvPr/>
        </p:nvSpPr>
        <p:spPr>
          <a:xfrm>
            <a:off x="3360162" y="4713982"/>
            <a:ext cx="378976" cy="309860"/>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4A5568"/>
                </a:solidFill>
                <a:latin typeface="Nunito Sans" pitchFamily="34" charset="0"/>
                <a:ea typeface="Nunito Sans" pitchFamily="34" charset="-122"/>
                <a:cs typeface="Nunito Sans" pitchFamily="34" charset="-120"/>
              </a:rPr>
              <a:t>3%</a:t>
            </a:r>
            <a:endParaRPr lang="en-US" sz="1600" dirty="0"/>
          </a:p>
        </p:txBody>
      </p:sp>
      <p:sp>
        <p:nvSpPr>
          <p:cNvPr id="11" name="Shape 9"/>
          <p:cNvSpPr/>
          <p:nvPr/>
        </p:nvSpPr>
        <p:spPr>
          <a:xfrm>
            <a:off x="3200400" y="5061942"/>
            <a:ext cx="698500" cy="177800"/>
          </a:xfrm>
          <a:custGeom>
            <a:avLst/>
            <a:gdLst/>
            <a:ahLst/>
            <a:cxnLst/>
            <a:rect l="l" t="t" r="r" b="b"/>
            <a:pathLst>
              <a:path w="698500" h="177800">
                <a:moveTo>
                  <a:pt x="38100" y="0"/>
                </a:moveTo>
                <a:lnTo>
                  <a:pt x="660400" y="0"/>
                </a:lnTo>
                <a:arcTo hR="38100" wR="38100" stAng="16200000" swAng="5400000"/>
                <a:lnTo>
                  <a:pt x="698500" y="177800"/>
                </a:lnTo>
                <a:lnTo>
                  <a:pt x="0" y="177800"/>
                </a:lnTo>
                <a:lnTo>
                  <a:pt x="0" y="38100"/>
                </a:lnTo>
                <a:arcTo hR="38100" wR="38100" stAng="10800000" swAng="5400000"/>
                <a:close/>
              </a:path>
            </a:pathLst>
          </a:custGeom>
          <a:solidFill>
            <a:srgbClr val="9AA5B8"/>
          </a:solidFill>
          <a:ln/>
        </p:spPr>
      </p:sp>
      <p:sp>
        <p:nvSpPr>
          <p:cNvPr id="12" name="Text 10"/>
          <p:cNvSpPr/>
          <p:nvPr/>
        </p:nvSpPr>
        <p:spPr>
          <a:xfrm>
            <a:off x="3215685" y="5303242"/>
            <a:ext cx="667881" cy="25653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4213D"/>
                </a:solidFill>
                <a:latin typeface="Nunito Sans" pitchFamily="34" charset="0"/>
                <a:ea typeface="Nunito Sans" pitchFamily="34" charset="-122"/>
                <a:cs typeface="Nunito Sans" pitchFamily="34" charset="-120"/>
              </a:rPr>
              <a:t>6–9 yrs</a:t>
            </a:r>
            <a:endParaRPr lang="en-US" sz="1300" dirty="0"/>
          </a:p>
        </p:txBody>
      </p:sp>
      <p:sp>
        <p:nvSpPr>
          <p:cNvPr id="13" name="Text 11"/>
          <p:cNvSpPr/>
          <p:nvPr/>
        </p:nvSpPr>
        <p:spPr>
          <a:xfrm>
            <a:off x="4490462" y="4339332"/>
            <a:ext cx="378976" cy="309860"/>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C0631A"/>
                </a:solidFill>
                <a:latin typeface="Nunito Sans" pitchFamily="34" charset="0"/>
                <a:ea typeface="Nunito Sans" pitchFamily="34" charset="-122"/>
                <a:cs typeface="Nunito Sans" pitchFamily="34" charset="-120"/>
              </a:rPr>
              <a:t>9%</a:t>
            </a:r>
            <a:endParaRPr lang="en-US" sz="1600" dirty="0"/>
          </a:p>
        </p:txBody>
      </p:sp>
      <p:sp>
        <p:nvSpPr>
          <p:cNvPr id="14" name="Shape 12"/>
          <p:cNvSpPr/>
          <p:nvPr/>
        </p:nvSpPr>
        <p:spPr>
          <a:xfrm>
            <a:off x="4330700" y="4687292"/>
            <a:ext cx="698500" cy="552450"/>
          </a:xfrm>
          <a:custGeom>
            <a:avLst/>
            <a:gdLst/>
            <a:ahLst/>
            <a:cxnLst/>
            <a:rect l="l" t="t" r="r" b="b"/>
            <a:pathLst>
              <a:path w="698500" h="552450">
                <a:moveTo>
                  <a:pt x="38100" y="0"/>
                </a:moveTo>
                <a:lnTo>
                  <a:pt x="660400" y="0"/>
                </a:lnTo>
                <a:arcTo hR="38100" wR="38100" stAng="16200000" swAng="5400000"/>
                <a:lnTo>
                  <a:pt x="698500" y="552450"/>
                </a:lnTo>
                <a:lnTo>
                  <a:pt x="0" y="552450"/>
                </a:lnTo>
                <a:lnTo>
                  <a:pt x="0" y="38100"/>
                </a:lnTo>
                <a:arcTo hR="38100" wR="38100" stAng="10800000" swAng="5400000"/>
                <a:close/>
              </a:path>
            </a:pathLst>
          </a:custGeom>
          <a:solidFill>
            <a:srgbClr val="D98A4E"/>
          </a:solidFill>
          <a:ln/>
        </p:spPr>
      </p:sp>
      <p:sp>
        <p:nvSpPr>
          <p:cNvPr id="15" name="Text 13"/>
          <p:cNvSpPr/>
          <p:nvPr/>
        </p:nvSpPr>
        <p:spPr>
          <a:xfrm>
            <a:off x="4286567" y="5303242"/>
            <a:ext cx="786765" cy="25653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4213D"/>
                </a:solidFill>
                <a:latin typeface="Nunito Sans" pitchFamily="34" charset="0"/>
                <a:ea typeface="Nunito Sans" pitchFamily="34" charset="-122"/>
                <a:cs typeface="Nunito Sans" pitchFamily="34" charset="-120"/>
              </a:rPr>
              <a:t>9–12 yrs</a:t>
            </a:r>
            <a:endParaRPr lang="en-US" sz="1300" dirty="0"/>
          </a:p>
        </p:txBody>
      </p:sp>
      <p:sp>
        <p:nvSpPr>
          <p:cNvPr id="16" name="Text 14"/>
          <p:cNvSpPr/>
          <p:nvPr/>
        </p:nvSpPr>
        <p:spPr>
          <a:xfrm>
            <a:off x="5547603" y="3723382"/>
            <a:ext cx="525244" cy="309860"/>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C0631A"/>
                </a:solidFill>
                <a:latin typeface="Nunito Sans" pitchFamily="34" charset="0"/>
                <a:ea typeface="Nunito Sans" pitchFamily="34" charset="-122"/>
                <a:cs typeface="Nunito Sans" pitchFamily="34" charset="-120"/>
              </a:rPr>
              <a:t>18%</a:t>
            </a:r>
            <a:endParaRPr lang="en-US" sz="1600" dirty="0"/>
          </a:p>
        </p:txBody>
      </p:sp>
      <p:sp>
        <p:nvSpPr>
          <p:cNvPr id="17" name="Shape 15"/>
          <p:cNvSpPr/>
          <p:nvPr/>
        </p:nvSpPr>
        <p:spPr>
          <a:xfrm>
            <a:off x="5461000" y="4071342"/>
            <a:ext cx="698500" cy="1168400"/>
          </a:xfrm>
          <a:custGeom>
            <a:avLst/>
            <a:gdLst/>
            <a:ahLst/>
            <a:cxnLst/>
            <a:rect l="l" t="t" r="r" b="b"/>
            <a:pathLst>
              <a:path w="698500" h="1168400">
                <a:moveTo>
                  <a:pt x="38100" y="0"/>
                </a:moveTo>
                <a:lnTo>
                  <a:pt x="660400" y="0"/>
                </a:lnTo>
                <a:arcTo hR="38100" wR="38100" stAng="16200000" swAng="5400000"/>
                <a:lnTo>
                  <a:pt x="698500" y="1168400"/>
                </a:lnTo>
                <a:lnTo>
                  <a:pt x="0" y="1168400"/>
                </a:lnTo>
                <a:lnTo>
                  <a:pt x="0" y="38100"/>
                </a:lnTo>
                <a:arcTo hR="38100" wR="38100" stAng="10800000" swAng="5400000"/>
                <a:close/>
              </a:path>
            </a:pathLst>
          </a:custGeom>
          <a:solidFill>
            <a:srgbClr val="C0631A"/>
          </a:solidFill>
          <a:ln/>
        </p:spPr>
      </p:sp>
      <p:sp>
        <p:nvSpPr>
          <p:cNvPr id="18" name="Text 16"/>
          <p:cNvSpPr/>
          <p:nvPr/>
        </p:nvSpPr>
        <p:spPr>
          <a:xfrm>
            <a:off x="5357401" y="5303242"/>
            <a:ext cx="905649" cy="25653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4213D"/>
                </a:solidFill>
                <a:latin typeface="Nunito Sans" pitchFamily="34" charset="0"/>
                <a:ea typeface="Nunito Sans" pitchFamily="34" charset="-122"/>
                <a:cs typeface="Nunito Sans" pitchFamily="34" charset="-120"/>
              </a:rPr>
              <a:t>12–15 yrs</a:t>
            </a:r>
            <a:endParaRPr lang="en-US" sz="1300" dirty="0"/>
          </a:p>
        </p:txBody>
      </p:sp>
      <p:sp>
        <p:nvSpPr>
          <p:cNvPr id="19" name="Text 17"/>
          <p:cNvSpPr/>
          <p:nvPr/>
        </p:nvSpPr>
        <p:spPr>
          <a:xfrm>
            <a:off x="6677903" y="2605782"/>
            <a:ext cx="525244" cy="309860"/>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C0631A"/>
                </a:solidFill>
                <a:latin typeface="Nunito Sans" pitchFamily="34" charset="0"/>
                <a:ea typeface="Nunito Sans" pitchFamily="34" charset="-122"/>
                <a:cs typeface="Nunito Sans" pitchFamily="34" charset="-120"/>
              </a:rPr>
              <a:t>35%</a:t>
            </a:r>
            <a:endParaRPr lang="en-US" sz="1600" dirty="0"/>
          </a:p>
        </p:txBody>
      </p:sp>
      <p:sp>
        <p:nvSpPr>
          <p:cNvPr id="20" name="Shape 18"/>
          <p:cNvSpPr/>
          <p:nvPr/>
        </p:nvSpPr>
        <p:spPr>
          <a:xfrm>
            <a:off x="6591300" y="2953742"/>
            <a:ext cx="698500" cy="2286000"/>
          </a:xfrm>
          <a:custGeom>
            <a:avLst/>
            <a:gdLst/>
            <a:ahLst/>
            <a:cxnLst/>
            <a:rect l="l" t="t" r="r" b="b"/>
            <a:pathLst>
              <a:path w="698500" h="2286000">
                <a:moveTo>
                  <a:pt x="38100" y="0"/>
                </a:moveTo>
                <a:lnTo>
                  <a:pt x="660400" y="0"/>
                </a:lnTo>
                <a:arcTo hR="38100" wR="38100" stAng="16200000" swAng="5400000"/>
                <a:lnTo>
                  <a:pt x="698500" y="2286000"/>
                </a:lnTo>
                <a:lnTo>
                  <a:pt x="0" y="2286000"/>
                </a:lnTo>
                <a:lnTo>
                  <a:pt x="0" y="38100"/>
                </a:lnTo>
                <a:arcTo hR="38100" wR="38100" stAng="10800000" swAng="5400000"/>
                <a:close/>
              </a:path>
            </a:pathLst>
          </a:custGeom>
          <a:solidFill>
            <a:srgbClr val="C0631A"/>
          </a:solidFill>
          <a:ln/>
        </p:spPr>
      </p:sp>
      <p:sp>
        <p:nvSpPr>
          <p:cNvPr id="21" name="Text 19"/>
          <p:cNvSpPr/>
          <p:nvPr/>
        </p:nvSpPr>
        <p:spPr>
          <a:xfrm>
            <a:off x="6487701" y="5303242"/>
            <a:ext cx="905649" cy="25653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4213D"/>
                </a:solidFill>
                <a:latin typeface="Nunito Sans" pitchFamily="34" charset="0"/>
                <a:ea typeface="Nunito Sans" pitchFamily="34" charset="-122"/>
                <a:cs typeface="Nunito Sans" pitchFamily="34" charset="-120"/>
              </a:rPr>
              <a:t>15–20 yrs</a:t>
            </a:r>
            <a:endParaRPr lang="en-US" sz="1300" dirty="0"/>
          </a:p>
        </p:txBody>
      </p:sp>
      <p:sp>
        <p:nvSpPr>
          <p:cNvPr id="22" name="Shape 20"/>
          <p:cNvSpPr/>
          <p:nvPr/>
        </p:nvSpPr>
        <p:spPr>
          <a:xfrm>
            <a:off x="7826375" y="2507506"/>
            <a:ext cx="3549650" cy="3023691"/>
          </a:xfrm>
          <a:prstGeom prst="roundRect">
            <a:avLst>
              <a:gd name="adj" fmla="val 4095"/>
            </a:avLst>
          </a:prstGeom>
          <a:solidFill>
            <a:srgbClr val="FFFFFF"/>
          </a:solidFill>
          <a:ln w="6350">
            <a:solidFill>
              <a:srgbClr val="E2DED3"/>
            </a:solidFill>
            <a:prstDash val="solid"/>
          </a:ln>
        </p:spPr>
      </p:sp>
      <p:sp>
        <p:nvSpPr>
          <p:cNvPr id="23" name="Text 21"/>
          <p:cNvSpPr/>
          <p:nvPr/>
        </p:nvSpPr>
        <p:spPr>
          <a:xfrm>
            <a:off x="8083550" y="2764681"/>
            <a:ext cx="3126359" cy="523180"/>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4A5568"/>
                </a:solidFill>
                <a:latin typeface="Nunito Sans" pitchFamily="34" charset="0"/>
                <a:ea typeface="Nunito Sans" pitchFamily="34" charset="-122"/>
                <a:cs typeface="Nunito Sans" pitchFamily="34" charset="-120"/>
              </a:rPr>
              <a:t>SHARE OF RECORDS RATED HIGH-RISK</a:t>
            </a:r>
            <a:endParaRPr lang="en-US" sz="1400" dirty="0"/>
          </a:p>
        </p:txBody>
      </p:sp>
      <p:sp>
        <p:nvSpPr>
          <p:cNvPr id="24" name="Text 22"/>
          <p:cNvSpPr/>
          <p:nvPr/>
        </p:nvSpPr>
        <p:spPr>
          <a:xfrm>
            <a:off x="8083550" y="3414861"/>
            <a:ext cx="3126359"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Nunito Sans" pitchFamily="34" charset="0"/>
                <a:ea typeface="Nunito Sans" pitchFamily="34" charset="-122"/>
                <a:cs typeface="Nunito Sans" pitchFamily="34" charset="-120"/>
              </a:rPr>
              <a:t>Equipment </a:t>
            </a:r>
            <a:r>
              <a:rPr lang="en-US" sz="1600" b="1" dirty="0">
                <a:solidFill>
                  <a:srgbClr val="14213D"/>
                </a:solidFill>
                <a:latin typeface="Nunito Sans" pitchFamily="34" charset="0"/>
                <a:ea typeface="Nunito Sans" pitchFamily="34" charset="-122"/>
                <a:cs typeface="Nunito Sans" pitchFamily="34" charset="-120"/>
              </a:rPr>
              <a:t>over 10 years old in poor condition</a:t>
            </a:r>
            <a:r>
              <a:rPr lang="en-US" sz="1600" dirty="0">
                <a:solidFill>
                  <a:srgbClr val="14213D"/>
                </a:solidFill>
                <a:latin typeface="Nunito Sans" pitchFamily="34" charset="0"/>
                <a:ea typeface="Nunito Sans" pitchFamily="34" charset="-122"/>
                <a:cs typeface="Nunito Sans" pitchFamily="34" charset="-120"/>
              </a:rPr>
              <a:t> accounts for 63% of all high-risk cases.</a:t>
            </a:r>
            <a:endParaRPr lang="en-US" sz="1600" dirty="0"/>
          </a:p>
        </p:txBody>
      </p:sp>
      <p:sp>
        <p:nvSpPr>
          <p:cNvPr id="25" name="Text 23"/>
          <p:cNvSpPr/>
          <p:nvPr/>
        </p:nvSpPr>
        <p:spPr>
          <a:xfrm>
            <a:off x="8083550" y="4420642"/>
            <a:ext cx="3126359"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Nunito Sans" pitchFamily="34" charset="0"/>
                <a:ea typeface="Nunito Sans" pitchFamily="34" charset="-122"/>
                <a:cs typeface="Nunito Sans" pitchFamily="34" charset="-120"/>
              </a:rPr>
              <a:t>Railway signalling and oil and gas pumps are the most exposed.</a:t>
            </a:r>
            <a:endParaRPr lang="en-US" sz="1600" dirty="0"/>
          </a:p>
        </p:txBody>
      </p:sp>
      <p:sp>
        <p:nvSpPr>
          <p:cNvPr id="26" name="Text 2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unito Sans" pitchFamily="34" charset="0"/>
                <a:ea typeface="Nunito Sans" pitchFamily="34" charset="-122"/>
                <a:cs typeface="Nunito Sans" pitchFamily="34" charset="-120"/>
              </a:rPr>
              <a:t>289 high-risk records, 6% of the total, carry $25.1M (11%) of all losses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DEAE1"/>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4A5568"/>
                </a:solidFill>
                <a:latin typeface="Nunito Sans" pitchFamily="34" charset="0"/>
                <a:ea typeface="Nunito Sans" pitchFamily="34" charset="-122"/>
                <a:cs typeface="Nunito Sans" pitchFamily="34" charset="-120"/>
              </a:rPr>
              <a:t>HOW WE GOT THIS NUMBER · FINDING 4</a:t>
            </a:r>
            <a:endParaRPr lang="en-US" sz="1400" dirty="0"/>
          </a:p>
        </p:txBody>
      </p:sp>
      <p:sp>
        <p:nvSpPr>
          <p:cNvPr id="3" name="Text 1"/>
          <p:cNvSpPr/>
          <p:nvPr>
            <p:ph type="title"/>
          </p:nvPr>
        </p:nvSpPr>
        <p:spPr>
          <a:xfrm>
            <a:off x="812800" y="1315690"/>
            <a:ext cx="10883392" cy="84326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4213D"/>
                </a:solidFill>
                <a:latin typeface="Domine" pitchFamily="18" charset="0"/>
                <a:ea typeface="Domine" pitchFamily="18" charset="-122"/>
                <a:cs typeface="Domine" pitchFamily="18" charset="-120"/>
              </a:rPr>
              <a:t>We sorted records by age and counted how many were rated high-risk</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400250"/>
          <a:ext cx="6591300" cy="2316063"/>
        </p:xfrm>
        <a:graphic>
          <a:graphicData uri="http://schemas.openxmlformats.org/drawingml/2006/table">
            <a:tbl>
              <a:tblPr/>
              <a:tblGrid>
                <a:gridCol w="1845564"/>
                <a:gridCol w="1581912"/>
                <a:gridCol w="1581912"/>
                <a:gridCol w="1581912"/>
              </a:tblGrid>
              <a:tr h="386011">
                <a:tc>
                  <a:txBody>
                    <a:bodyPr/>
                    <a:lstStyle/>
                    <a:p>
                      <a:pPr indent="0" marL="0">
                        <a:lnSpc>
                          <a:spcPts val="1960"/>
                        </a:lnSpc>
                        <a:buNone/>
                      </a:pPr>
                      <a:r>
                        <a:rPr lang="en-US" sz="1400" b="1" dirty="0">
                          <a:solidFill>
                            <a:srgbClr val="14213D"/>
                          </a:solidFill>
                          <a:latin typeface="Nunito Sans" pitchFamily="34" charset="0"/>
                          <a:ea typeface="Nunito Sans" pitchFamily="34" charset="-122"/>
                          <a:cs typeface="Nunito Sans" pitchFamily="34" charset="-120"/>
                        </a:rPr>
                        <a:t>Age</a:t>
                      </a:r>
                      <a:endParaRPr lang="en-US" sz="1400" dirty="0">
                        <a:latin typeface="Nunito Sans" charset="0"/>
                        <a:ea typeface="Nunito Sans" charset="0"/>
                        <a:cs typeface="Nunito Sans" charset="0"/>
                      </a:endParaRPr>
                    </a:p>
                  </a:txBody>
                  <a:tcPr marL="62230" marR="62230" marT="62230" marB="62230" anchor="t">
                    <a:lnL w="12700" cap="flat" cmpd="sng" algn="ctr">
                      <a:solidFill>
                        <a:srgbClr val="BDBBB4"/>
                      </a:solidFill>
                      <a:prstDash val="solid"/>
                      <a:round/>
                      <a:headEnd type="none" w="med" len="med"/>
                      <a:tailEnd type="none" w="med" len="med"/>
                    </a:lnL>
                    <a:lnR w="12700" cap="flat" cmpd="sng" algn="ctr">
                      <a:solidFill>
                        <a:srgbClr val="B0AEA7"/>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B0AEA7"/>
                      </a:solidFill>
                      <a:prstDash val="solid"/>
                      <a:round/>
                      <a:headEnd type="none" w="med" len="med"/>
                      <a:tailEnd type="none" w="med" len="med"/>
                    </a:lnB>
                    <a:solidFill>
                      <a:srgbClr val="DCD9D1"/>
                    </a:solidFill>
                  </a:tcPr>
                </a:tc>
                <a:tc>
                  <a:txBody>
                    <a:bodyPr/>
                    <a:lstStyle/>
                    <a:p>
                      <a:pPr algn="r" indent="0" marL="0">
                        <a:lnSpc>
                          <a:spcPts val="1960"/>
                        </a:lnSpc>
                        <a:buNone/>
                      </a:pPr>
                      <a:r>
                        <a:rPr lang="en-US" sz="1400" b="1" dirty="0">
                          <a:solidFill>
                            <a:srgbClr val="14213D"/>
                          </a:solidFill>
                          <a:latin typeface="Nunito Sans" pitchFamily="34" charset="0"/>
                          <a:ea typeface="Nunito Sans" pitchFamily="34" charset="-122"/>
                          <a:cs typeface="Nunito Sans" pitchFamily="34" charset="-120"/>
                        </a:rPr>
                        <a:t>Records</a:t>
                      </a:r>
                      <a:endParaRPr lang="en-US" sz="1400" dirty="0">
                        <a:latin typeface="Nunito Sans" charset="0"/>
                        <a:ea typeface="Nunito Sans" charset="0"/>
                        <a:cs typeface="Nunito Sans" charset="0"/>
                      </a:endParaRPr>
                    </a:p>
                  </a:txBody>
                  <a:tcPr marL="62230" marR="62230" marT="62230" marB="62230" anchor="t">
                    <a:lnL w="12700" cap="flat" cmpd="sng" algn="ctr">
                      <a:solidFill>
                        <a:srgbClr val="B0AEA7"/>
                      </a:solidFill>
                      <a:prstDash val="solid"/>
                      <a:round/>
                      <a:headEnd type="none" w="med" len="med"/>
                      <a:tailEnd type="none" w="med" len="med"/>
                    </a:lnL>
                    <a:lnR w="12700" cap="flat" cmpd="sng" algn="ctr">
                      <a:solidFill>
                        <a:srgbClr val="B0AEA7"/>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B0AEA7"/>
                      </a:solidFill>
                      <a:prstDash val="solid"/>
                      <a:round/>
                      <a:headEnd type="none" w="med" len="med"/>
                      <a:tailEnd type="none" w="med" len="med"/>
                    </a:lnB>
                    <a:solidFill>
                      <a:srgbClr val="DCD9D1"/>
                    </a:solidFill>
                  </a:tcPr>
                </a:tc>
                <a:tc>
                  <a:txBody>
                    <a:bodyPr/>
                    <a:lstStyle/>
                    <a:p>
                      <a:pPr algn="r" indent="0" marL="0">
                        <a:lnSpc>
                          <a:spcPts val="1960"/>
                        </a:lnSpc>
                        <a:buNone/>
                      </a:pPr>
                      <a:r>
                        <a:rPr lang="en-US" sz="1400" b="1" dirty="0">
                          <a:solidFill>
                            <a:srgbClr val="14213D"/>
                          </a:solidFill>
                          <a:latin typeface="Nunito Sans" pitchFamily="34" charset="0"/>
                          <a:ea typeface="Nunito Sans" pitchFamily="34" charset="-122"/>
                          <a:cs typeface="Nunito Sans" pitchFamily="34" charset="-120"/>
                        </a:rPr>
                        <a:t>High-risk</a:t>
                      </a:r>
                      <a:endParaRPr lang="en-US" sz="1400" dirty="0">
                        <a:latin typeface="Nunito Sans" charset="0"/>
                        <a:ea typeface="Nunito Sans" charset="0"/>
                        <a:cs typeface="Nunito Sans" charset="0"/>
                      </a:endParaRPr>
                    </a:p>
                  </a:txBody>
                  <a:tcPr marL="62230" marR="62230" marT="62230" marB="62230" anchor="t">
                    <a:lnL w="12700" cap="flat" cmpd="sng" algn="ctr">
                      <a:solidFill>
                        <a:srgbClr val="B0AEA7"/>
                      </a:solidFill>
                      <a:prstDash val="solid"/>
                      <a:round/>
                      <a:headEnd type="none" w="med" len="med"/>
                      <a:tailEnd type="none" w="med" len="med"/>
                    </a:lnL>
                    <a:lnR w="12700" cap="flat" cmpd="sng" algn="ctr">
                      <a:solidFill>
                        <a:srgbClr val="B0AEA7"/>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B0AEA7"/>
                      </a:solidFill>
                      <a:prstDash val="solid"/>
                      <a:round/>
                      <a:headEnd type="none" w="med" len="med"/>
                      <a:tailEnd type="none" w="med" len="med"/>
                    </a:lnB>
                    <a:solidFill>
                      <a:srgbClr val="DCD9D1"/>
                    </a:solidFill>
                  </a:tcPr>
                </a:tc>
                <a:tc>
                  <a:txBody>
                    <a:bodyPr/>
                    <a:lstStyle/>
                    <a:p>
                      <a:pPr algn="r" indent="0" marL="0">
                        <a:lnSpc>
                          <a:spcPts val="1960"/>
                        </a:lnSpc>
                        <a:buNone/>
                      </a:pPr>
                      <a:r>
                        <a:rPr lang="en-US" sz="1400" b="1" dirty="0">
                          <a:solidFill>
                            <a:srgbClr val="14213D"/>
                          </a:solidFill>
                          <a:latin typeface="Nunito Sans" pitchFamily="34" charset="0"/>
                          <a:ea typeface="Nunito Sans" pitchFamily="34" charset="-122"/>
                          <a:cs typeface="Nunito Sans" pitchFamily="34" charset="-120"/>
                        </a:rPr>
                        <a:t>Share</a:t>
                      </a:r>
                      <a:endParaRPr lang="en-US" sz="1400" dirty="0">
                        <a:latin typeface="Nunito Sans" charset="0"/>
                        <a:ea typeface="Nunito Sans" charset="0"/>
                        <a:cs typeface="Nunito Sans" charset="0"/>
                      </a:endParaRPr>
                    </a:p>
                  </a:txBody>
                  <a:tcPr marL="62230" marR="62230" marT="62230" marB="62230" anchor="t">
                    <a:lnL w="12700" cap="flat" cmpd="sng" algn="ctr">
                      <a:solidFill>
                        <a:srgbClr val="B0AEA7"/>
                      </a:solidFill>
                      <a:prstDash val="solid"/>
                      <a:round/>
                      <a:headEnd type="none" w="med" len="med"/>
                      <a:tailEnd type="none" w="med" len="med"/>
                    </a:lnL>
                    <a:lnR w="12700" cap="flat" cmpd="sng" algn="ctr">
                      <a:solidFill>
                        <a:srgbClr val="B0AEA7"/>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B0AEA7"/>
                      </a:solidFill>
                      <a:prstDash val="solid"/>
                      <a:round/>
                      <a:headEnd type="none" w="med" len="med"/>
                      <a:tailEnd type="none" w="med" len="med"/>
                    </a:lnB>
                    <a:solidFill>
                      <a:srgbClr val="DCD9D1"/>
                    </a:solidFill>
                  </a:tcPr>
                </a:tc>
              </a:tr>
              <a:tr h="386011">
                <a:tc>
                  <a:txBody>
                    <a:bodyPr/>
                    <a:lstStyle/>
                    <a:p>
                      <a:pP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0–6 years</a:t>
                      </a:r>
                      <a:endParaRPr lang="en-US" sz="1400" dirty="0">
                        <a:latin typeface="Nunito Sans" charset="0"/>
                        <a:ea typeface="Nunito Sans" charset="0"/>
                        <a:cs typeface="Nunito Sans" charset="0"/>
                      </a:endParaRPr>
                    </a:p>
                  </a:txBody>
                  <a:tcPr marL="62230" marR="62230" marT="62230" marB="62230" anchor="t">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B0AEA7"/>
                      </a:solidFill>
                      <a:prstDash val="solid"/>
                      <a:round/>
                      <a:headEnd type="none" w="med" len="med"/>
                      <a:tailEnd type="none" w="med" len="med"/>
                    </a:lnT>
                    <a:lnB w="12700" cap="flat" cmpd="sng" algn="ctr">
                      <a:solidFill>
                        <a:srgbClr val="BDBBB4"/>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1,365</a:t>
                      </a:r>
                      <a:endParaRPr lang="en-US" sz="1400" dirty="0">
                        <a:latin typeface="Nunito Sans" charset="0"/>
                        <a:ea typeface="Nunito Sans" charset="0"/>
                        <a:cs typeface="Nunito Sans" charset="0"/>
                      </a:endParaRPr>
                    </a:p>
                  </a:txBody>
                  <a:tcPr marL="62230" marR="62230" marT="62230" marB="62230" anchor="t">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B0AEA7"/>
                      </a:solidFill>
                      <a:prstDash val="solid"/>
                      <a:round/>
                      <a:headEnd type="none" w="med" len="med"/>
                      <a:tailEnd type="none" w="med" len="med"/>
                    </a:lnT>
                    <a:lnB w="12700" cap="flat" cmpd="sng" algn="ctr">
                      <a:solidFill>
                        <a:srgbClr val="BDBBB4"/>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9</a:t>
                      </a:r>
                      <a:endParaRPr lang="en-US" sz="1400" dirty="0">
                        <a:latin typeface="Nunito Sans" charset="0"/>
                        <a:ea typeface="Nunito Sans" charset="0"/>
                        <a:cs typeface="Nunito Sans" charset="0"/>
                      </a:endParaRPr>
                    </a:p>
                  </a:txBody>
                  <a:tcPr marL="62230" marR="62230" marT="62230" marB="62230" anchor="t">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B0AEA7"/>
                      </a:solidFill>
                      <a:prstDash val="solid"/>
                      <a:round/>
                      <a:headEnd type="none" w="med" len="med"/>
                      <a:tailEnd type="none" w="med" len="med"/>
                    </a:lnT>
                    <a:lnB w="12700" cap="flat" cmpd="sng" algn="ctr">
                      <a:solidFill>
                        <a:srgbClr val="BDBBB4"/>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1%</a:t>
                      </a:r>
                      <a:endParaRPr lang="en-US" sz="1400" dirty="0">
                        <a:latin typeface="Nunito Sans" charset="0"/>
                        <a:ea typeface="Nunito Sans" charset="0"/>
                        <a:cs typeface="Nunito Sans" charset="0"/>
                      </a:endParaRPr>
                    </a:p>
                  </a:txBody>
                  <a:tcPr marL="62230" marR="62230" marT="62230" marB="62230" anchor="t">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B0AEA7"/>
                      </a:solidFill>
                      <a:prstDash val="solid"/>
                      <a:round/>
                      <a:headEnd type="none" w="med" len="med"/>
                      <a:tailEnd type="none" w="med" len="med"/>
                    </a:lnT>
                    <a:lnB w="12700" cap="flat" cmpd="sng" algn="ctr">
                      <a:solidFill>
                        <a:srgbClr val="BDBBB4"/>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6–9 years</a:t>
                      </a:r>
                      <a:endParaRPr lang="en-US" sz="1400" dirty="0">
                        <a:latin typeface="Nunito Sans" charset="0"/>
                        <a:ea typeface="Nunito Sans" charset="0"/>
                        <a:cs typeface="Nunito Sans" charset="0"/>
                      </a:endParaRPr>
                    </a:p>
                  </a:txBody>
                  <a:tcPr marL="62230" marR="62230" marT="62230" marB="62230" anchor="t">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BDBBB4"/>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1,710</a:t>
                      </a:r>
                      <a:endParaRPr lang="en-US" sz="1400" dirty="0">
                        <a:latin typeface="Nunito Sans" charset="0"/>
                        <a:ea typeface="Nunito Sans" charset="0"/>
                        <a:cs typeface="Nunito Sans" charset="0"/>
                      </a:endParaRPr>
                    </a:p>
                  </a:txBody>
                  <a:tcPr marL="62230" marR="62230" marT="62230" marB="62230" anchor="t">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BDBBB4"/>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46</a:t>
                      </a:r>
                      <a:endParaRPr lang="en-US" sz="1400" dirty="0">
                        <a:latin typeface="Nunito Sans" charset="0"/>
                        <a:ea typeface="Nunito Sans" charset="0"/>
                        <a:cs typeface="Nunito Sans" charset="0"/>
                      </a:endParaRPr>
                    </a:p>
                  </a:txBody>
                  <a:tcPr marL="62230" marR="62230" marT="62230" marB="62230" anchor="t">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BDBBB4"/>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3%</a:t>
                      </a:r>
                      <a:endParaRPr lang="en-US" sz="1400" dirty="0">
                        <a:latin typeface="Nunito Sans" charset="0"/>
                        <a:ea typeface="Nunito Sans" charset="0"/>
                        <a:cs typeface="Nunito Sans" charset="0"/>
                      </a:endParaRPr>
                    </a:p>
                  </a:txBody>
                  <a:tcPr marL="62230" marR="62230" marT="62230" marB="62230" anchor="t">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BDBBB4"/>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9–12 years</a:t>
                      </a:r>
                      <a:endParaRPr lang="en-US" sz="1400" dirty="0">
                        <a:latin typeface="Nunito Sans" charset="0"/>
                        <a:ea typeface="Nunito Sans" charset="0"/>
                        <a:cs typeface="Nunito Sans" charset="0"/>
                      </a:endParaRPr>
                    </a:p>
                  </a:txBody>
                  <a:tcPr marL="62230" marR="62230" marT="62230" marB="62230" anchor="t">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BDBBB4"/>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1,341</a:t>
                      </a:r>
                      <a:endParaRPr lang="en-US" sz="1400" dirty="0">
                        <a:latin typeface="Nunito Sans" charset="0"/>
                        <a:ea typeface="Nunito Sans" charset="0"/>
                        <a:cs typeface="Nunito Sans" charset="0"/>
                      </a:endParaRPr>
                    </a:p>
                  </a:txBody>
                  <a:tcPr marL="62230" marR="62230" marT="62230" marB="62230" anchor="t">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BDBBB4"/>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114</a:t>
                      </a:r>
                      <a:endParaRPr lang="en-US" sz="1400" dirty="0">
                        <a:latin typeface="Nunito Sans" charset="0"/>
                        <a:ea typeface="Nunito Sans" charset="0"/>
                        <a:cs typeface="Nunito Sans" charset="0"/>
                      </a:endParaRPr>
                    </a:p>
                  </a:txBody>
                  <a:tcPr marL="62230" marR="62230" marT="62230" marB="62230" anchor="t">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BDBBB4"/>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9%</a:t>
                      </a:r>
                      <a:endParaRPr lang="en-US" sz="1400" dirty="0">
                        <a:latin typeface="Nunito Sans" charset="0"/>
                        <a:ea typeface="Nunito Sans" charset="0"/>
                        <a:cs typeface="Nunito Sans" charset="0"/>
                      </a:endParaRPr>
                    </a:p>
                  </a:txBody>
                  <a:tcPr marL="62230" marR="62230" marT="62230" marB="62230" anchor="t">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BDBBB4"/>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12–15 years</a:t>
                      </a:r>
                      <a:endParaRPr lang="en-US" sz="1400" dirty="0">
                        <a:latin typeface="Nunito Sans" charset="0"/>
                        <a:ea typeface="Nunito Sans" charset="0"/>
                        <a:cs typeface="Nunito Sans" charset="0"/>
                      </a:endParaRPr>
                    </a:p>
                  </a:txBody>
                  <a:tcPr marL="62230" marR="62230" marT="62230" marB="62230" anchor="t">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BDBBB4"/>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499</a:t>
                      </a:r>
                      <a:endParaRPr lang="en-US" sz="1400" dirty="0">
                        <a:latin typeface="Nunito Sans" charset="0"/>
                        <a:ea typeface="Nunito Sans" charset="0"/>
                        <a:cs typeface="Nunito Sans" charset="0"/>
                      </a:endParaRPr>
                    </a:p>
                  </a:txBody>
                  <a:tcPr marL="62230" marR="62230" marT="62230" marB="62230" anchor="t">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BDBBB4"/>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90</a:t>
                      </a:r>
                      <a:endParaRPr lang="en-US" sz="1400" dirty="0">
                        <a:latin typeface="Nunito Sans" charset="0"/>
                        <a:ea typeface="Nunito Sans" charset="0"/>
                        <a:cs typeface="Nunito Sans" charset="0"/>
                      </a:endParaRPr>
                    </a:p>
                  </a:txBody>
                  <a:tcPr marL="62230" marR="62230" marT="62230" marB="62230" anchor="t">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BDBBB4"/>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18%</a:t>
                      </a:r>
                      <a:endParaRPr lang="en-US" sz="1400" dirty="0">
                        <a:latin typeface="Nunito Sans" charset="0"/>
                        <a:ea typeface="Nunito Sans" charset="0"/>
                        <a:cs typeface="Nunito Sans" charset="0"/>
                      </a:endParaRPr>
                    </a:p>
                  </a:txBody>
                  <a:tcPr marL="62230" marR="62230" marT="62230" marB="62230" anchor="t">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BDBBB4"/>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15–20 years</a:t>
                      </a:r>
                      <a:endParaRPr lang="en-US" sz="1400" dirty="0">
                        <a:latin typeface="Nunito Sans" charset="0"/>
                        <a:ea typeface="Nunito Sans" charset="0"/>
                        <a:cs typeface="Nunito Sans" charset="0"/>
                      </a:endParaRPr>
                    </a:p>
                  </a:txBody>
                  <a:tcPr marL="62230" marR="62230" marT="62230" marB="62230" anchor="t">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BDBBB4"/>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85</a:t>
                      </a:r>
                      <a:endParaRPr lang="en-US" sz="1400" dirty="0">
                        <a:latin typeface="Nunito Sans" charset="0"/>
                        <a:ea typeface="Nunito Sans" charset="0"/>
                        <a:cs typeface="Nunito Sans" charset="0"/>
                      </a:endParaRPr>
                    </a:p>
                  </a:txBody>
                  <a:tcPr marL="62230" marR="62230" marT="62230" marB="62230" anchor="t">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BDBBB4"/>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30</a:t>
                      </a:r>
                      <a:endParaRPr lang="en-US" sz="1400" dirty="0">
                        <a:latin typeface="Nunito Sans" charset="0"/>
                        <a:ea typeface="Nunito Sans" charset="0"/>
                        <a:cs typeface="Nunito Sans" charset="0"/>
                      </a:endParaRPr>
                    </a:p>
                  </a:txBody>
                  <a:tcPr marL="62230" marR="62230" marT="62230" marB="62230" anchor="t">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BDBBB4"/>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35%</a:t>
                      </a:r>
                      <a:endParaRPr lang="en-US" sz="1400" dirty="0">
                        <a:latin typeface="Nunito Sans" charset="0"/>
                        <a:ea typeface="Nunito Sans" charset="0"/>
                        <a:cs typeface="Nunito Sans" charset="0"/>
                      </a:endParaRPr>
                    </a:p>
                  </a:txBody>
                  <a:tcPr marL="62230" marR="62230" marT="62230" marB="62230" anchor="t">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BDBBB4"/>
                      </a:solidFill>
                      <a:prstDash val="solid"/>
                      <a:round/>
                      <a:headEnd type="none" w="med" len="med"/>
                      <a:tailEnd type="none" w="med" len="med"/>
                    </a:lnB>
                  </a:tcPr>
                </a:tc>
              </a:tr>
            </a:tbl>
          </a:graphicData>
        </a:graphic>
      </p:graphicFrame>
      <p:sp>
        <p:nvSpPr>
          <p:cNvPr id="5" name="Text 2"/>
          <p:cNvSpPr/>
          <p:nvPr/>
        </p:nvSpPr>
        <p:spPr>
          <a:xfrm>
            <a:off x="812800" y="4843314"/>
            <a:ext cx="5882630" cy="908050"/>
          </a:xfrm>
          <a:prstGeom prst="roundRect">
            <a:avLst>
              <a:gd name="adj" fmla="val 11189"/>
            </a:avLst>
          </a:prstGeom>
          <a:solidFill>
            <a:srgbClr val="F6F4EE"/>
          </a:solidFill>
          <a:ln/>
        </p:spPr>
        <p:txBody>
          <a:bodyPr wrap="square" lIns="198842" tIns="148042" rIns="36079" bIns="122642" rtlCol="0" anchor="t">
            <a:normAutofit/>
          </a:bodyPr>
          <a:lstStyle/>
          <a:p>
            <a:pPr algn="l" indent="0" marL="0">
              <a:lnSpc>
                <a:spcPts val="2175"/>
              </a:lnSpc>
              <a:buNone/>
            </a:pPr>
            <a:r>
              <a:rPr lang="en-US" sz="1500" b="1" dirty="0">
                <a:solidFill>
                  <a:srgbClr val="14213D"/>
                </a:solidFill>
                <a:latin typeface="Nunito Sans" pitchFamily="34" charset="0"/>
                <a:ea typeface="Nunito Sans" pitchFamily="34" charset="-122"/>
                <a:cs typeface="Nunito Sans" pitchFamily="34" charset="-120"/>
              </a:rPr>
              <a:t>The 63%:</a:t>
            </a:r>
            <a:r>
              <a:rPr lang="en-US" sz="1500" dirty="0">
                <a:solidFill>
                  <a:srgbClr val="14213D"/>
                </a:solidFill>
                <a:latin typeface="Nunito Sans" pitchFamily="34" charset="0"/>
                <a:ea typeface="Nunito Sans" pitchFamily="34" charset="-122"/>
                <a:cs typeface="Nunito Sans" pitchFamily="34" charset="-120"/>
              </a:rPr>
              <a:t> 181 of the 289 high-risk records are over 10 years old </a:t>
            </a:r>
            <a:r>
              <a:rPr lang="en-US" sz="1500" b="1" dirty="0">
                <a:solidFill>
                  <a:srgbClr val="14213D"/>
                </a:solidFill>
                <a:latin typeface="Nunito Sans" pitchFamily="34" charset="0"/>
                <a:ea typeface="Nunito Sans" pitchFamily="34" charset="-122"/>
                <a:cs typeface="Nunito Sans" pitchFamily="34" charset="-120"/>
              </a:rPr>
              <a:t>and</a:t>
            </a:r>
            <a:r>
              <a:rPr lang="en-US" sz="1500" dirty="0">
                <a:solidFill>
                  <a:srgbClr val="14213D"/>
                </a:solidFill>
                <a:latin typeface="Nunito Sans" pitchFamily="34" charset="0"/>
                <a:ea typeface="Nunito Sans" pitchFamily="34" charset="-122"/>
                <a:cs typeface="Nunito Sans" pitchFamily="34" charset="-120"/>
              </a:rPr>
              <a:t> have a condition score below 70.</a:t>
            </a:r>
            <a:endParaRPr lang="en-US" sz="1500" dirty="0"/>
          </a:p>
        </p:txBody>
      </p:sp>
      <p:sp>
        <p:nvSpPr>
          <p:cNvPr id="6" name="Shape 3"/>
          <p:cNvSpPr/>
          <p:nvPr/>
        </p:nvSpPr>
        <p:spPr>
          <a:xfrm>
            <a:off x="6949430" y="2387550"/>
            <a:ext cx="4429770" cy="3363813"/>
          </a:xfrm>
          <a:prstGeom prst="roundRect">
            <a:avLst>
              <a:gd name="adj" fmla="val 3020"/>
            </a:avLst>
          </a:prstGeom>
          <a:solidFill>
            <a:srgbClr val="F6F4EE"/>
          </a:solidFill>
          <a:ln/>
        </p:spPr>
      </p:sp>
      <p:sp>
        <p:nvSpPr>
          <p:cNvPr id="7" name="Text 4"/>
          <p:cNvSpPr/>
          <p:nvPr/>
        </p:nvSpPr>
        <p:spPr>
          <a:xfrm>
            <a:off x="7203430" y="2641550"/>
            <a:ext cx="4039423" cy="25653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2F6FB0"/>
                </a:solidFill>
                <a:latin typeface="Nunito Sans" pitchFamily="34" charset="0"/>
                <a:ea typeface="Nunito Sans" pitchFamily="34" charset="-122"/>
                <a:cs typeface="Nunito Sans" pitchFamily="34" charset="-120"/>
              </a:rPr>
              <a:t>WHAT “HIGH-RISK” MEANS</a:t>
            </a:r>
            <a:endParaRPr lang="en-US" sz="1300" dirty="0"/>
          </a:p>
        </p:txBody>
      </p:sp>
      <p:sp>
        <p:nvSpPr>
          <p:cNvPr id="8" name="Text 5"/>
          <p:cNvSpPr/>
          <p:nvPr/>
        </p:nvSpPr>
        <p:spPr>
          <a:xfrm>
            <a:off x="7203430" y="2999680"/>
            <a:ext cx="4039423"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A5568"/>
                </a:solidFill>
                <a:latin typeface="Nunito Sans" pitchFamily="34" charset="0"/>
                <a:ea typeface="Nunito Sans" pitchFamily="34" charset="-122"/>
                <a:cs typeface="Nunito Sans" pitchFamily="34" charset="-120"/>
              </a:rPr>
              <a:t>The dataset’s risk score combines </a:t>
            </a:r>
            <a:r>
              <a:rPr lang="en-US" sz="1400" b="1" dirty="0">
                <a:solidFill>
                  <a:srgbClr val="4A5568"/>
                </a:solidFill>
                <a:latin typeface="Nunito Sans" pitchFamily="34" charset="0"/>
                <a:ea typeface="Nunito Sans" pitchFamily="34" charset="-122"/>
                <a:cs typeface="Nunito Sans" pitchFamily="34" charset="-120"/>
              </a:rPr>
              <a:t>chance of failure, physical condition, overdue work and availability</a:t>
            </a:r>
            <a:r>
              <a:rPr lang="en-US" sz="1400" dirty="0">
                <a:solidFill>
                  <a:srgbClr val="4A5568"/>
                </a:solidFill>
                <a:latin typeface="Nunito Sans" pitchFamily="34" charset="0"/>
                <a:ea typeface="Nunito Sans" pitchFamily="34" charset="-122"/>
                <a:cs typeface="Nunito Sans" pitchFamily="34" charset="-120"/>
              </a:rPr>
              <a:t>.</a:t>
            </a:r>
            <a:endParaRPr lang="en-US" sz="1400" dirty="0"/>
          </a:p>
        </p:txBody>
      </p:sp>
      <p:sp>
        <p:nvSpPr>
          <p:cNvPr id="9" name="Text 6"/>
          <p:cNvSpPr/>
          <p:nvPr/>
        </p:nvSpPr>
        <p:spPr>
          <a:xfrm>
            <a:off x="7203430" y="3899991"/>
            <a:ext cx="4039423"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A5568"/>
                </a:solidFill>
                <a:latin typeface="Nunito Sans" pitchFamily="34" charset="0"/>
                <a:ea typeface="Nunito Sans" pitchFamily="34" charset="-122"/>
                <a:cs typeface="Nunito Sans" pitchFamily="34" charset="-120"/>
              </a:rPr>
              <a:t>A score above 32 is rated high-risk. That gives 289 records.</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C0631A"/>
                </a:solidFill>
                <a:latin typeface="Nunito Sans" pitchFamily="34" charset="0"/>
                <a:ea typeface="Nunito Sans" pitchFamily="34" charset="-122"/>
                <a:cs typeface="Nunito Sans" pitchFamily="34" charset="-120"/>
              </a:rPr>
              <a:t>FINDING 5 · EARLY-WARNING ALARMS</a:t>
            </a:r>
            <a:endParaRPr lang="en-US" sz="1400" dirty="0"/>
          </a:p>
        </p:txBody>
      </p:sp>
      <p:sp>
        <p:nvSpPr>
          <p:cNvPr id="3" name="Text 1"/>
          <p:cNvSpPr/>
          <p:nvPr>
            <p:ph type="title"/>
          </p:nvPr>
        </p:nvSpPr>
        <p:spPr>
          <a:xfrm>
            <a:off x="812800" y="1417290"/>
            <a:ext cx="10883392" cy="960041"/>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Domine" pitchFamily="18" charset="0"/>
                <a:ea typeface="Domine" pitchFamily="18" charset="-122"/>
                <a:cs typeface="Domine" pitchFamily="18" charset="-120"/>
              </a:rPr>
              <a:t>Our alarms ring for the wrong machines and stay silent for the right ones</a:t>
            </a:r>
            <a:endParaRPr lang="en-US" sz="3200" dirty="0"/>
          </a:p>
        </p:txBody>
      </p:sp>
      <p:sp>
        <p:nvSpPr>
          <p:cNvPr id="4" name="Shape 2"/>
          <p:cNvSpPr/>
          <p:nvPr/>
        </p:nvSpPr>
        <p:spPr>
          <a:xfrm>
            <a:off x="815975" y="2710706"/>
            <a:ext cx="5149850" cy="2431901"/>
          </a:xfrm>
          <a:prstGeom prst="roundRect">
            <a:avLst>
              <a:gd name="adj" fmla="val 5092"/>
            </a:avLst>
          </a:prstGeom>
          <a:solidFill>
            <a:srgbClr val="FFFFFF"/>
          </a:solidFill>
          <a:ln w="6350">
            <a:solidFill>
              <a:srgbClr val="E2DED3"/>
            </a:solidFill>
            <a:prstDash val="solid"/>
          </a:ln>
        </p:spPr>
      </p:sp>
      <p:sp>
        <p:nvSpPr>
          <p:cNvPr id="5" name="Text 3"/>
          <p:cNvSpPr/>
          <p:nvPr/>
        </p:nvSpPr>
        <p:spPr>
          <a:xfrm>
            <a:off x="1123950" y="3018681"/>
            <a:ext cx="4669917" cy="807690"/>
          </a:xfrm>
          <a:prstGeom prst="rect">
            <a:avLst/>
          </a:prstGeom>
          <a:noFill/>
          <a:ln/>
        </p:spPr>
        <p:txBody>
          <a:bodyPr wrap="square" lIns="0" tIns="0" rIns="0" bIns="0" rtlCol="0" anchor="t">
            <a:normAutofit/>
          </a:bodyPr>
          <a:lstStyle/>
          <a:p>
            <a:pPr algn="l" indent="0" marL="0">
              <a:lnSpc>
                <a:spcPts val="6160"/>
              </a:lnSpc>
              <a:buNone/>
            </a:pPr>
            <a:r>
              <a:rPr lang="en-US" sz="5600" b="1" dirty="0">
                <a:solidFill>
                  <a:srgbClr val="C0631A"/>
                </a:solidFill>
                <a:latin typeface="Domine" pitchFamily="18" charset="0"/>
                <a:ea typeface="Domine" pitchFamily="18" charset="-122"/>
                <a:cs typeface="Domine" pitchFamily="18" charset="-120"/>
              </a:rPr>
              <a:t>53%</a:t>
            </a:r>
            <a:endParaRPr lang="en-US" sz="5600" dirty="0"/>
          </a:p>
        </p:txBody>
      </p:sp>
      <p:sp>
        <p:nvSpPr>
          <p:cNvPr id="6" name="Text 4"/>
          <p:cNvSpPr/>
          <p:nvPr/>
        </p:nvSpPr>
        <p:spPr>
          <a:xfrm>
            <a:off x="1123950" y="3927971"/>
            <a:ext cx="4669917" cy="932061"/>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14213D"/>
                </a:solidFill>
                <a:latin typeface="Nunito Sans" pitchFamily="34" charset="0"/>
                <a:ea typeface="Nunito Sans" pitchFamily="34" charset="-122"/>
                <a:cs typeface="Nunito Sans" pitchFamily="34" charset="-120"/>
              </a:rPr>
              <a:t>of alarms are false.</a:t>
            </a:r>
            <a:r>
              <a:rPr lang="en-US" sz="1700" dirty="0">
                <a:solidFill>
                  <a:srgbClr val="14213D"/>
                </a:solidFill>
                <a:latin typeface="Nunito Sans" pitchFamily="34" charset="0"/>
                <a:ea typeface="Nunito Sans" pitchFamily="34" charset="-122"/>
                <a:cs typeface="Nunito Sans" pitchFamily="34" charset="-120"/>
              </a:rPr>
              <a:t> 140 of 263 are set off by a high-temperature rule, yet temperature does not predict breakdowns.</a:t>
            </a:r>
            <a:endParaRPr lang="en-US" sz="1700" dirty="0"/>
          </a:p>
        </p:txBody>
      </p:sp>
      <p:sp>
        <p:nvSpPr>
          <p:cNvPr id="7" name="Shape 5"/>
          <p:cNvSpPr/>
          <p:nvPr/>
        </p:nvSpPr>
        <p:spPr>
          <a:xfrm>
            <a:off x="6226175" y="2710706"/>
            <a:ext cx="5149850" cy="2431901"/>
          </a:xfrm>
          <a:prstGeom prst="roundRect">
            <a:avLst>
              <a:gd name="adj" fmla="val 5092"/>
            </a:avLst>
          </a:prstGeom>
          <a:solidFill>
            <a:srgbClr val="FFFFFF"/>
          </a:solidFill>
          <a:ln w="6350">
            <a:solidFill>
              <a:srgbClr val="E2DED3"/>
            </a:solidFill>
            <a:prstDash val="solid"/>
          </a:ln>
        </p:spPr>
      </p:sp>
      <p:sp>
        <p:nvSpPr>
          <p:cNvPr id="8" name="Text 6"/>
          <p:cNvSpPr/>
          <p:nvPr/>
        </p:nvSpPr>
        <p:spPr>
          <a:xfrm>
            <a:off x="6534150" y="3018681"/>
            <a:ext cx="4669917" cy="807690"/>
          </a:xfrm>
          <a:prstGeom prst="rect">
            <a:avLst/>
          </a:prstGeom>
          <a:noFill/>
          <a:ln/>
        </p:spPr>
        <p:txBody>
          <a:bodyPr wrap="square" lIns="0" tIns="0" rIns="0" bIns="0" rtlCol="0" anchor="t">
            <a:normAutofit/>
          </a:bodyPr>
          <a:lstStyle/>
          <a:p>
            <a:pPr algn="l" indent="0" marL="0">
              <a:lnSpc>
                <a:spcPts val="6160"/>
              </a:lnSpc>
              <a:buNone/>
            </a:pPr>
            <a:r>
              <a:rPr lang="en-US" sz="5600" b="1" dirty="0">
                <a:solidFill>
                  <a:srgbClr val="C0631A"/>
                </a:solidFill>
                <a:latin typeface="Domine" pitchFamily="18" charset="0"/>
                <a:ea typeface="Domine" pitchFamily="18" charset="-122"/>
                <a:cs typeface="Domine" pitchFamily="18" charset="-120"/>
              </a:rPr>
              <a:t>73%</a:t>
            </a:r>
            <a:endParaRPr lang="en-US" sz="5600" dirty="0"/>
          </a:p>
        </p:txBody>
      </p:sp>
      <p:sp>
        <p:nvSpPr>
          <p:cNvPr id="9" name="Text 7"/>
          <p:cNvSpPr/>
          <p:nvPr/>
        </p:nvSpPr>
        <p:spPr>
          <a:xfrm>
            <a:off x="6534150" y="3927971"/>
            <a:ext cx="4669917" cy="932061"/>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14213D"/>
                </a:solidFill>
                <a:latin typeface="Nunito Sans" pitchFamily="34" charset="0"/>
                <a:ea typeface="Nunito Sans" pitchFamily="34" charset="-122"/>
                <a:cs typeface="Nunito Sans" pitchFamily="34" charset="-120"/>
              </a:rPr>
              <a:t>of high-risk machines get no alarm.</a:t>
            </a:r>
            <a:r>
              <a:rPr lang="en-US" sz="1700" dirty="0">
                <a:solidFill>
                  <a:srgbClr val="14213D"/>
                </a:solidFill>
                <a:latin typeface="Nunito Sans" pitchFamily="34" charset="0"/>
                <a:ea typeface="Nunito Sans" pitchFamily="34" charset="-122"/>
                <a:cs typeface="Nunito Sans" pitchFamily="34" charset="-120"/>
              </a:rPr>
              <a:t> They sit in the milder “watch” list, so nobody acts urgently.</a:t>
            </a:r>
            <a:endParaRPr lang="en-US" sz="1700" dirty="0"/>
          </a:p>
        </p:txBody>
      </p:sp>
      <p:sp>
        <p:nvSpPr>
          <p:cNvPr id="10" name="Text 8"/>
          <p:cNvSpPr/>
          <p:nvPr/>
        </p:nvSpPr>
        <p:spPr>
          <a:xfrm>
            <a:off x="812800" y="5501382"/>
            <a:ext cx="10883392"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4213D"/>
                </a:solidFill>
                <a:latin typeface="Nunito Sans" pitchFamily="34" charset="0"/>
                <a:ea typeface="Nunito Sans" pitchFamily="34" charset="-122"/>
                <a:cs typeface="Nunito Sans" pitchFamily="34" charset="-120"/>
              </a:rPr>
              <a:t>Fix:</a:t>
            </a:r>
            <a:r>
              <a:rPr lang="en-US" sz="1800" dirty="0">
                <a:solidFill>
                  <a:srgbClr val="14213D"/>
                </a:solidFill>
                <a:latin typeface="Nunito Sans" pitchFamily="34" charset="0"/>
                <a:ea typeface="Nunito Sans" pitchFamily="34" charset="-122"/>
                <a:cs typeface="Nunito Sans" pitchFamily="34" charset="-120"/>
              </a:rPr>
              <a:t> trigger alarms on vibration and on condition scores, the two signals that do predict failure.</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DEAE1"/>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4A5568"/>
                </a:solidFill>
                <a:latin typeface="Nunito Sans" pitchFamily="34" charset="0"/>
                <a:ea typeface="Nunito Sans" pitchFamily="34" charset="-122"/>
                <a:cs typeface="Nunito Sans" pitchFamily="34" charset="-120"/>
              </a:rPr>
              <a:t>HOW WE GOT THIS NUMBER · FINDING 5</a:t>
            </a:r>
            <a:endParaRPr lang="en-US" sz="1400" dirty="0"/>
          </a:p>
        </p:txBody>
      </p:sp>
      <p:sp>
        <p:nvSpPr>
          <p:cNvPr id="3" name="Text 1"/>
          <p:cNvSpPr/>
          <p:nvPr>
            <p:ph type="title"/>
          </p:nvPr>
        </p:nvSpPr>
        <p:spPr>
          <a:xfrm>
            <a:off x="812800" y="1315690"/>
            <a:ext cx="10883392" cy="84326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4213D"/>
                </a:solidFill>
                <a:latin typeface="Domine" pitchFamily="18" charset="0"/>
                <a:ea typeface="Domine" pitchFamily="18" charset="-122"/>
                <a:cs typeface="Domine" pitchFamily="18" charset="-120"/>
              </a:rPr>
              <a:t>We tested which sensor readings actually move the chance of failure</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400250"/>
          <a:ext cx="6591300" cy="1930053"/>
        </p:xfrm>
        <a:graphic>
          <a:graphicData uri="http://schemas.openxmlformats.org/drawingml/2006/table">
            <a:tbl>
              <a:tblPr/>
              <a:tblGrid>
                <a:gridCol w="2241042"/>
                <a:gridCol w="1450086"/>
                <a:gridCol w="1450086"/>
                <a:gridCol w="1450086"/>
              </a:tblGrid>
              <a:tr h="386011">
                <a:tc>
                  <a:txBody>
                    <a:bodyPr/>
                    <a:lstStyle/>
                    <a:p>
                      <a:pPr indent="0" marL="0">
                        <a:lnSpc>
                          <a:spcPts val="1960"/>
                        </a:lnSpc>
                        <a:buNone/>
                      </a:pPr>
                      <a:r>
                        <a:rPr lang="en-US" sz="1400" b="1" dirty="0">
                          <a:solidFill>
                            <a:srgbClr val="14213D"/>
                          </a:solidFill>
                          <a:latin typeface="Nunito Sans" pitchFamily="34" charset="0"/>
                          <a:ea typeface="Nunito Sans" pitchFamily="34" charset="-122"/>
                          <a:cs typeface="Nunito Sans" pitchFamily="34" charset="-120"/>
                        </a:rPr>
                        <a:t>Reading</a:t>
                      </a:r>
                      <a:endParaRPr lang="en-US" sz="1400" dirty="0">
                        <a:latin typeface="Nunito Sans" charset="0"/>
                        <a:ea typeface="Nunito Sans" charset="0"/>
                        <a:cs typeface="Nunito Sans" charset="0"/>
                      </a:endParaRPr>
                    </a:p>
                  </a:txBody>
                  <a:tcPr marL="62230" marR="62230" marT="62230" marB="62230" anchor="t">
                    <a:lnL w="12700" cap="flat" cmpd="sng" algn="ctr">
                      <a:solidFill>
                        <a:srgbClr val="BDBBB4"/>
                      </a:solidFill>
                      <a:prstDash val="solid"/>
                      <a:round/>
                      <a:headEnd type="none" w="med" len="med"/>
                      <a:tailEnd type="none" w="med" len="med"/>
                    </a:lnL>
                    <a:lnR w="12700" cap="flat" cmpd="sng" algn="ctr">
                      <a:solidFill>
                        <a:srgbClr val="B0AEA7"/>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B0AEA7"/>
                      </a:solidFill>
                      <a:prstDash val="solid"/>
                      <a:round/>
                      <a:headEnd type="none" w="med" len="med"/>
                      <a:tailEnd type="none" w="med" len="med"/>
                    </a:lnB>
                    <a:solidFill>
                      <a:srgbClr val="DCD9D1"/>
                    </a:solidFill>
                  </a:tcPr>
                </a:tc>
                <a:tc>
                  <a:txBody>
                    <a:bodyPr/>
                    <a:lstStyle/>
                    <a:p>
                      <a:pPr algn="r" indent="0" marL="0">
                        <a:lnSpc>
                          <a:spcPts val="1960"/>
                        </a:lnSpc>
                        <a:buNone/>
                      </a:pPr>
                      <a:r>
                        <a:rPr lang="en-US" sz="1400" b="1" dirty="0">
                          <a:solidFill>
                            <a:srgbClr val="14213D"/>
                          </a:solidFill>
                          <a:latin typeface="Nunito Sans" pitchFamily="34" charset="0"/>
                          <a:ea typeface="Nunito Sans" pitchFamily="34" charset="-122"/>
                          <a:cs typeface="Nunito Sans" pitchFamily="34" charset="-120"/>
                        </a:rPr>
                        <a:t>Best 10%</a:t>
                      </a:r>
                      <a:endParaRPr lang="en-US" sz="1400" dirty="0">
                        <a:latin typeface="Nunito Sans" charset="0"/>
                        <a:ea typeface="Nunito Sans" charset="0"/>
                        <a:cs typeface="Nunito Sans" charset="0"/>
                      </a:endParaRPr>
                    </a:p>
                  </a:txBody>
                  <a:tcPr marL="62230" marR="62230" marT="62230" marB="62230" anchor="t">
                    <a:lnL w="12700" cap="flat" cmpd="sng" algn="ctr">
                      <a:solidFill>
                        <a:srgbClr val="B0AEA7"/>
                      </a:solidFill>
                      <a:prstDash val="solid"/>
                      <a:round/>
                      <a:headEnd type="none" w="med" len="med"/>
                      <a:tailEnd type="none" w="med" len="med"/>
                    </a:lnL>
                    <a:lnR w="12700" cap="flat" cmpd="sng" algn="ctr">
                      <a:solidFill>
                        <a:srgbClr val="B0AEA7"/>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B0AEA7"/>
                      </a:solidFill>
                      <a:prstDash val="solid"/>
                      <a:round/>
                      <a:headEnd type="none" w="med" len="med"/>
                      <a:tailEnd type="none" w="med" len="med"/>
                    </a:lnB>
                    <a:solidFill>
                      <a:srgbClr val="DCD9D1"/>
                    </a:solidFill>
                  </a:tcPr>
                </a:tc>
                <a:tc>
                  <a:txBody>
                    <a:bodyPr/>
                    <a:lstStyle/>
                    <a:p>
                      <a:pPr algn="r" indent="0" marL="0">
                        <a:lnSpc>
                          <a:spcPts val="1960"/>
                        </a:lnSpc>
                        <a:buNone/>
                      </a:pPr>
                      <a:r>
                        <a:rPr lang="en-US" sz="1400" b="1" dirty="0">
                          <a:solidFill>
                            <a:srgbClr val="14213D"/>
                          </a:solidFill>
                          <a:latin typeface="Nunito Sans" pitchFamily="34" charset="0"/>
                          <a:ea typeface="Nunito Sans" pitchFamily="34" charset="-122"/>
                          <a:cs typeface="Nunito Sans" pitchFamily="34" charset="-120"/>
                        </a:rPr>
                        <a:t>Worst 10%</a:t>
                      </a:r>
                      <a:endParaRPr lang="en-US" sz="1400" dirty="0">
                        <a:latin typeface="Nunito Sans" charset="0"/>
                        <a:ea typeface="Nunito Sans" charset="0"/>
                        <a:cs typeface="Nunito Sans" charset="0"/>
                      </a:endParaRPr>
                    </a:p>
                  </a:txBody>
                  <a:tcPr marL="62230" marR="62230" marT="62230" marB="62230" anchor="t">
                    <a:lnL w="12700" cap="flat" cmpd="sng" algn="ctr">
                      <a:solidFill>
                        <a:srgbClr val="B0AEA7"/>
                      </a:solidFill>
                      <a:prstDash val="solid"/>
                      <a:round/>
                      <a:headEnd type="none" w="med" len="med"/>
                      <a:tailEnd type="none" w="med" len="med"/>
                    </a:lnL>
                    <a:lnR w="12700" cap="flat" cmpd="sng" algn="ctr">
                      <a:solidFill>
                        <a:srgbClr val="B0AEA7"/>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B0AEA7"/>
                      </a:solidFill>
                      <a:prstDash val="solid"/>
                      <a:round/>
                      <a:headEnd type="none" w="med" len="med"/>
                      <a:tailEnd type="none" w="med" len="med"/>
                    </a:lnB>
                    <a:solidFill>
                      <a:srgbClr val="DCD9D1"/>
                    </a:solidFill>
                  </a:tcPr>
                </a:tc>
                <a:tc>
                  <a:txBody>
                    <a:bodyPr/>
                    <a:lstStyle/>
                    <a:p>
                      <a:pPr algn="r" indent="0" marL="0">
                        <a:lnSpc>
                          <a:spcPts val="1960"/>
                        </a:lnSpc>
                        <a:buNone/>
                      </a:pPr>
                      <a:r>
                        <a:rPr lang="en-US" sz="1400" b="1" dirty="0">
                          <a:solidFill>
                            <a:srgbClr val="14213D"/>
                          </a:solidFill>
                          <a:latin typeface="Nunito Sans" pitchFamily="34" charset="0"/>
                          <a:ea typeface="Nunito Sans" pitchFamily="34" charset="-122"/>
                          <a:cs typeface="Nunito Sans" pitchFamily="34" charset="-120"/>
                        </a:rPr>
                        <a:t>Useful?</a:t>
                      </a:r>
                      <a:endParaRPr lang="en-US" sz="1400" dirty="0">
                        <a:latin typeface="Nunito Sans" charset="0"/>
                        <a:ea typeface="Nunito Sans" charset="0"/>
                        <a:cs typeface="Nunito Sans" charset="0"/>
                      </a:endParaRPr>
                    </a:p>
                  </a:txBody>
                  <a:tcPr marL="62230" marR="62230" marT="62230" marB="62230" anchor="t">
                    <a:lnL w="12700" cap="flat" cmpd="sng" algn="ctr">
                      <a:solidFill>
                        <a:srgbClr val="B0AEA7"/>
                      </a:solidFill>
                      <a:prstDash val="solid"/>
                      <a:round/>
                      <a:headEnd type="none" w="med" len="med"/>
                      <a:tailEnd type="none" w="med" len="med"/>
                    </a:lnL>
                    <a:lnR w="12700" cap="flat" cmpd="sng" algn="ctr">
                      <a:solidFill>
                        <a:srgbClr val="B0AEA7"/>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B0AEA7"/>
                      </a:solidFill>
                      <a:prstDash val="solid"/>
                      <a:round/>
                      <a:headEnd type="none" w="med" len="med"/>
                      <a:tailEnd type="none" w="med" len="med"/>
                    </a:lnB>
                    <a:solidFill>
                      <a:srgbClr val="DCD9D1"/>
                    </a:solidFill>
                  </a:tcPr>
                </a:tc>
              </a:tr>
              <a:tr h="386011">
                <a:tc>
                  <a:txBody>
                    <a:bodyPr/>
                    <a:lstStyle/>
                    <a:p>
                      <a:pP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Condition score</a:t>
                      </a:r>
                      <a:endParaRPr lang="en-US" sz="1400" dirty="0">
                        <a:latin typeface="Nunito Sans" charset="0"/>
                        <a:ea typeface="Nunito Sans" charset="0"/>
                        <a:cs typeface="Nunito Sans" charset="0"/>
                      </a:endParaRPr>
                    </a:p>
                  </a:txBody>
                  <a:tcPr marL="62230" marR="62230" marT="62230" marB="62230" anchor="t">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B0AEA7"/>
                      </a:solidFill>
                      <a:prstDash val="solid"/>
                      <a:round/>
                      <a:headEnd type="none" w="med" len="med"/>
                      <a:tailEnd type="none" w="med" len="med"/>
                    </a:lnT>
                    <a:lnB w="12700" cap="flat" cmpd="sng" algn="ctr">
                      <a:solidFill>
                        <a:srgbClr val="BDBBB4"/>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16%</a:t>
                      </a:r>
                      <a:endParaRPr lang="en-US" sz="1400" dirty="0">
                        <a:latin typeface="Nunito Sans" charset="0"/>
                        <a:ea typeface="Nunito Sans" charset="0"/>
                        <a:cs typeface="Nunito Sans" charset="0"/>
                      </a:endParaRPr>
                    </a:p>
                  </a:txBody>
                  <a:tcPr marL="62230" marR="62230" marT="62230" marB="62230" anchor="t">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B0AEA7"/>
                      </a:solidFill>
                      <a:prstDash val="solid"/>
                      <a:round/>
                      <a:headEnd type="none" w="med" len="med"/>
                      <a:tailEnd type="none" w="med" len="med"/>
                    </a:lnT>
                    <a:lnB w="12700" cap="flat" cmpd="sng" algn="ctr">
                      <a:solidFill>
                        <a:srgbClr val="BDBBB4"/>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43%</a:t>
                      </a:r>
                      <a:endParaRPr lang="en-US" sz="1400" dirty="0">
                        <a:latin typeface="Nunito Sans" charset="0"/>
                        <a:ea typeface="Nunito Sans" charset="0"/>
                        <a:cs typeface="Nunito Sans" charset="0"/>
                      </a:endParaRPr>
                    </a:p>
                  </a:txBody>
                  <a:tcPr marL="62230" marR="62230" marT="62230" marB="62230" anchor="t">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B0AEA7"/>
                      </a:solidFill>
                      <a:prstDash val="solid"/>
                      <a:round/>
                      <a:headEnd type="none" w="med" len="med"/>
                      <a:tailEnd type="none" w="med" len="med"/>
                    </a:lnT>
                    <a:lnB w="12700" cap="flat" cmpd="sng" algn="ctr">
                      <a:solidFill>
                        <a:srgbClr val="BDBBB4"/>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Yes</a:t>
                      </a:r>
                      <a:endParaRPr lang="en-US" sz="1400" dirty="0">
                        <a:latin typeface="Nunito Sans" charset="0"/>
                        <a:ea typeface="Nunito Sans" charset="0"/>
                        <a:cs typeface="Nunito Sans" charset="0"/>
                      </a:endParaRPr>
                    </a:p>
                  </a:txBody>
                  <a:tcPr marL="62230" marR="62230" marT="62230" marB="62230" anchor="t">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B0AEA7"/>
                      </a:solidFill>
                      <a:prstDash val="solid"/>
                      <a:round/>
                      <a:headEnd type="none" w="med" len="med"/>
                      <a:tailEnd type="none" w="med" len="med"/>
                    </a:lnT>
                    <a:lnB w="12700" cap="flat" cmpd="sng" algn="ctr">
                      <a:solidFill>
                        <a:srgbClr val="BDBBB4"/>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Vibration</a:t>
                      </a:r>
                      <a:endParaRPr lang="en-US" sz="1400" dirty="0">
                        <a:latin typeface="Nunito Sans" charset="0"/>
                        <a:ea typeface="Nunito Sans" charset="0"/>
                        <a:cs typeface="Nunito Sans" charset="0"/>
                      </a:endParaRPr>
                    </a:p>
                  </a:txBody>
                  <a:tcPr marL="62230" marR="62230" marT="62230" marB="62230" anchor="t">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BDBBB4"/>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25%</a:t>
                      </a:r>
                      <a:endParaRPr lang="en-US" sz="1400" dirty="0">
                        <a:latin typeface="Nunito Sans" charset="0"/>
                        <a:ea typeface="Nunito Sans" charset="0"/>
                        <a:cs typeface="Nunito Sans" charset="0"/>
                      </a:endParaRPr>
                    </a:p>
                  </a:txBody>
                  <a:tcPr marL="62230" marR="62230" marT="62230" marB="62230" anchor="t">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BDBBB4"/>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35%</a:t>
                      </a:r>
                      <a:endParaRPr lang="en-US" sz="1400" dirty="0">
                        <a:latin typeface="Nunito Sans" charset="0"/>
                        <a:ea typeface="Nunito Sans" charset="0"/>
                        <a:cs typeface="Nunito Sans" charset="0"/>
                      </a:endParaRPr>
                    </a:p>
                  </a:txBody>
                  <a:tcPr marL="62230" marR="62230" marT="62230" marB="62230" anchor="t">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BDBBB4"/>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Yes</a:t>
                      </a:r>
                      <a:endParaRPr lang="en-US" sz="1400" dirty="0">
                        <a:latin typeface="Nunito Sans" charset="0"/>
                        <a:ea typeface="Nunito Sans" charset="0"/>
                        <a:cs typeface="Nunito Sans" charset="0"/>
                      </a:endParaRPr>
                    </a:p>
                  </a:txBody>
                  <a:tcPr marL="62230" marR="62230" marT="62230" marB="62230" anchor="t">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BDBBB4"/>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Temperature</a:t>
                      </a:r>
                      <a:endParaRPr lang="en-US" sz="1400" dirty="0">
                        <a:latin typeface="Nunito Sans" charset="0"/>
                        <a:ea typeface="Nunito Sans" charset="0"/>
                        <a:cs typeface="Nunito Sans" charset="0"/>
                      </a:endParaRPr>
                    </a:p>
                  </a:txBody>
                  <a:tcPr marL="62230" marR="62230" marT="62230" marB="62230" anchor="t">
                    <a:lnL w="12700" cap="flat" cmpd="sng" algn="ctr">
                      <a:solidFill>
                        <a:srgbClr val="BDBBB4"/>
                      </a:solidFill>
                      <a:prstDash val="solid"/>
                      <a:round/>
                      <a:headEnd type="none" w="med" len="med"/>
                      <a:tailEnd type="none" w="med" len="med"/>
                    </a:lnL>
                    <a:lnR w="12700" cap="flat" cmpd="sng" algn="ctr">
                      <a:solidFill>
                        <a:srgbClr val="C9BCB1"/>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9BCB1"/>
                      </a:solidFill>
                      <a:prstDash val="solid"/>
                      <a:round/>
                      <a:headEnd type="none" w="med" len="med"/>
                      <a:tailEnd type="none" w="med" len="med"/>
                    </a:lnB>
                    <a:solidFill>
                      <a:srgbClr val="FCEBDD"/>
                    </a:solidFill>
                  </a:tcPr>
                </a:tc>
                <a:tc>
                  <a:txBody>
                    <a:bodyPr/>
                    <a:lstStyle/>
                    <a:p>
                      <a:pPr algn="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29%</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9BCB1"/>
                      </a:solidFill>
                      <a:prstDash val="solid"/>
                      <a:round/>
                      <a:headEnd type="none" w="med" len="med"/>
                      <a:tailEnd type="none" w="med" len="med"/>
                    </a:lnL>
                    <a:lnR w="12700" cap="flat" cmpd="sng" algn="ctr">
                      <a:solidFill>
                        <a:srgbClr val="C9BCB1"/>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9BCB1"/>
                      </a:solidFill>
                      <a:prstDash val="solid"/>
                      <a:round/>
                      <a:headEnd type="none" w="med" len="med"/>
                      <a:tailEnd type="none" w="med" len="med"/>
                    </a:lnB>
                    <a:solidFill>
                      <a:srgbClr val="FCEBDD"/>
                    </a:solidFill>
                  </a:tcPr>
                </a:tc>
                <a:tc>
                  <a:txBody>
                    <a:bodyPr/>
                    <a:lstStyle/>
                    <a:p>
                      <a:pPr algn="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30%</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9BCB1"/>
                      </a:solidFill>
                      <a:prstDash val="solid"/>
                      <a:round/>
                      <a:headEnd type="none" w="med" len="med"/>
                      <a:tailEnd type="none" w="med" len="med"/>
                    </a:lnL>
                    <a:lnR w="12700" cap="flat" cmpd="sng" algn="ctr">
                      <a:solidFill>
                        <a:srgbClr val="C9BCB1"/>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9BCB1"/>
                      </a:solidFill>
                      <a:prstDash val="solid"/>
                      <a:round/>
                      <a:headEnd type="none" w="med" len="med"/>
                      <a:tailEnd type="none" w="med" len="med"/>
                    </a:lnB>
                    <a:solidFill>
                      <a:srgbClr val="FCEBDD"/>
                    </a:solidFill>
                  </a:tcPr>
                </a:tc>
                <a:tc>
                  <a:txBody>
                    <a:bodyPr/>
                    <a:lstStyle/>
                    <a:p>
                      <a:pPr algn="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No</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9BCB1"/>
                      </a:solidFill>
                      <a:prstDash val="solid"/>
                      <a:round/>
                      <a:headEnd type="none" w="med" len="med"/>
                      <a:tailEnd type="none" w="med" len="med"/>
                    </a:lnL>
                    <a:lnR w="12700" cap="flat" cmpd="sng" algn="ctr">
                      <a:solidFill>
                        <a:srgbClr val="C9BCB1"/>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9BCB1"/>
                      </a:solidFill>
                      <a:prstDash val="solid"/>
                      <a:round/>
                      <a:headEnd type="none" w="med" len="med"/>
                      <a:tailEnd type="none" w="med" len="med"/>
                    </a:lnB>
                    <a:solidFill>
                      <a:srgbClr val="FCEBDD"/>
                    </a:solidFill>
                  </a:tcPr>
                </a:tc>
              </a:tr>
              <a:tr h="386011">
                <a:tc>
                  <a:txBody>
                    <a:bodyPr/>
                    <a:lstStyle/>
                    <a:p>
                      <a:pP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Pressure</a:t>
                      </a:r>
                      <a:endParaRPr lang="en-US" sz="1400" dirty="0">
                        <a:latin typeface="Nunito Sans" charset="0"/>
                        <a:ea typeface="Nunito Sans" charset="0"/>
                        <a:cs typeface="Nunito Sans" charset="0"/>
                      </a:endParaRPr>
                    </a:p>
                  </a:txBody>
                  <a:tcPr marL="62230" marR="62230" marT="62230" marB="62230" anchor="t">
                    <a:lnL w="12700" cap="flat" cmpd="sng" algn="ctr">
                      <a:solidFill>
                        <a:srgbClr val="BDBBB4"/>
                      </a:solidFill>
                      <a:prstDash val="solid"/>
                      <a:round/>
                      <a:headEnd type="none" w="med" len="med"/>
                      <a:tailEnd type="none" w="med" len="med"/>
                    </a:lnL>
                    <a:lnR w="12700" cap="flat" cmpd="sng" algn="ctr">
                      <a:solidFill>
                        <a:srgbClr val="C9BCB1"/>
                      </a:solidFill>
                      <a:prstDash val="solid"/>
                      <a:round/>
                      <a:headEnd type="none" w="med" len="med"/>
                      <a:tailEnd type="none" w="med" len="med"/>
                    </a:lnR>
                    <a:lnT w="12700" cap="flat" cmpd="sng" algn="ctr">
                      <a:solidFill>
                        <a:srgbClr val="C9BCB1"/>
                      </a:solidFill>
                      <a:prstDash val="solid"/>
                      <a:round/>
                      <a:headEnd type="none" w="med" len="med"/>
                      <a:tailEnd type="none" w="med" len="med"/>
                    </a:lnT>
                    <a:lnB w="12700" cap="flat" cmpd="sng" algn="ctr">
                      <a:solidFill>
                        <a:srgbClr val="C9BCB1"/>
                      </a:solidFill>
                      <a:prstDash val="solid"/>
                      <a:round/>
                      <a:headEnd type="none" w="med" len="med"/>
                      <a:tailEnd type="none" w="med" len="med"/>
                    </a:lnB>
                    <a:solidFill>
                      <a:srgbClr val="FCEBDD"/>
                    </a:solidFill>
                  </a:tcPr>
                </a:tc>
                <a:tc>
                  <a:txBody>
                    <a:bodyPr/>
                    <a:lstStyle/>
                    <a:p>
                      <a:pPr algn="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29%</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9BCB1"/>
                      </a:solidFill>
                      <a:prstDash val="solid"/>
                      <a:round/>
                      <a:headEnd type="none" w="med" len="med"/>
                      <a:tailEnd type="none" w="med" len="med"/>
                    </a:lnL>
                    <a:lnR w="12700" cap="flat" cmpd="sng" algn="ctr">
                      <a:solidFill>
                        <a:srgbClr val="C9BCB1"/>
                      </a:solidFill>
                      <a:prstDash val="solid"/>
                      <a:round/>
                      <a:headEnd type="none" w="med" len="med"/>
                      <a:tailEnd type="none" w="med" len="med"/>
                    </a:lnR>
                    <a:lnT w="12700" cap="flat" cmpd="sng" algn="ctr">
                      <a:solidFill>
                        <a:srgbClr val="C9BCB1"/>
                      </a:solidFill>
                      <a:prstDash val="solid"/>
                      <a:round/>
                      <a:headEnd type="none" w="med" len="med"/>
                      <a:tailEnd type="none" w="med" len="med"/>
                    </a:lnT>
                    <a:lnB w="12700" cap="flat" cmpd="sng" algn="ctr">
                      <a:solidFill>
                        <a:srgbClr val="C9BCB1"/>
                      </a:solidFill>
                      <a:prstDash val="solid"/>
                      <a:round/>
                      <a:headEnd type="none" w="med" len="med"/>
                      <a:tailEnd type="none" w="med" len="med"/>
                    </a:lnB>
                    <a:solidFill>
                      <a:srgbClr val="FCEBDD"/>
                    </a:solidFill>
                  </a:tcPr>
                </a:tc>
                <a:tc>
                  <a:txBody>
                    <a:bodyPr/>
                    <a:lstStyle/>
                    <a:p>
                      <a:pPr algn="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30%</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9BCB1"/>
                      </a:solidFill>
                      <a:prstDash val="solid"/>
                      <a:round/>
                      <a:headEnd type="none" w="med" len="med"/>
                      <a:tailEnd type="none" w="med" len="med"/>
                    </a:lnL>
                    <a:lnR w="12700" cap="flat" cmpd="sng" algn="ctr">
                      <a:solidFill>
                        <a:srgbClr val="C9BCB1"/>
                      </a:solidFill>
                      <a:prstDash val="solid"/>
                      <a:round/>
                      <a:headEnd type="none" w="med" len="med"/>
                      <a:tailEnd type="none" w="med" len="med"/>
                    </a:lnR>
                    <a:lnT w="12700" cap="flat" cmpd="sng" algn="ctr">
                      <a:solidFill>
                        <a:srgbClr val="C9BCB1"/>
                      </a:solidFill>
                      <a:prstDash val="solid"/>
                      <a:round/>
                      <a:headEnd type="none" w="med" len="med"/>
                      <a:tailEnd type="none" w="med" len="med"/>
                    </a:lnT>
                    <a:lnB w="12700" cap="flat" cmpd="sng" algn="ctr">
                      <a:solidFill>
                        <a:srgbClr val="C9BCB1"/>
                      </a:solidFill>
                      <a:prstDash val="solid"/>
                      <a:round/>
                      <a:headEnd type="none" w="med" len="med"/>
                      <a:tailEnd type="none" w="med" len="med"/>
                    </a:lnB>
                    <a:solidFill>
                      <a:srgbClr val="FCEBDD"/>
                    </a:solidFill>
                  </a:tcPr>
                </a:tc>
                <a:tc>
                  <a:txBody>
                    <a:bodyPr/>
                    <a:lstStyle/>
                    <a:p>
                      <a:pPr algn="r" indent="0" marL="0">
                        <a:lnSpc>
                          <a:spcPts val="1960"/>
                        </a:lnSpc>
                        <a:buNone/>
                      </a:pPr>
                      <a:r>
                        <a:rPr lang="en-US" sz="1400" dirty="0">
                          <a:solidFill>
                            <a:srgbClr val="14213D"/>
                          </a:solidFill>
                          <a:latin typeface="Nunito Sans" pitchFamily="34" charset="0"/>
                          <a:ea typeface="Nunito Sans" pitchFamily="34" charset="-122"/>
                          <a:cs typeface="Nunito Sans" pitchFamily="34" charset="-120"/>
                        </a:rPr>
                        <a:t>No</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9BCB1"/>
                      </a:solidFill>
                      <a:prstDash val="solid"/>
                      <a:round/>
                      <a:headEnd type="none" w="med" len="med"/>
                      <a:tailEnd type="none" w="med" len="med"/>
                    </a:lnL>
                    <a:lnR w="12700" cap="flat" cmpd="sng" algn="ctr">
                      <a:solidFill>
                        <a:srgbClr val="C9BCB1"/>
                      </a:solidFill>
                      <a:prstDash val="solid"/>
                      <a:round/>
                      <a:headEnd type="none" w="med" len="med"/>
                      <a:tailEnd type="none" w="med" len="med"/>
                    </a:lnR>
                    <a:lnT w="12700" cap="flat" cmpd="sng" algn="ctr">
                      <a:solidFill>
                        <a:srgbClr val="C9BCB1"/>
                      </a:solidFill>
                      <a:prstDash val="solid"/>
                      <a:round/>
                      <a:headEnd type="none" w="med" len="med"/>
                      <a:tailEnd type="none" w="med" len="med"/>
                    </a:lnT>
                    <a:lnB w="12700" cap="flat" cmpd="sng" algn="ctr">
                      <a:solidFill>
                        <a:srgbClr val="C9BCB1"/>
                      </a:solidFill>
                      <a:prstDash val="solid"/>
                      <a:round/>
                      <a:headEnd type="none" w="med" len="med"/>
                      <a:tailEnd type="none" w="med" len="med"/>
                    </a:lnB>
                    <a:solidFill>
                      <a:srgbClr val="FCEBDD"/>
                    </a:solidFill>
                  </a:tcPr>
                </a:tc>
              </a:tr>
            </a:tbl>
          </a:graphicData>
        </a:graphic>
      </p:graphicFrame>
      <p:sp>
        <p:nvSpPr>
          <p:cNvPr id="5" name="Text 2"/>
          <p:cNvSpPr/>
          <p:nvPr/>
        </p:nvSpPr>
        <p:spPr>
          <a:xfrm>
            <a:off x="812800" y="4457303"/>
            <a:ext cx="6059109"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Nunito Sans" pitchFamily="34" charset="0"/>
                <a:ea typeface="Nunito Sans" pitchFamily="34" charset="-122"/>
                <a:cs typeface="Nunito Sans" pitchFamily="34" charset="-120"/>
              </a:rPr>
              <a:t>Average chance of failure for records with the best and worst readings, within each equipment type</a:t>
            </a:r>
            <a:endParaRPr lang="en-US" sz="1300" dirty="0"/>
          </a:p>
        </p:txBody>
      </p:sp>
      <p:sp>
        <p:nvSpPr>
          <p:cNvPr id="6" name="Shape 3"/>
          <p:cNvSpPr/>
          <p:nvPr/>
        </p:nvSpPr>
        <p:spPr>
          <a:xfrm>
            <a:off x="6949430" y="2387550"/>
            <a:ext cx="4429770" cy="2532013"/>
          </a:xfrm>
          <a:prstGeom prst="roundRect">
            <a:avLst>
              <a:gd name="adj" fmla="val 4013"/>
            </a:avLst>
          </a:prstGeom>
          <a:solidFill>
            <a:srgbClr val="F6F4EE"/>
          </a:solidFill>
          <a:ln/>
        </p:spPr>
      </p:sp>
      <p:sp>
        <p:nvSpPr>
          <p:cNvPr id="7" name="Text 4"/>
          <p:cNvSpPr/>
          <p:nvPr/>
        </p:nvSpPr>
        <p:spPr>
          <a:xfrm>
            <a:off x="7203430" y="2641550"/>
            <a:ext cx="4039423" cy="25653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2F6FB0"/>
                </a:solidFill>
                <a:latin typeface="Nunito Sans" pitchFamily="34" charset="0"/>
                <a:ea typeface="Nunito Sans" pitchFamily="34" charset="-122"/>
                <a:cs typeface="Nunito Sans" pitchFamily="34" charset="-120"/>
              </a:rPr>
              <a:t>THE ALARM COUNTS</a:t>
            </a:r>
            <a:endParaRPr lang="en-US" sz="1300" dirty="0"/>
          </a:p>
        </p:txBody>
      </p:sp>
      <p:sp>
        <p:nvSpPr>
          <p:cNvPr id="8" name="Text 5"/>
          <p:cNvSpPr/>
          <p:nvPr/>
        </p:nvSpPr>
        <p:spPr>
          <a:xfrm>
            <a:off x="7203430" y="2999680"/>
            <a:ext cx="4039423" cy="540941"/>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4A5568"/>
                </a:solidFill>
                <a:latin typeface="Nunito Sans" pitchFamily="34" charset="0"/>
                <a:ea typeface="Nunito Sans" pitchFamily="34" charset="-122"/>
                <a:cs typeface="Nunito Sans" pitchFamily="34" charset="-120"/>
              </a:rPr>
              <a:t>140 of 263</a:t>
            </a:r>
            <a:r>
              <a:rPr lang="en-US" sz="1400" dirty="0">
                <a:solidFill>
                  <a:srgbClr val="4A5568"/>
                </a:solidFill>
                <a:latin typeface="Nunito Sans" pitchFamily="34" charset="0"/>
                <a:ea typeface="Nunito Sans" pitchFamily="34" charset="-122"/>
                <a:cs typeface="Nunito Sans" pitchFamily="34" charset="-120"/>
              </a:rPr>
              <a:t> alarms came from the over-82 °C rule. Only 12 of those (9%) were high-risk.</a:t>
            </a:r>
            <a:endParaRPr lang="en-US" sz="1400" dirty="0"/>
          </a:p>
        </p:txBody>
      </p:sp>
      <p:sp>
        <p:nvSpPr>
          <p:cNvPr id="9" name="Text 6"/>
          <p:cNvSpPr/>
          <p:nvPr/>
        </p:nvSpPr>
        <p:spPr>
          <a:xfrm>
            <a:off x="7203430" y="3642221"/>
            <a:ext cx="4175770" cy="28317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A5568"/>
                </a:solidFill>
                <a:latin typeface="Nunito Sans" pitchFamily="34" charset="0"/>
                <a:ea typeface="Nunito Sans" pitchFamily="34" charset="-122"/>
                <a:cs typeface="Nunito Sans" pitchFamily="34" charset="-120"/>
              </a:rPr>
              <a:t>Condition alarms: 35 of 53 (66%) were high-risk.</a:t>
            </a:r>
            <a:endParaRPr lang="en-US" sz="1400" dirty="0"/>
          </a:p>
        </p:txBody>
      </p:sp>
      <p:sp>
        <p:nvSpPr>
          <p:cNvPr id="10" name="Text 7"/>
          <p:cNvSpPr/>
          <p:nvPr/>
        </p:nvSpPr>
        <p:spPr>
          <a:xfrm>
            <a:off x="7203430" y="4026991"/>
            <a:ext cx="4039423" cy="540941"/>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4A5568"/>
                </a:solidFill>
                <a:latin typeface="Nunito Sans" pitchFamily="34" charset="0"/>
                <a:ea typeface="Nunito Sans" pitchFamily="34" charset="-122"/>
                <a:cs typeface="Nunito Sans" pitchFamily="34" charset="-120"/>
              </a:rPr>
              <a:t>212 of 289</a:t>
            </a:r>
            <a:r>
              <a:rPr lang="en-US" sz="1400" dirty="0">
                <a:solidFill>
                  <a:srgbClr val="4A5568"/>
                </a:solidFill>
                <a:latin typeface="Nunito Sans" pitchFamily="34" charset="0"/>
                <a:ea typeface="Nunito Sans" pitchFamily="34" charset="-122"/>
                <a:cs typeface="Nunito Sans" pitchFamily="34" charset="-120"/>
              </a:rPr>
              <a:t> high-risk records were only on the watch list.</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C0631A"/>
                </a:solidFill>
                <a:latin typeface="Nunito Sans" pitchFamily="34" charset="0"/>
                <a:ea typeface="Nunito Sans" pitchFamily="34" charset="-122"/>
                <a:cs typeface="Nunito Sans" pitchFamily="34" charset="-120"/>
              </a:rPr>
              <a:t>FINDING 6 · SPARE PARTS</a:t>
            </a:r>
            <a:endParaRPr lang="en-US" sz="1400" dirty="0"/>
          </a:p>
        </p:txBody>
      </p:sp>
      <p:sp>
        <p:nvSpPr>
          <p:cNvPr id="3" name="Text 1"/>
          <p:cNvSpPr/>
          <p:nvPr>
            <p:ph type="title"/>
          </p:nvPr>
        </p:nvSpPr>
        <p:spPr>
          <a:xfrm>
            <a:off x="812800" y="1366490"/>
            <a:ext cx="10883392" cy="960041"/>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Domine" pitchFamily="18" charset="0"/>
                <a:ea typeface="Domine" pitchFamily="18" charset="-122"/>
                <a:cs typeface="Domine" pitchFamily="18" charset="-120"/>
              </a:rPr>
              <a:t>We under-invest in spare parts for exactly the machines that matter most</a:t>
            </a:r>
            <a:endParaRPr lang="en-US" sz="3200" dirty="0"/>
          </a:p>
        </p:txBody>
      </p:sp>
      <p:sp>
        <p:nvSpPr>
          <p:cNvPr id="4" name="Shape 2"/>
          <p:cNvSpPr/>
          <p:nvPr/>
        </p:nvSpPr>
        <p:spPr>
          <a:xfrm>
            <a:off x="815975" y="2609106"/>
            <a:ext cx="5149850" cy="2358281"/>
          </a:xfrm>
          <a:prstGeom prst="roundRect">
            <a:avLst>
              <a:gd name="adj" fmla="val 5251"/>
            </a:avLst>
          </a:prstGeom>
          <a:solidFill>
            <a:srgbClr val="FFFFFF"/>
          </a:solidFill>
          <a:ln w="6350">
            <a:solidFill>
              <a:srgbClr val="E2DED3"/>
            </a:solidFill>
            <a:prstDash val="solid"/>
          </a:ln>
        </p:spPr>
      </p:sp>
      <p:sp>
        <p:nvSpPr>
          <p:cNvPr id="5" name="Text 3"/>
          <p:cNvSpPr/>
          <p:nvPr/>
        </p:nvSpPr>
        <p:spPr>
          <a:xfrm>
            <a:off x="1123950" y="2917081"/>
            <a:ext cx="4669917" cy="274290"/>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4A5568"/>
                </a:solidFill>
                <a:latin typeface="Nunito Sans" pitchFamily="34" charset="0"/>
                <a:ea typeface="Nunito Sans" pitchFamily="34" charset="-122"/>
                <a:cs typeface="Nunito Sans" pitchFamily="34" charset="-120"/>
              </a:rPr>
              <a:t>SPARE-PARTS BUDGET VS LOSSES</a:t>
            </a:r>
            <a:endParaRPr lang="en-US" sz="1400" dirty="0"/>
          </a:p>
        </p:txBody>
      </p:sp>
      <p:sp>
        <p:nvSpPr>
          <p:cNvPr id="6" name="Text 4"/>
          <p:cNvSpPr/>
          <p:nvPr/>
        </p:nvSpPr>
        <p:spPr>
          <a:xfrm>
            <a:off x="1123950" y="3292971"/>
            <a:ext cx="4669917" cy="695920"/>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C0631A"/>
                </a:solidFill>
                <a:latin typeface="Domine" pitchFamily="18" charset="0"/>
                <a:ea typeface="Domine" pitchFamily="18" charset="-122"/>
                <a:cs typeface="Domine" pitchFamily="18" charset="-120"/>
              </a:rPr>
              <a:t>9¢ vs 13¢</a:t>
            </a:r>
            <a:endParaRPr lang="en-US" sz="4800" dirty="0"/>
          </a:p>
        </p:txBody>
      </p:sp>
      <p:sp>
        <p:nvSpPr>
          <p:cNvPr id="7" name="Text 5"/>
          <p:cNvSpPr/>
          <p:nvPr/>
        </p:nvSpPr>
        <p:spPr>
          <a:xfrm>
            <a:off x="1123950" y="4090491"/>
            <a:ext cx="4669917"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Nunito Sans" pitchFamily="34" charset="0"/>
                <a:ea typeface="Nunito Sans" pitchFamily="34" charset="-122"/>
                <a:cs typeface="Nunito Sans" pitchFamily="34" charset="-120"/>
              </a:rPr>
              <a:t>Critical equipment gets 9 cents of spares per $1 it loses; all other equipment gets 12–13 cents.</a:t>
            </a:r>
            <a:endParaRPr lang="en-US" sz="1600" dirty="0"/>
          </a:p>
        </p:txBody>
      </p:sp>
      <p:sp>
        <p:nvSpPr>
          <p:cNvPr id="8" name="Shape 6"/>
          <p:cNvSpPr/>
          <p:nvPr/>
        </p:nvSpPr>
        <p:spPr>
          <a:xfrm>
            <a:off x="6226175" y="2609106"/>
            <a:ext cx="5149850" cy="2358281"/>
          </a:xfrm>
          <a:prstGeom prst="roundRect">
            <a:avLst>
              <a:gd name="adj" fmla="val 5251"/>
            </a:avLst>
          </a:prstGeom>
          <a:solidFill>
            <a:srgbClr val="FFFFFF"/>
          </a:solidFill>
          <a:ln w="6350">
            <a:solidFill>
              <a:srgbClr val="E2DED3"/>
            </a:solidFill>
            <a:prstDash val="solid"/>
          </a:ln>
        </p:spPr>
      </p:sp>
      <p:sp>
        <p:nvSpPr>
          <p:cNvPr id="9" name="Text 7"/>
          <p:cNvSpPr/>
          <p:nvPr/>
        </p:nvSpPr>
        <p:spPr>
          <a:xfrm>
            <a:off x="6534150" y="2917081"/>
            <a:ext cx="4669917" cy="274290"/>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4A5568"/>
                </a:solidFill>
                <a:latin typeface="Nunito Sans" pitchFamily="34" charset="0"/>
                <a:ea typeface="Nunito Sans" pitchFamily="34" charset="-122"/>
                <a:cs typeface="Nunito Sans" pitchFamily="34" charset="-120"/>
              </a:rPr>
              <a:t>WHEN A PART IS OUT OF STOCK</a:t>
            </a:r>
            <a:endParaRPr lang="en-US" sz="1400" dirty="0"/>
          </a:p>
        </p:txBody>
      </p:sp>
      <p:sp>
        <p:nvSpPr>
          <p:cNvPr id="10" name="Text 8"/>
          <p:cNvSpPr/>
          <p:nvPr/>
        </p:nvSpPr>
        <p:spPr>
          <a:xfrm>
            <a:off x="6534150" y="3292971"/>
            <a:ext cx="4669917" cy="695920"/>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C0631A"/>
                </a:solidFill>
                <a:latin typeface="Domine" pitchFamily="18" charset="0"/>
                <a:ea typeface="Domine" pitchFamily="18" charset="-122"/>
                <a:cs typeface="Domine" pitchFamily="18" charset="-120"/>
              </a:rPr>
              <a:t>+17%</a:t>
            </a:r>
            <a:endParaRPr lang="en-US" sz="4800" dirty="0"/>
          </a:p>
        </p:txBody>
      </p:sp>
      <p:sp>
        <p:nvSpPr>
          <p:cNvPr id="11" name="Text 9"/>
          <p:cNvSpPr/>
          <p:nvPr/>
        </p:nvSpPr>
        <p:spPr>
          <a:xfrm>
            <a:off x="6534150" y="4090491"/>
            <a:ext cx="4669917"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Nunito Sans" pitchFamily="34" charset="0"/>
                <a:ea typeface="Nunito Sans" pitchFamily="34" charset="-122"/>
                <a:cs typeface="Nunito Sans" pitchFamily="34" charset="-120"/>
              </a:rPr>
              <a:t>more money lost on the same kind of job, about $7,000 extra each time.</a:t>
            </a:r>
            <a:endParaRPr lang="en-US" sz="1600" dirty="0"/>
          </a:p>
        </p:txBody>
      </p:sp>
      <p:sp>
        <p:nvSpPr>
          <p:cNvPr id="12" name="Text 10"/>
          <p:cNvSpPr/>
          <p:nvPr/>
        </p:nvSpPr>
        <p:spPr>
          <a:xfrm>
            <a:off x="812800" y="5275362"/>
            <a:ext cx="10883392"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4213D"/>
                </a:solidFill>
                <a:latin typeface="Nunito Sans" pitchFamily="34" charset="0"/>
                <a:ea typeface="Nunito Sans" pitchFamily="34" charset="-122"/>
                <a:cs typeface="Nunito Sans" pitchFamily="34" charset="-120"/>
              </a:rPr>
              <a:t>Most exposed:</a:t>
            </a:r>
            <a:r>
              <a:rPr lang="en-US" sz="1800" dirty="0">
                <a:solidFill>
                  <a:srgbClr val="14213D"/>
                </a:solidFill>
                <a:latin typeface="Nunito Sans" pitchFamily="34" charset="0"/>
                <a:ea typeface="Nunito Sans" pitchFamily="34" charset="-122"/>
                <a:cs typeface="Nunito Sans" pitchFamily="34" charset="-120"/>
              </a:rPr>
              <a:t> critical heavy mining equipment, which loses $12.71 for every $1 of spare parts.</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DEAE1"/>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4A5568"/>
                </a:solidFill>
                <a:latin typeface="Nunito Sans" pitchFamily="34" charset="0"/>
                <a:ea typeface="Nunito Sans" pitchFamily="34" charset="-122"/>
                <a:cs typeface="Nunito Sans" pitchFamily="34" charset="-120"/>
              </a:rPr>
              <a:t>HOW WE GOT THIS NUMBER · FINDING 6</a:t>
            </a:r>
            <a:endParaRPr lang="en-US" sz="1400" dirty="0"/>
          </a:p>
        </p:txBody>
      </p:sp>
      <p:sp>
        <p:nvSpPr>
          <p:cNvPr id="3" name="Text 1"/>
          <p:cNvSpPr/>
          <p:nvPr>
            <p:ph type="title"/>
          </p:nvPr>
        </p:nvSpPr>
        <p:spPr>
          <a:xfrm>
            <a:off x="812800" y="1315690"/>
            <a:ext cx="10883392" cy="84326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4213D"/>
                </a:solidFill>
                <a:latin typeface="Domine" pitchFamily="18" charset="0"/>
                <a:ea typeface="Domine" pitchFamily="18" charset="-122"/>
                <a:cs typeface="Domine" pitchFamily="18" charset="-120"/>
              </a:rPr>
              <a:t>Spares spend divided by losses, and like-for-like jobs with and without a stockout</a:t>
            </a:r>
            <a:endParaRPr lang="en-US" sz="2800" dirty="0"/>
          </a:p>
        </p:txBody>
      </p:sp>
      <p:sp>
        <p:nvSpPr>
          <p:cNvPr id="4" name="Shape 2"/>
          <p:cNvSpPr/>
          <p:nvPr/>
        </p:nvSpPr>
        <p:spPr>
          <a:xfrm>
            <a:off x="812800" y="2387550"/>
            <a:ext cx="5156200" cy="2777480"/>
          </a:xfrm>
          <a:prstGeom prst="roundRect">
            <a:avLst>
              <a:gd name="adj" fmla="val 3658"/>
            </a:avLst>
          </a:prstGeom>
          <a:solidFill>
            <a:srgbClr val="F6F4EE"/>
          </a:solidFill>
          <a:ln/>
        </p:spPr>
      </p:sp>
      <p:sp>
        <p:nvSpPr>
          <p:cNvPr id="5" name="Text 3"/>
          <p:cNvSpPr/>
          <p:nvPr/>
        </p:nvSpPr>
        <p:spPr>
          <a:xfrm>
            <a:off x="1066800" y="2641550"/>
            <a:ext cx="4787646" cy="25653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2F6FB0"/>
                </a:solidFill>
                <a:latin typeface="Nunito Sans" pitchFamily="34" charset="0"/>
                <a:ea typeface="Nunito Sans" pitchFamily="34" charset="-122"/>
                <a:cs typeface="Nunito Sans" pitchFamily="34" charset="-120"/>
              </a:rPr>
              <a:t>SPARES COVER</a:t>
            </a:r>
            <a:endParaRPr lang="en-US" sz="1300" dirty="0"/>
          </a:p>
        </p:txBody>
      </p:sp>
      <p:sp>
        <p:nvSpPr>
          <p:cNvPr id="6" name="Text 4"/>
          <p:cNvSpPr/>
          <p:nvPr/>
        </p:nvSpPr>
        <p:spPr>
          <a:xfrm>
            <a:off x="1066800" y="2999680"/>
            <a:ext cx="4787646" cy="30162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14213D"/>
                </a:solidFill>
                <a:latin typeface="Nunito Sans" pitchFamily="34" charset="0"/>
                <a:ea typeface="Nunito Sans" pitchFamily="34" charset="-122"/>
                <a:cs typeface="Nunito Sans" pitchFamily="34" charset="-120"/>
              </a:rPr>
              <a:t>Critical: $4.71M spares ÷ $52.59M lost = </a:t>
            </a:r>
            <a:r>
              <a:rPr lang="en-US" sz="1500" b="1" dirty="0">
                <a:solidFill>
                  <a:srgbClr val="14213D"/>
                </a:solidFill>
                <a:latin typeface="Nunito Sans" pitchFamily="34" charset="0"/>
                <a:ea typeface="Nunito Sans" pitchFamily="34" charset="-122"/>
                <a:cs typeface="Nunito Sans" pitchFamily="34" charset="-120"/>
              </a:rPr>
              <a:t>9¢ per $1</a:t>
            </a:r>
            <a:endParaRPr lang="en-US" sz="1500" dirty="0"/>
          </a:p>
        </p:txBody>
      </p:sp>
      <p:sp>
        <p:nvSpPr>
          <p:cNvPr id="7" name="Text 5"/>
          <p:cNvSpPr/>
          <p:nvPr/>
        </p:nvSpPr>
        <p:spPr>
          <a:xfrm>
            <a:off x="1066800" y="3402905"/>
            <a:ext cx="4787646" cy="30162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14213D"/>
                </a:solidFill>
                <a:latin typeface="Nunito Sans" pitchFamily="34" charset="0"/>
                <a:ea typeface="Nunito Sans" pitchFamily="34" charset="-122"/>
                <a:cs typeface="Nunito Sans" pitchFamily="34" charset="-120"/>
              </a:rPr>
              <a:t>Others: $22.17M ÷ $176.29M = </a:t>
            </a:r>
            <a:r>
              <a:rPr lang="en-US" sz="1500" b="1" dirty="0">
                <a:solidFill>
                  <a:srgbClr val="14213D"/>
                </a:solidFill>
                <a:latin typeface="Nunito Sans" pitchFamily="34" charset="0"/>
                <a:ea typeface="Nunito Sans" pitchFamily="34" charset="-122"/>
                <a:cs typeface="Nunito Sans" pitchFamily="34" charset="-120"/>
              </a:rPr>
              <a:t>13¢ per $1</a:t>
            </a:r>
            <a:endParaRPr lang="en-US" sz="1500" dirty="0"/>
          </a:p>
        </p:txBody>
      </p:sp>
      <p:sp>
        <p:nvSpPr>
          <p:cNvPr id="8" name="Text 6"/>
          <p:cNvSpPr/>
          <p:nvPr/>
        </p:nvSpPr>
        <p:spPr>
          <a:xfrm>
            <a:off x="1066800" y="3806130"/>
            <a:ext cx="4787646"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14213D"/>
                </a:solidFill>
                <a:latin typeface="Nunito Sans" pitchFamily="34" charset="0"/>
                <a:ea typeface="Nunito Sans" pitchFamily="34" charset="-122"/>
                <a:cs typeface="Nunito Sans" pitchFamily="34" charset="-120"/>
              </a:rPr>
              <a:t>Critical heavy mining: $12.82M ÷ $1.01M = </a:t>
            </a:r>
            <a:r>
              <a:rPr lang="en-US" sz="1500" b="1" dirty="0">
                <a:solidFill>
                  <a:srgbClr val="14213D"/>
                </a:solidFill>
                <a:latin typeface="Nunito Sans" pitchFamily="34" charset="0"/>
                <a:ea typeface="Nunito Sans" pitchFamily="34" charset="-122"/>
                <a:cs typeface="Nunito Sans" pitchFamily="34" charset="-120"/>
              </a:rPr>
              <a:t>$12.71 lost per $1</a:t>
            </a:r>
            <a:r>
              <a:rPr lang="en-US" sz="1500" dirty="0">
                <a:solidFill>
                  <a:srgbClr val="14213D"/>
                </a:solidFill>
                <a:latin typeface="Nunito Sans" pitchFamily="34" charset="0"/>
                <a:ea typeface="Nunito Sans" pitchFamily="34" charset="-122"/>
                <a:cs typeface="Nunito Sans" pitchFamily="34" charset="-120"/>
              </a:rPr>
              <a:t> of spares</a:t>
            </a:r>
            <a:endParaRPr lang="en-US" sz="1500" dirty="0"/>
          </a:p>
        </p:txBody>
      </p:sp>
      <p:sp>
        <p:nvSpPr>
          <p:cNvPr id="9" name="Shape 7"/>
          <p:cNvSpPr/>
          <p:nvPr/>
        </p:nvSpPr>
        <p:spPr>
          <a:xfrm>
            <a:off x="6223000" y="2387550"/>
            <a:ext cx="5156200" cy="2777480"/>
          </a:xfrm>
          <a:prstGeom prst="roundRect">
            <a:avLst>
              <a:gd name="adj" fmla="val 3658"/>
            </a:avLst>
          </a:prstGeom>
          <a:solidFill>
            <a:srgbClr val="F6F4EE"/>
          </a:solidFill>
          <a:ln/>
        </p:spPr>
      </p:sp>
      <p:sp>
        <p:nvSpPr>
          <p:cNvPr id="10" name="Text 8"/>
          <p:cNvSpPr/>
          <p:nvPr/>
        </p:nvSpPr>
        <p:spPr>
          <a:xfrm>
            <a:off x="6477000" y="2641550"/>
            <a:ext cx="4787646" cy="25653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2F6FB0"/>
                </a:solidFill>
                <a:latin typeface="Nunito Sans" pitchFamily="34" charset="0"/>
                <a:ea typeface="Nunito Sans" pitchFamily="34" charset="-122"/>
                <a:cs typeface="Nunito Sans" pitchFamily="34" charset="-120"/>
              </a:rPr>
              <a:t>STOCKOUT EFFECT</a:t>
            </a:r>
            <a:endParaRPr lang="en-US" sz="1300" dirty="0"/>
          </a:p>
        </p:txBody>
      </p:sp>
      <p:sp>
        <p:nvSpPr>
          <p:cNvPr id="11" name="Text 9"/>
          <p:cNvSpPr/>
          <p:nvPr/>
        </p:nvSpPr>
        <p:spPr>
          <a:xfrm>
            <a:off x="6477000" y="2999680"/>
            <a:ext cx="4787646"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14213D"/>
                </a:solidFill>
                <a:latin typeface="Nunito Sans" pitchFamily="34" charset="0"/>
                <a:ea typeface="Nunito Sans" pitchFamily="34" charset="-122"/>
                <a:cs typeface="Nunito Sans" pitchFamily="34" charset="-120"/>
              </a:rPr>
              <a:t>Stockouts only happen on busy machines (5+ repair orders), so we compared those 446 jobs only.</a:t>
            </a:r>
            <a:endParaRPr lang="en-US" sz="1500" dirty="0"/>
          </a:p>
        </p:txBody>
      </p:sp>
      <p:sp>
        <p:nvSpPr>
          <p:cNvPr id="12" name="Text 10"/>
          <p:cNvSpPr/>
          <p:nvPr/>
        </p:nvSpPr>
        <p:spPr>
          <a:xfrm>
            <a:off x="6477000" y="3679130"/>
            <a:ext cx="4787646"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14213D"/>
                </a:solidFill>
                <a:latin typeface="Nunito Sans" pitchFamily="34" charset="0"/>
                <a:ea typeface="Nunito Sans" pitchFamily="34" charset="-122"/>
                <a:cs typeface="Nunito Sans" pitchFamily="34" charset="-120"/>
              </a:rPr>
              <a:t>84 with a stockout lost </a:t>
            </a:r>
            <a:r>
              <a:rPr lang="en-US" sz="1500" b="1" dirty="0">
                <a:solidFill>
                  <a:srgbClr val="14213D"/>
                </a:solidFill>
                <a:latin typeface="Nunito Sans" pitchFamily="34" charset="0"/>
                <a:ea typeface="Nunito Sans" pitchFamily="34" charset="-122"/>
                <a:cs typeface="Nunito Sans" pitchFamily="34" charset="-120"/>
              </a:rPr>
              <a:t>$118,478</a:t>
            </a:r>
            <a:r>
              <a:rPr lang="en-US" sz="1500" dirty="0">
                <a:solidFill>
                  <a:srgbClr val="14213D"/>
                </a:solidFill>
                <a:latin typeface="Nunito Sans" pitchFamily="34" charset="0"/>
                <a:ea typeface="Nunito Sans" pitchFamily="34" charset="-122"/>
                <a:cs typeface="Nunito Sans" pitchFamily="34" charset="-120"/>
              </a:rPr>
              <a:t> each; 362 without lost </a:t>
            </a:r>
            <a:r>
              <a:rPr lang="en-US" sz="1500" b="1" dirty="0">
                <a:solidFill>
                  <a:srgbClr val="14213D"/>
                </a:solidFill>
                <a:latin typeface="Nunito Sans" pitchFamily="34" charset="0"/>
                <a:ea typeface="Nunito Sans" pitchFamily="34" charset="-122"/>
                <a:cs typeface="Nunito Sans" pitchFamily="34" charset="-120"/>
              </a:rPr>
              <a:t>$101,063</a:t>
            </a:r>
            <a:r>
              <a:rPr lang="en-US" sz="1500" dirty="0">
                <a:solidFill>
                  <a:srgbClr val="14213D"/>
                </a:solidFill>
                <a:latin typeface="Nunito Sans" pitchFamily="34" charset="0"/>
                <a:ea typeface="Nunito Sans" pitchFamily="34" charset="-122"/>
                <a:cs typeface="Nunito Sans" pitchFamily="34" charset="-120"/>
              </a:rPr>
              <a:t>: </a:t>
            </a:r>
            <a:r>
              <a:rPr lang="en-US" sz="1500" b="1" dirty="0">
                <a:solidFill>
                  <a:srgbClr val="14213D"/>
                </a:solidFill>
                <a:latin typeface="Nunito Sans" pitchFamily="34" charset="0"/>
                <a:ea typeface="Nunito Sans" pitchFamily="34" charset="-122"/>
                <a:cs typeface="Nunito Sans" pitchFamily="34" charset="-120"/>
              </a:rPr>
              <a:t>+17%</a:t>
            </a:r>
            <a:r>
              <a:rPr lang="en-US" sz="1500" dirty="0">
                <a:solidFill>
                  <a:srgbClr val="14213D"/>
                </a:solidFill>
                <a:latin typeface="Nunito Sans" pitchFamily="34" charset="0"/>
                <a:ea typeface="Nunito Sans" pitchFamily="34" charset="-122"/>
                <a:cs typeface="Nunito Sans" pitchFamily="34" charset="-120"/>
              </a:rPr>
              <a:t>.</a:t>
            </a:r>
            <a:endParaRPr lang="en-US" sz="1500" dirty="0"/>
          </a:p>
        </p:txBody>
      </p:sp>
      <p:sp>
        <p:nvSpPr>
          <p:cNvPr id="13" name="Text 11"/>
          <p:cNvSpPr/>
          <p:nvPr/>
        </p:nvSpPr>
        <p:spPr>
          <a:xfrm>
            <a:off x="6477000" y="4358580"/>
            <a:ext cx="4787646"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14213D"/>
                </a:solidFill>
                <a:latin typeface="Nunito Sans" pitchFamily="34" charset="0"/>
                <a:ea typeface="Nunito Sans" pitchFamily="34" charset="-122"/>
                <a:cs typeface="Nunito Sans" pitchFamily="34" charset="-120"/>
              </a:rPr>
              <a:t>Adjusting for breakdowns and age, the stockout itself adds about </a:t>
            </a:r>
            <a:r>
              <a:rPr lang="en-US" sz="1500" b="1" dirty="0">
                <a:solidFill>
                  <a:srgbClr val="14213D"/>
                </a:solidFill>
                <a:latin typeface="Nunito Sans" pitchFamily="34" charset="0"/>
                <a:ea typeface="Nunito Sans" pitchFamily="34" charset="-122"/>
                <a:cs typeface="Nunito Sans" pitchFamily="34" charset="-120"/>
              </a:rPr>
              <a:t>$7,000</a:t>
            </a:r>
            <a:r>
              <a:rPr lang="en-US" sz="1500" dirty="0">
                <a:solidFill>
                  <a:srgbClr val="14213D"/>
                </a:solidFill>
                <a:latin typeface="Nunito Sans" pitchFamily="34" charset="0"/>
                <a:ea typeface="Nunito Sans" pitchFamily="34" charset="-122"/>
                <a:cs typeface="Nunito Sans" pitchFamily="34" charset="-120"/>
              </a:rPr>
              <a:t>.</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C0631A"/>
                </a:solidFill>
                <a:latin typeface="Nunito Sans" pitchFamily="34" charset="0"/>
                <a:ea typeface="Nunito Sans" pitchFamily="34" charset="-122"/>
                <a:cs typeface="Nunito Sans" pitchFamily="34" charset="-120"/>
              </a:rPr>
              <a:t>EQUIPMENT SEGMENTS (AI CLUSTERING)</a:t>
            </a:r>
            <a:endParaRPr lang="en-US" sz="1400" dirty="0"/>
          </a:p>
        </p:txBody>
      </p:sp>
      <p:sp>
        <p:nvSpPr>
          <p:cNvPr id="3" name="Text 1"/>
          <p:cNvSpPr/>
          <p:nvPr>
            <p:ph type="title"/>
          </p:nvPr>
        </p:nvSpPr>
        <p:spPr>
          <a:xfrm>
            <a:off x="812800" y="131569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4213D"/>
                </a:solidFill>
                <a:latin typeface="Domine" pitchFamily="18" charset="0"/>
                <a:ea typeface="Domine" pitchFamily="18" charset="-122"/>
                <a:cs typeface="Domine" pitchFamily="18" charset="-120"/>
              </a:rPr>
              <a:t>One segment in six causes 44% of all losses</a:t>
            </a:r>
            <a:endParaRPr lang="en-US" sz="2800" dirty="0"/>
          </a:p>
        </p:txBody>
      </p:sp>
      <p:sp>
        <p:nvSpPr>
          <p:cNvPr id="4" name="Shape 2"/>
          <p:cNvSpPr/>
          <p:nvPr/>
        </p:nvSpPr>
        <p:spPr>
          <a:xfrm>
            <a:off x="812800" y="1978620"/>
            <a:ext cx="2527300" cy="2674541"/>
          </a:xfrm>
          <a:prstGeom prst="roundRect">
            <a:avLst>
              <a:gd name="adj" fmla="val 4020"/>
            </a:avLst>
          </a:prstGeom>
          <a:solidFill>
            <a:srgbClr val="14213D"/>
          </a:solidFill>
          <a:ln/>
        </p:spPr>
      </p:sp>
      <p:sp>
        <p:nvSpPr>
          <p:cNvPr id="5" name="Text 3"/>
          <p:cNvSpPr/>
          <p:nvPr/>
        </p:nvSpPr>
        <p:spPr>
          <a:xfrm>
            <a:off x="1041400" y="2207220"/>
            <a:ext cx="2132203" cy="25653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F0A35E"/>
                </a:solidFill>
                <a:latin typeface="Nunito Sans" pitchFamily="34" charset="0"/>
                <a:ea typeface="Nunito Sans" pitchFamily="34" charset="-122"/>
                <a:cs typeface="Nunito Sans" pitchFamily="34" charset="-120"/>
              </a:rPr>
              <a:t>WORN AND FAILING</a:t>
            </a:r>
            <a:endParaRPr lang="en-US" sz="1300" dirty="0"/>
          </a:p>
        </p:txBody>
      </p:sp>
      <p:sp>
        <p:nvSpPr>
          <p:cNvPr id="6" name="Text 4"/>
          <p:cNvSpPr/>
          <p:nvPr/>
        </p:nvSpPr>
        <p:spPr>
          <a:xfrm>
            <a:off x="1041400" y="2527250"/>
            <a:ext cx="2132203" cy="66546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F6F4EE"/>
                </a:solidFill>
                <a:latin typeface="Domine" pitchFamily="18" charset="0"/>
                <a:ea typeface="Domine" pitchFamily="18" charset="-122"/>
                <a:cs typeface="Domine" pitchFamily="18" charset="-120"/>
              </a:rPr>
              <a:t>44%</a:t>
            </a:r>
            <a:endParaRPr lang="en-US" sz="3600" dirty="0"/>
          </a:p>
        </p:txBody>
      </p:sp>
      <p:sp>
        <p:nvSpPr>
          <p:cNvPr id="7" name="Text 5"/>
          <p:cNvSpPr/>
          <p:nvPr/>
        </p:nvSpPr>
        <p:spPr>
          <a:xfrm>
            <a:off x="1041400" y="3256211"/>
            <a:ext cx="2132203" cy="118105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3E3"/>
                </a:solidFill>
                <a:latin typeface="Nunito Sans" pitchFamily="34" charset="0"/>
                <a:ea typeface="Nunito Sans" pitchFamily="34" charset="-122"/>
                <a:cs typeface="Nunito Sans" pitchFamily="34" charset="-120"/>
              </a:rPr>
              <a:t>of losses from 16% of records. Avg 10 years old, 3 breakdowns, 43 h down; holds 177 of the 289 high-risk records.</a:t>
            </a:r>
            <a:endParaRPr lang="en-US" sz="1300" dirty="0"/>
          </a:p>
        </p:txBody>
      </p:sp>
      <p:sp>
        <p:nvSpPr>
          <p:cNvPr id="8" name="Shape 6"/>
          <p:cNvSpPr/>
          <p:nvPr/>
        </p:nvSpPr>
        <p:spPr>
          <a:xfrm>
            <a:off x="3495675" y="1981795"/>
            <a:ext cx="2520950" cy="2668191"/>
          </a:xfrm>
          <a:prstGeom prst="roundRect">
            <a:avLst>
              <a:gd name="adj" fmla="val 3904"/>
            </a:avLst>
          </a:prstGeom>
          <a:solidFill>
            <a:srgbClr val="FFFFFF"/>
          </a:solidFill>
          <a:ln w="6350">
            <a:solidFill>
              <a:srgbClr val="E2DED3"/>
            </a:solidFill>
            <a:prstDash val="solid"/>
          </a:ln>
        </p:spPr>
      </p:sp>
      <p:sp>
        <p:nvSpPr>
          <p:cNvPr id="9" name="Text 7"/>
          <p:cNvSpPr/>
          <p:nvPr/>
        </p:nvSpPr>
        <p:spPr>
          <a:xfrm>
            <a:off x="3727450" y="2213570"/>
            <a:ext cx="2119122" cy="25653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C0631A"/>
                </a:solidFill>
                <a:latin typeface="Nunito Sans" pitchFamily="34" charset="0"/>
                <a:ea typeface="Nunito Sans" pitchFamily="34" charset="-122"/>
                <a:cs typeface="Nunito Sans" pitchFamily="34" charset="-120"/>
              </a:rPr>
              <a:t>SLOW SERVICE</a:t>
            </a:r>
            <a:endParaRPr lang="en-US" sz="1300" dirty="0"/>
          </a:p>
        </p:txBody>
      </p:sp>
      <p:sp>
        <p:nvSpPr>
          <p:cNvPr id="10" name="Text 8"/>
          <p:cNvSpPr/>
          <p:nvPr/>
        </p:nvSpPr>
        <p:spPr>
          <a:xfrm>
            <a:off x="3727450" y="2533600"/>
            <a:ext cx="2119122" cy="66546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14213D"/>
                </a:solidFill>
                <a:latin typeface="Domine" pitchFamily="18" charset="0"/>
                <a:ea typeface="Domine" pitchFamily="18" charset="-122"/>
                <a:cs typeface="Domine" pitchFamily="18" charset="-120"/>
              </a:rPr>
              <a:t>18%</a:t>
            </a:r>
            <a:endParaRPr lang="en-US" sz="3600" dirty="0"/>
          </a:p>
        </p:txBody>
      </p:sp>
      <p:sp>
        <p:nvSpPr>
          <p:cNvPr id="11" name="Text 9"/>
          <p:cNvSpPr/>
          <p:nvPr/>
        </p:nvSpPr>
        <p:spPr>
          <a:xfrm>
            <a:off x="3727450" y="3262561"/>
            <a:ext cx="2119122" cy="9499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Nunito Sans" pitchFamily="34" charset="0"/>
                <a:ea typeface="Nunito Sans" pitchFamily="34" charset="-122"/>
                <a:cs typeface="Nunito Sans" pitchFamily="34" charset="-120"/>
              </a:rPr>
              <a:t>of losses from 22% of records. Average condition, but only 40% of deadlines met; 96 high-risk.</a:t>
            </a:r>
            <a:endParaRPr lang="en-US" sz="1300" dirty="0"/>
          </a:p>
        </p:txBody>
      </p:sp>
      <p:sp>
        <p:nvSpPr>
          <p:cNvPr id="12" name="Shape 10"/>
          <p:cNvSpPr/>
          <p:nvPr/>
        </p:nvSpPr>
        <p:spPr>
          <a:xfrm>
            <a:off x="6175375" y="1981795"/>
            <a:ext cx="2520950" cy="2668191"/>
          </a:xfrm>
          <a:prstGeom prst="roundRect">
            <a:avLst>
              <a:gd name="adj" fmla="val 3904"/>
            </a:avLst>
          </a:prstGeom>
          <a:solidFill>
            <a:srgbClr val="FFFFFF"/>
          </a:solidFill>
          <a:ln w="6350">
            <a:solidFill>
              <a:srgbClr val="E2DED3"/>
            </a:solidFill>
            <a:prstDash val="solid"/>
          </a:ln>
        </p:spPr>
      </p:sp>
      <p:sp>
        <p:nvSpPr>
          <p:cNvPr id="13" name="Text 11"/>
          <p:cNvSpPr/>
          <p:nvPr/>
        </p:nvSpPr>
        <p:spPr>
          <a:xfrm>
            <a:off x="6407150" y="2213570"/>
            <a:ext cx="2119122" cy="48766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4A5568"/>
                </a:solidFill>
                <a:latin typeface="Nunito Sans" pitchFamily="34" charset="0"/>
                <a:ea typeface="Nunito Sans" pitchFamily="34" charset="-122"/>
                <a:cs typeface="Nunito Sans" pitchFamily="34" charset="-120"/>
              </a:rPr>
              <a:t>AGEING, WELL SERVED</a:t>
            </a:r>
            <a:endParaRPr lang="en-US" sz="1300" dirty="0"/>
          </a:p>
        </p:txBody>
      </p:sp>
      <p:sp>
        <p:nvSpPr>
          <p:cNvPr id="14" name="Text 12"/>
          <p:cNvSpPr/>
          <p:nvPr/>
        </p:nvSpPr>
        <p:spPr>
          <a:xfrm>
            <a:off x="6407150" y="2764730"/>
            <a:ext cx="2119122" cy="66546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14213D"/>
                </a:solidFill>
                <a:latin typeface="Domine" pitchFamily="18" charset="0"/>
                <a:ea typeface="Domine" pitchFamily="18" charset="-122"/>
                <a:cs typeface="Domine" pitchFamily="18" charset="-120"/>
              </a:rPr>
              <a:t>30%</a:t>
            </a:r>
            <a:endParaRPr lang="en-US" sz="3600" dirty="0"/>
          </a:p>
        </p:txBody>
      </p:sp>
      <p:sp>
        <p:nvSpPr>
          <p:cNvPr id="15" name="Text 13"/>
          <p:cNvSpPr/>
          <p:nvPr/>
        </p:nvSpPr>
        <p:spPr>
          <a:xfrm>
            <a:off x="6407150" y="3493691"/>
            <a:ext cx="2119122" cy="9499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Nunito Sans" pitchFamily="34" charset="0"/>
                <a:ea typeface="Nunito Sans" pitchFamily="34" charset="-122"/>
                <a:cs typeface="Nunito Sans" pitchFamily="34" charset="-120"/>
              </a:rPr>
              <a:t>of losses from 32% of records. 9 years old, but 95% of deadlines met; 16 high-risk.</a:t>
            </a:r>
            <a:endParaRPr lang="en-US" sz="1300" dirty="0"/>
          </a:p>
        </p:txBody>
      </p:sp>
      <p:sp>
        <p:nvSpPr>
          <p:cNvPr id="16" name="Shape 14"/>
          <p:cNvSpPr/>
          <p:nvPr/>
        </p:nvSpPr>
        <p:spPr>
          <a:xfrm>
            <a:off x="8855075" y="1981795"/>
            <a:ext cx="2520950" cy="2668191"/>
          </a:xfrm>
          <a:prstGeom prst="roundRect">
            <a:avLst>
              <a:gd name="adj" fmla="val 3904"/>
            </a:avLst>
          </a:prstGeom>
          <a:solidFill>
            <a:srgbClr val="FFFFFF"/>
          </a:solidFill>
          <a:ln w="6350">
            <a:solidFill>
              <a:srgbClr val="E2DED3"/>
            </a:solidFill>
            <a:prstDash val="solid"/>
          </a:ln>
        </p:spPr>
      </p:sp>
      <p:sp>
        <p:nvSpPr>
          <p:cNvPr id="17" name="Text 15"/>
          <p:cNvSpPr/>
          <p:nvPr/>
        </p:nvSpPr>
        <p:spPr>
          <a:xfrm>
            <a:off x="9086850" y="2213570"/>
            <a:ext cx="2286000" cy="25653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2F6FB0"/>
                </a:solidFill>
                <a:latin typeface="Nunito Sans" pitchFamily="34" charset="0"/>
                <a:ea typeface="Nunito Sans" pitchFamily="34" charset="-122"/>
                <a:cs typeface="Nunito Sans" pitchFamily="34" charset="-120"/>
              </a:rPr>
              <a:t>YOUNG AND HEALTHY</a:t>
            </a:r>
            <a:endParaRPr lang="en-US" sz="1300" dirty="0"/>
          </a:p>
        </p:txBody>
      </p:sp>
      <p:sp>
        <p:nvSpPr>
          <p:cNvPr id="18" name="Text 16"/>
          <p:cNvSpPr/>
          <p:nvPr/>
        </p:nvSpPr>
        <p:spPr>
          <a:xfrm>
            <a:off x="9086850" y="2533600"/>
            <a:ext cx="2119122" cy="66546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14213D"/>
                </a:solidFill>
                <a:latin typeface="Domine" pitchFamily="18" charset="0"/>
                <a:ea typeface="Domine" pitchFamily="18" charset="-122"/>
                <a:cs typeface="Domine" pitchFamily="18" charset="-120"/>
              </a:rPr>
              <a:t>9%</a:t>
            </a:r>
            <a:endParaRPr lang="en-US" sz="3600" dirty="0"/>
          </a:p>
        </p:txBody>
      </p:sp>
      <p:sp>
        <p:nvSpPr>
          <p:cNvPr id="19" name="Text 17"/>
          <p:cNvSpPr/>
          <p:nvPr/>
        </p:nvSpPr>
        <p:spPr>
          <a:xfrm>
            <a:off x="9086850" y="3262561"/>
            <a:ext cx="2119122" cy="9499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Nunito Sans" pitchFamily="34" charset="0"/>
                <a:ea typeface="Nunito Sans" pitchFamily="34" charset="-122"/>
                <a:cs typeface="Nunito Sans" pitchFamily="34" charset="-120"/>
              </a:rPr>
              <a:t>of losses from 30% of records. 5 years old, condition 84/100; no high-risk records.</a:t>
            </a:r>
            <a:endParaRPr lang="en-US" sz="1300" dirty="0"/>
          </a:p>
        </p:txBody>
      </p:sp>
      <p:sp>
        <p:nvSpPr>
          <p:cNvPr id="20" name="Text 18"/>
          <p:cNvSpPr/>
          <p:nvPr/>
        </p:nvSpPr>
        <p:spPr>
          <a:xfrm>
            <a:off x="812800" y="4907161"/>
            <a:ext cx="10883392" cy="301625"/>
          </a:xfrm>
          <a:prstGeom prst="rect">
            <a:avLst/>
          </a:prstGeom>
          <a:noFill/>
          <a:ln/>
        </p:spPr>
        <p:txBody>
          <a:bodyPr wrap="square" lIns="0" tIns="0" rIns="0" bIns="0" rtlCol="0" anchor="t">
            <a:normAutofit/>
          </a:bodyPr>
          <a:lstStyle/>
          <a:p>
            <a:pPr algn="l" indent="0" marL="0">
              <a:lnSpc>
                <a:spcPts val="2175"/>
              </a:lnSpc>
              <a:buNone/>
            </a:pPr>
            <a:r>
              <a:rPr lang="en-US" sz="1500" b="1" dirty="0">
                <a:solidFill>
                  <a:srgbClr val="14213D"/>
                </a:solidFill>
                <a:latin typeface="Nunito Sans" pitchFamily="34" charset="0"/>
                <a:ea typeface="Nunito Sans" pitchFamily="34" charset="-122"/>
                <a:cs typeface="Nunito Sans" pitchFamily="34" charset="-120"/>
              </a:rPr>
              <a:t>Use:</a:t>
            </a:r>
            <a:r>
              <a:rPr lang="en-US" sz="1500" dirty="0">
                <a:solidFill>
                  <a:srgbClr val="14213D"/>
                </a:solidFill>
                <a:latin typeface="Nunito Sans" pitchFamily="34" charset="0"/>
                <a:ea typeface="Nunito Sans" pitchFamily="34" charset="-122"/>
                <a:cs typeface="Nunito Sans" pitchFamily="34" charset="-120"/>
              </a:rPr>
              <a:t> overhaul or replace the first group, fix response times for the second, keep the last two on routine plans.</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C0631A"/>
                </a:solidFill>
                <a:latin typeface="Nunito Sans" pitchFamily="34" charset="0"/>
                <a:ea typeface="Nunito Sans" pitchFamily="34" charset="-122"/>
                <a:cs typeface="Nunito Sans" pitchFamily="34" charset="-120"/>
              </a:rPr>
              <a:t>OUR BUSINESS QUESTIONS · 1 OF 2</a:t>
            </a:r>
            <a:endParaRPr lang="en-US" sz="1400" dirty="0"/>
          </a:p>
        </p:txBody>
      </p:sp>
      <p:sp>
        <p:nvSpPr>
          <p:cNvPr id="3" name="Text 1"/>
          <p:cNvSpPr/>
          <p:nvPr>
            <p:ph type="title"/>
          </p:nvPr>
        </p:nvSpPr>
        <p:spPr>
          <a:xfrm>
            <a:off x="812800" y="131569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4213D"/>
                </a:solidFill>
                <a:latin typeface="Domine" pitchFamily="18" charset="0"/>
                <a:ea typeface="Domine" pitchFamily="18" charset="-122"/>
                <a:cs typeface="Domine" pitchFamily="18" charset="-120"/>
              </a:rPr>
              <a:t>Reliability, work orders and maintenance strategy</a:t>
            </a:r>
            <a:endParaRPr lang="en-US" sz="2800" dirty="0"/>
          </a:p>
        </p:txBody>
      </p:sp>
      <p:sp>
        <p:nvSpPr>
          <p:cNvPr id="4" name="Shape 2"/>
          <p:cNvSpPr/>
          <p:nvPr/>
        </p:nvSpPr>
        <p:spPr>
          <a:xfrm>
            <a:off x="815975" y="1981795"/>
            <a:ext cx="3414167" cy="1626791"/>
          </a:xfrm>
          <a:prstGeom prst="roundRect">
            <a:avLst>
              <a:gd name="adj" fmla="val 6050"/>
            </a:avLst>
          </a:prstGeom>
          <a:solidFill>
            <a:srgbClr val="FFFFFF"/>
          </a:solidFill>
          <a:ln w="6350">
            <a:solidFill>
              <a:srgbClr val="E2DED3"/>
            </a:solidFill>
            <a:prstDash val="solid"/>
          </a:ln>
        </p:spPr>
      </p:sp>
      <p:sp>
        <p:nvSpPr>
          <p:cNvPr id="5" name="Text 3"/>
          <p:cNvSpPr/>
          <p:nvPr/>
        </p:nvSpPr>
        <p:spPr>
          <a:xfrm>
            <a:off x="1022350" y="2188170"/>
            <a:ext cx="3091459"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F6FB0"/>
                </a:solidFill>
                <a:latin typeface="Nunito Sans" pitchFamily="34" charset="0"/>
                <a:ea typeface="Nunito Sans" pitchFamily="34" charset="-122"/>
                <a:cs typeface="Nunito Sans" pitchFamily="34" charset="-120"/>
              </a:rPr>
              <a:t>Which assets are deteriorating?</a:t>
            </a:r>
            <a:endParaRPr lang="en-US" sz="1400" dirty="0"/>
          </a:p>
        </p:txBody>
      </p:sp>
      <p:sp>
        <p:nvSpPr>
          <p:cNvPr id="6" name="Text 4"/>
          <p:cNvSpPr/>
          <p:nvPr/>
        </p:nvSpPr>
        <p:spPr>
          <a:xfrm>
            <a:off x="1022350" y="2477691"/>
            <a:ext cx="3091459"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13D"/>
                </a:solidFill>
                <a:latin typeface="Nunito Sans" pitchFamily="34" charset="0"/>
                <a:ea typeface="Nunito Sans" pitchFamily="34" charset="-122"/>
                <a:cs typeface="Nunito Sans" pitchFamily="34" charset="-120"/>
              </a:rPr>
              <a:t>Railway signalling, and anything over 10 years old in poor condition.</a:t>
            </a:r>
            <a:endParaRPr lang="en-US" sz="1300" dirty="0"/>
          </a:p>
        </p:txBody>
      </p:sp>
      <p:sp>
        <p:nvSpPr>
          <p:cNvPr id="7" name="Shape 5"/>
          <p:cNvSpPr/>
          <p:nvPr/>
        </p:nvSpPr>
        <p:spPr>
          <a:xfrm>
            <a:off x="4388892" y="1981795"/>
            <a:ext cx="3414167" cy="1626791"/>
          </a:xfrm>
          <a:prstGeom prst="roundRect">
            <a:avLst>
              <a:gd name="adj" fmla="val 6050"/>
            </a:avLst>
          </a:prstGeom>
          <a:solidFill>
            <a:srgbClr val="FFFFFF"/>
          </a:solidFill>
          <a:ln w="6350">
            <a:solidFill>
              <a:srgbClr val="E2DED3"/>
            </a:solidFill>
            <a:prstDash val="solid"/>
          </a:ln>
        </p:spPr>
      </p:sp>
      <p:sp>
        <p:nvSpPr>
          <p:cNvPr id="8" name="Text 6"/>
          <p:cNvSpPr/>
          <p:nvPr/>
        </p:nvSpPr>
        <p:spPr>
          <a:xfrm>
            <a:off x="4595267" y="2188170"/>
            <a:ext cx="3091459" cy="452041"/>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F6FB0"/>
                </a:solidFill>
                <a:latin typeface="Nunito Sans" pitchFamily="34" charset="0"/>
                <a:ea typeface="Nunito Sans" pitchFamily="34" charset="-122"/>
                <a:cs typeface="Nunito Sans" pitchFamily="34" charset="-120"/>
              </a:rPr>
              <a:t>What predicts failure and downtime?</a:t>
            </a:r>
            <a:endParaRPr lang="en-US" sz="1400" dirty="0"/>
          </a:p>
        </p:txBody>
      </p:sp>
      <p:sp>
        <p:nvSpPr>
          <p:cNvPr id="9" name="Text 7"/>
          <p:cNvSpPr/>
          <p:nvPr/>
        </p:nvSpPr>
        <p:spPr>
          <a:xfrm>
            <a:off x="4595267" y="2691011"/>
            <a:ext cx="3091459"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13D"/>
                </a:solidFill>
                <a:latin typeface="Nunito Sans" pitchFamily="34" charset="0"/>
                <a:ea typeface="Nunito Sans" pitchFamily="34" charset="-122"/>
                <a:cs typeface="Nunito Sans" pitchFamily="34" charset="-120"/>
              </a:rPr>
              <a:t>Condition score, age and vibration. Temperature and pressure don’t.</a:t>
            </a:r>
            <a:endParaRPr lang="en-US" sz="1300" dirty="0"/>
          </a:p>
        </p:txBody>
      </p:sp>
      <p:sp>
        <p:nvSpPr>
          <p:cNvPr id="10" name="Shape 8"/>
          <p:cNvSpPr/>
          <p:nvPr/>
        </p:nvSpPr>
        <p:spPr>
          <a:xfrm>
            <a:off x="7961809" y="1981795"/>
            <a:ext cx="3414216" cy="1626791"/>
          </a:xfrm>
          <a:prstGeom prst="roundRect">
            <a:avLst>
              <a:gd name="adj" fmla="val 6050"/>
            </a:avLst>
          </a:prstGeom>
          <a:solidFill>
            <a:srgbClr val="FFFFFF"/>
          </a:solidFill>
          <a:ln w="6350">
            <a:solidFill>
              <a:srgbClr val="E2DED3"/>
            </a:solidFill>
            <a:prstDash val="solid"/>
          </a:ln>
        </p:spPr>
      </p:sp>
      <p:sp>
        <p:nvSpPr>
          <p:cNvPr id="11" name="Text 9"/>
          <p:cNvSpPr/>
          <p:nvPr/>
        </p:nvSpPr>
        <p:spPr>
          <a:xfrm>
            <a:off x="8168184" y="2188170"/>
            <a:ext cx="309151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F6FB0"/>
                </a:solidFill>
                <a:latin typeface="Nunito Sans" pitchFamily="34" charset="0"/>
                <a:ea typeface="Nunito Sans" pitchFamily="34" charset="-122"/>
                <a:cs typeface="Nunito Sans" pitchFamily="34" charset="-120"/>
              </a:rPr>
              <a:t>Where is backlog concentrated?</a:t>
            </a:r>
            <a:endParaRPr lang="en-US" sz="1400" dirty="0"/>
          </a:p>
        </p:txBody>
      </p:sp>
      <p:sp>
        <p:nvSpPr>
          <p:cNvPr id="12" name="Text 10"/>
          <p:cNvSpPr/>
          <p:nvPr/>
        </p:nvSpPr>
        <p:spPr>
          <a:xfrm>
            <a:off x="8168184" y="2477691"/>
            <a:ext cx="3091510" cy="9499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13D"/>
                </a:solidFill>
                <a:latin typeface="Nunito Sans" pitchFamily="34" charset="0"/>
                <a:ea typeface="Nunito Sans" pitchFamily="34" charset="-122"/>
                <a:cs typeface="Nunito Sans" pitchFamily="34" charset="-120"/>
              </a:rPr>
              <a:t>Nowhere in particular: 77–82% of records are overdue in every team, shift and equipment type. It’s a planning issue.</a:t>
            </a:r>
            <a:endParaRPr lang="en-US" sz="1300" dirty="0"/>
          </a:p>
        </p:txBody>
      </p:sp>
      <p:sp>
        <p:nvSpPr>
          <p:cNvPr id="13" name="Shape 11"/>
          <p:cNvSpPr/>
          <p:nvPr/>
        </p:nvSpPr>
        <p:spPr>
          <a:xfrm>
            <a:off x="815975" y="3767336"/>
            <a:ext cx="3414167" cy="1608981"/>
          </a:xfrm>
          <a:prstGeom prst="roundRect">
            <a:avLst>
              <a:gd name="adj" fmla="val 6117"/>
            </a:avLst>
          </a:prstGeom>
          <a:solidFill>
            <a:srgbClr val="FFFFFF"/>
          </a:solidFill>
          <a:ln w="6350">
            <a:solidFill>
              <a:srgbClr val="E2DED3"/>
            </a:solidFill>
            <a:prstDash val="solid"/>
          </a:ln>
        </p:spPr>
      </p:sp>
      <p:sp>
        <p:nvSpPr>
          <p:cNvPr id="14" name="Text 12"/>
          <p:cNvSpPr/>
          <p:nvPr/>
        </p:nvSpPr>
        <p:spPr>
          <a:xfrm>
            <a:off x="1022350" y="3973711"/>
            <a:ext cx="3091459"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F6FB0"/>
                </a:solidFill>
                <a:latin typeface="Nunito Sans" pitchFamily="34" charset="0"/>
                <a:ea typeface="Nunito Sans" pitchFamily="34" charset="-122"/>
                <a:cs typeface="Nunito Sans" pitchFamily="34" charset="-120"/>
              </a:rPr>
              <a:t>What explains repeat repairs?</a:t>
            </a:r>
            <a:endParaRPr lang="en-US" sz="1400" dirty="0"/>
          </a:p>
        </p:txBody>
      </p:sp>
      <p:sp>
        <p:nvSpPr>
          <p:cNvPr id="15" name="Text 13"/>
          <p:cNvSpPr/>
          <p:nvPr/>
        </p:nvSpPr>
        <p:spPr>
          <a:xfrm>
            <a:off x="1022350" y="4263231"/>
            <a:ext cx="3091459"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13D"/>
                </a:solidFill>
                <a:latin typeface="Nunito Sans" pitchFamily="34" charset="0"/>
                <a:ea typeface="Nunito Sans" pitchFamily="34" charset="-122"/>
                <a:cs typeface="Nunito Sans" pitchFamily="34" charset="-120"/>
              </a:rPr>
              <a:t>Machines with several breakdowns: 12% repeat rate with one, 25–27% with two or more. Not the team or shift.</a:t>
            </a:r>
            <a:endParaRPr lang="en-US" sz="1300" dirty="0"/>
          </a:p>
        </p:txBody>
      </p:sp>
      <p:sp>
        <p:nvSpPr>
          <p:cNvPr id="16" name="Shape 14"/>
          <p:cNvSpPr/>
          <p:nvPr/>
        </p:nvSpPr>
        <p:spPr>
          <a:xfrm>
            <a:off x="4388892" y="3767336"/>
            <a:ext cx="3414167" cy="1608981"/>
          </a:xfrm>
          <a:prstGeom prst="roundRect">
            <a:avLst>
              <a:gd name="adj" fmla="val 6117"/>
            </a:avLst>
          </a:prstGeom>
          <a:solidFill>
            <a:srgbClr val="FFFFFF"/>
          </a:solidFill>
          <a:ln w="6350">
            <a:solidFill>
              <a:srgbClr val="E2DED3"/>
            </a:solidFill>
            <a:prstDash val="solid"/>
          </a:ln>
        </p:spPr>
      </p:sp>
      <p:sp>
        <p:nvSpPr>
          <p:cNvPr id="17" name="Text 15"/>
          <p:cNvSpPr/>
          <p:nvPr/>
        </p:nvSpPr>
        <p:spPr>
          <a:xfrm>
            <a:off x="4595267" y="3973711"/>
            <a:ext cx="3091459" cy="452041"/>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F6FB0"/>
                </a:solidFill>
                <a:latin typeface="Nunito Sans" pitchFamily="34" charset="0"/>
                <a:ea typeface="Nunito Sans" pitchFamily="34" charset="-122"/>
                <a:cs typeface="Nunito Sans" pitchFamily="34" charset="-120"/>
              </a:rPr>
              <a:t>Which strategy gives the best health?</a:t>
            </a:r>
            <a:endParaRPr lang="en-US" sz="1400" dirty="0"/>
          </a:p>
        </p:txBody>
      </p:sp>
      <p:sp>
        <p:nvSpPr>
          <p:cNvPr id="18" name="Text 16"/>
          <p:cNvSpPr/>
          <p:nvPr/>
        </p:nvSpPr>
        <p:spPr>
          <a:xfrm>
            <a:off x="4595267" y="4476552"/>
            <a:ext cx="3091459"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13D"/>
                </a:solidFill>
                <a:latin typeface="Nunito Sans" pitchFamily="34" charset="0"/>
                <a:ea typeface="Nunito Sans" pitchFamily="34" charset="-122"/>
                <a:cs typeface="Nunito Sans" pitchFamily="34" charset="-120"/>
              </a:rPr>
              <a:t>Sensor-guided (80.4) and condition checks (80.2). Waiting for failure is worst (75.3).</a:t>
            </a:r>
            <a:endParaRPr lang="en-US" sz="1300" dirty="0"/>
          </a:p>
        </p:txBody>
      </p:sp>
      <p:sp>
        <p:nvSpPr>
          <p:cNvPr id="19" name="Shape 17"/>
          <p:cNvSpPr/>
          <p:nvPr/>
        </p:nvSpPr>
        <p:spPr>
          <a:xfrm>
            <a:off x="7961809" y="3767336"/>
            <a:ext cx="3414216" cy="1608981"/>
          </a:xfrm>
          <a:prstGeom prst="roundRect">
            <a:avLst>
              <a:gd name="adj" fmla="val 6117"/>
            </a:avLst>
          </a:prstGeom>
          <a:solidFill>
            <a:srgbClr val="FFFFFF"/>
          </a:solidFill>
          <a:ln w="6350">
            <a:solidFill>
              <a:srgbClr val="E2DED3"/>
            </a:solidFill>
            <a:prstDash val="solid"/>
          </a:ln>
        </p:spPr>
      </p:sp>
      <p:sp>
        <p:nvSpPr>
          <p:cNvPr id="20" name="Text 18"/>
          <p:cNvSpPr/>
          <p:nvPr/>
        </p:nvSpPr>
        <p:spPr>
          <a:xfrm>
            <a:off x="8168184" y="3973711"/>
            <a:ext cx="3091510" cy="452041"/>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F6FB0"/>
                </a:solidFill>
                <a:latin typeface="Nunito Sans" pitchFamily="34" charset="0"/>
                <a:ea typeface="Nunito Sans" pitchFamily="34" charset="-122"/>
                <a:cs typeface="Nunito Sans" pitchFamily="34" charset="-120"/>
              </a:rPr>
              <a:t>Where to expand sensor-guided care?</a:t>
            </a:r>
            <a:endParaRPr lang="en-US" sz="1400" dirty="0"/>
          </a:p>
        </p:txBody>
      </p:sp>
      <p:sp>
        <p:nvSpPr>
          <p:cNvPr id="21" name="Text 19"/>
          <p:cNvSpPr/>
          <p:nvPr/>
        </p:nvSpPr>
        <p:spPr>
          <a:xfrm>
            <a:off x="8168184" y="4476552"/>
            <a:ext cx="3091510"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13D"/>
                </a:solidFill>
                <a:latin typeface="Nunito Sans" pitchFamily="34" charset="0"/>
                <a:ea typeface="Nunito Sans" pitchFamily="34" charset="-122"/>
                <a:cs typeface="Nunito Sans" pitchFamily="34" charset="-120"/>
              </a:rPr>
              <a:t>The 798 run-to-failure records first, especially railway and pumps over 10 years old.</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C0631A"/>
                </a:solidFill>
                <a:latin typeface="Nunito Sans" pitchFamily="34" charset="0"/>
                <a:ea typeface="Nunito Sans" pitchFamily="34" charset="-122"/>
                <a:cs typeface="Nunito Sans" pitchFamily="34" charset="-120"/>
              </a:rPr>
              <a:t>OUR BUSINESS QUESTIONS · 2 OF 2</a:t>
            </a:r>
            <a:endParaRPr lang="en-US" sz="1400" dirty="0"/>
          </a:p>
        </p:txBody>
      </p:sp>
      <p:sp>
        <p:nvSpPr>
          <p:cNvPr id="3" name="Text 1"/>
          <p:cNvSpPr/>
          <p:nvPr>
            <p:ph type="title"/>
          </p:nvPr>
        </p:nvSpPr>
        <p:spPr>
          <a:xfrm>
            <a:off x="812800" y="131569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4213D"/>
                </a:solidFill>
                <a:latin typeface="Domine" pitchFamily="18" charset="0"/>
                <a:ea typeface="Domine" pitchFamily="18" charset="-122"/>
                <a:cs typeface="Domine" pitchFamily="18" charset="-120"/>
              </a:rPr>
              <a:t>Cost, service and safety, and AI</a:t>
            </a:r>
            <a:endParaRPr lang="en-US" sz="2800" dirty="0"/>
          </a:p>
        </p:txBody>
      </p:sp>
      <p:sp>
        <p:nvSpPr>
          <p:cNvPr id="4" name="Shape 2"/>
          <p:cNvSpPr/>
          <p:nvPr/>
        </p:nvSpPr>
        <p:spPr>
          <a:xfrm>
            <a:off x="815975" y="1981795"/>
            <a:ext cx="3414167" cy="1608981"/>
          </a:xfrm>
          <a:prstGeom prst="roundRect">
            <a:avLst>
              <a:gd name="adj" fmla="val 6117"/>
            </a:avLst>
          </a:prstGeom>
          <a:solidFill>
            <a:srgbClr val="FFFFFF"/>
          </a:solidFill>
          <a:ln w="6350">
            <a:solidFill>
              <a:srgbClr val="E2DED3"/>
            </a:solidFill>
            <a:prstDash val="solid"/>
          </a:ln>
        </p:spPr>
      </p:sp>
      <p:sp>
        <p:nvSpPr>
          <p:cNvPr id="5" name="Text 3"/>
          <p:cNvSpPr/>
          <p:nvPr/>
        </p:nvSpPr>
        <p:spPr>
          <a:xfrm>
            <a:off x="1022350" y="2188170"/>
            <a:ext cx="3091459" cy="452041"/>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F6FB0"/>
                </a:solidFill>
                <a:latin typeface="Nunito Sans" pitchFamily="34" charset="0"/>
                <a:ea typeface="Nunito Sans" pitchFamily="34" charset="-122"/>
                <a:cs typeface="Nunito Sans" pitchFamily="34" charset="-120"/>
              </a:rPr>
              <a:t>Where is our biggest money exposure?</a:t>
            </a:r>
            <a:endParaRPr lang="en-US" sz="1400" dirty="0"/>
          </a:p>
        </p:txBody>
      </p:sp>
      <p:sp>
        <p:nvSpPr>
          <p:cNvPr id="6" name="Text 4"/>
          <p:cNvSpPr/>
          <p:nvPr/>
        </p:nvSpPr>
        <p:spPr>
          <a:xfrm>
            <a:off x="1022350" y="2691011"/>
            <a:ext cx="3091459"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13D"/>
                </a:solidFill>
                <a:latin typeface="Nunito Sans" pitchFamily="34" charset="0"/>
                <a:ea typeface="Nunito Sans" pitchFamily="34" charset="-122"/>
                <a:cs typeface="Nunito Sans" pitchFamily="34" charset="-120"/>
              </a:rPr>
              <a:t>Railway signalling ($54.3M lost) and critical equipment ($61,000 per record, 43% above the rest).</a:t>
            </a:r>
            <a:endParaRPr lang="en-US" sz="1300" dirty="0"/>
          </a:p>
        </p:txBody>
      </p:sp>
      <p:sp>
        <p:nvSpPr>
          <p:cNvPr id="7" name="Shape 5"/>
          <p:cNvSpPr/>
          <p:nvPr/>
        </p:nvSpPr>
        <p:spPr>
          <a:xfrm>
            <a:off x="4388892" y="1981795"/>
            <a:ext cx="3414167" cy="1608981"/>
          </a:xfrm>
          <a:prstGeom prst="roundRect">
            <a:avLst>
              <a:gd name="adj" fmla="val 6117"/>
            </a:avLst>
          </a:prstGeom>
          <a:solidFill>
            <a:srgbClr val="FFFFFF"/>
          </a:solidFill>
          <a:ln w="6350">
            <a:solidFill>
              <a:srgbClr val="E2DED3"/>
            </a:solidFill>
            <a:prstDash val="solid"/>
          </a:ln>
        </p:spPr>
      </p:sp>
      <p:sp>
        <p:nvSpPr>
          <p:cNvPr id="8" name="Text 6"/>
          <p:cNvSpPr/>
          <p:nvPr/>
        </p:nvSpPr>
        <p:spPr>
          <a:xfrm>
            <a:off x="4595267" y="2188170"/>
            <a:ext cx="3091459" cy="452041"/>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F6FB0"/>
                </a:solidFill>
                <a:latin typeface="Nunito Sans" pitchFamily="34" charset="0"/>
                <a:ea typeface="Nunito Sans" pitchFamily="34" charset="-122"/>
                <a:cs typeface="Nunito Sans" pitchFamily="34" charset="-120"/>
              </a:rPr>
              <a:t>How should spare parts be prioritised?</a:t>
            </a:r>
            <a:endParaRPr lang="en-US" sz="1400" dirty="0"/>
          </a:p>
        </p:txBody>
      </p:sp>
      <p:sp>
        <p:nvSpPr>
          <p:cNvPr id="9" name="Text 7"/>
          <p:cNvSpPr/>
          <p:nvPr/>
        </p:nvSpPr>
        <p:spPr>
          <a:xfrm>
            <a:off x="4595267" y="2691011"/>
            <a:ext cx="3091459"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13D"/>
                </a:solidFill>
                <a:latin typeface="Nunito Sans" pitchFamily="34" charset="0"/>
                <a:ea typeface="Nunito Sans" pitchFamily="34" charset="-122"/>
                <a:cs typeface="Nunito Sans" pitchFamily="34" charset="-120"/>
              </a:rPr>
              <a:t>By loss per $1 of spares: critical equipment first, heavy mining equipment at the top ($12.71).</a:t>
            </a:r>
            <a:endParaRPr lang="en-US" sz="1300" dirty="0"/>
          </a:p>
        </p:txBody>
      </p:sp>
      <p:sp>
        <p:nvSpPr>
          <p:cNvPr id="10" name="Shape 8"/>
          <p:cNvSpPr/>
          <p:nvPr/>
        </p:nvSpPr>
        <p:spPr>
          <a:xfrm>
            <a:off x="7961809" y="1981795"/>
            <a:ext cx="3414216" cy="1608981"/>
          </a:xfrm>
          <a:prstGeom prst="roundRect">
            <a:avLst>
              <a:gd name="adj" fmla="val 6117"/>
            </a:avLst>
          </a:prstGeom>
          <a:solidFill>
            <a:srgbClr val="FFFFFF"/>
          </a:solidFill>
          <a:ln w="6350">
            <a:solidFill>
              <a:srgbClr val="E2DED3"/>
            </a:solidFill>
            <a:prstDash val="solid"/>
          </a:ln>
        </p:spPr>
      </p:sp>
      <p:sp>
        <p:nvSpPr>
          <p:cNvPr id="11" name="Text 9"/>
          <p:cNvSpPr/>
          <p:nvPr/>
        </p:nvSpPr>
        <p:spPr>
          <a:xfrm>
            <a:off x="8168184" y="2188170"/>
            <a:ext cx="3091510" cy="452041"/>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F6FB0"/>
                </a:solidFill>
                <a:latin typeface="Nunito Sans" pitchFamily="34" charset="0"/>
                <a:ea typeface="Nunito Sans" pitchFamily="34" charset="-122"/>
                <a:cs typeface="Nunito Sans" pitchFamily="34" charset="-120"/>
              </a:rPr>
              <a:t>Where is deadline compliance weakest?</a:t>
            </a:r>
            <a:endParaRPr lang="en-US" sz="1400" dirty="0"/>
          </a:p>
        </p:txBody>
      </p:sp>
      <p:sp>
        <p:nvSpPr>
          <p:cNvPr id="12" name="Text 10"/>
          <p:cNvSpPr/>
          <p:nvPr/>
        </p:nvSpPr>
        <p:spPr>
          <a:xfrm>
            <a:off x="8168184" y="2691011"/>
            <a:ext cx="3091510"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13D"/>
                </a:solidFill>
                <a:latin typeface="Nunito Sans" pitchFamily="34" charset="0"/>
                <a:ea typeface="Nunito Sans" pitchFamily="34" charset="-122"/>
                <a:cs typeface="Nunito Sans" pitchFamily="34" charset="-120"/>
              </a:rPr>
              <a:t>Critical equipment (64%), railway signalling (74%), and sites 25, 13 and 10.</a:t>
            </a:r>
            <a:endParaRPr lang="en-US" sz="1300" dirty="0"/>
          </a:p>
        </p:txBody>
      </p:sp>
      <p:sp>
        <p:nvSpPr>
          <p:cNvPr id="13" name="Shape 11"/>
          <p:cNvSpPr/>
          <p:nvPr/>
        </p:nvSpPr>
        <p:spPr>
          <a:xfrm>
            <a:off x="815975" y="3749526"/>
            <a:ext cx="3414167" cy="1395661"/>
          </a:xfrm>
          <a:prstGeom prst="roundRect">
            <a:avLst>
              <a:gd name="adj" fmla="val 7052"/>
            </a:avLst>
          </a:prstGeom>
          <a:solidFill>
            <a:srgbClr val="FFFFFF"/>
          </a:solidFill>
          <a:ln w="6350">
            <a:solidFill>
              <a:srgbClr val="E2DED3"/>
            </a:solidFill>
            <a:prstDash val="solid"/>
          </a:ln>
        </p:spPr>
      </p:sp>
      <p:sp>
        <p:nvSpPr>
          <p:cNvPr id="14" name="Text 12"/>
          <p:cNvSpPr/>
          <p:nvPr/>
        </p:nvSpPr>
        <p:spPr>
          <a:xfrm>
            <a:off x="1022350" y="3955901"/>
            <a:ext cx="3091459"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F6FB0"/>
                </a:solidFill>
                <a:latin typeface="Nunito Sans" pitchFamily="34" charset="0"/>
                <a:ea typeface="Nunito Sans" pitchFamily="34" charset="-122"/>
                <a:cs typeface="Nunito Sans" pitchFamily="34" charset="-120"/>
              </a:rPr>
              <a:t>What needs immediate escalation?</a:t>
            </a:r>
            <a:endParaRPr lang="en-US" sz="1400" dirty="0"/>
          </a:p>
        </p:txBody>
      </p:sp>
      <p:sp>
        <p:nvSpPr>
          <p:cNvPr id="15" name="Text 13"/>
          <p:cNvSpPr/>
          <p:nvPr/>
        </p:nvSpPr>
        <p:spPr>
          <a:xfrm>
            <a:off x="1022350" y="4245421"/>
            <a:ext cx="3091459"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13D"/>
                </a:solidFill>
                <a:latin typeface="Nunito Sans" pitchFamily="34" charset="0"/>
                <a:ea typeface="Nunito Sans" pitchFamily="34" charset="-122"/>
                <a:cs typeface="Nunito Sans" pitchFamily="34" charset="-120"/>
              </a:rPr>
              <a:t>The 58 records that are both critical and high-risk. All 3 safety incidents were on run-to-failure equipment.</a:t>
            </a:r>
            <a:endParaRPr lang="en-US" sz="1300" dirty="0"/>
          </a:p>
        </p:txBody>
      </p:sp>
      <p:sp>
        <p:nvSpPr>
          <p:cNvPr id="16" name="Shape 14"/>
          <p:cNvSpPr/>
          <p:nvPr/>
        </p:nvSpPr>
        <p:spPr>
          <a:xfrm>
            <a:off x="4388892" y="3749526"/>
            <a:ext cx="3414167" cy="1395661"/>
          </a:xfrm>
          <a:prstGeom prst="roundRect">
            <a:avLst>
              <a:gd name="adj" fmla="val 7052"/>
            </a:avLst>
          </a:prstGeom>
          <a:solidFill>
            <a:srgbClr val="FFFFFF"/>
          </a:solidFill>
          <a:ln w="6350">
            <a:solidFill>
              <a:srgbClr val="E2DED3"/>
            </a:solidFill>
            <a:prstDash val="solid"/>
          </a:ln>
        </p:spPr>
      </p:sp>
      <p:sp>
        <p:nvSpPr>
          <p:cNvPr id="17" name="Text 15"/>
          <p:cNvSpPr/>
          <p:nvPr/>
        </p:nvSpPr>
        <p:spPr>
          <a:xfrm>
            <a:off x="4595267" y="3955901"/>
            <a:ext cx="3091459"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F6FB0"/>
                </a:solidFill>
                <a:latin typeface="Nunito Sans" pitchFamily="34" charset="0"/>
                <a:ea typeface="Nunito Sans" pitchFamily="34" charset="-122"/>
                <a:cs typeface="Nunito Sans" pitchFamily="34" charset="-120"/>
              </a:rPr>
              <a:t>Which signals give early warning?</a:t>
            </a:r>
            <a:endParaRPr lang="en-US" sz="1400" dirty="0"/>
          </a:p>
        </p:txBody>
      </p:sp>
      <p:sp>
        <p:nvSpPr>
          <p:cNvPr id="18" name="Text 16"/>
          <p:cNvSpPr/>
          <p:nvPr/>
        </p:nvSpPr>
        <p:spPr>
          <a:xfrm>
            <a:off x="4595267" y="4245421"/>
            <a:ext cx="3091459"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13D"/>
                </a:solidFill>
                <a:latin typeface="Nunito Sans" pitchFamily="34" charset="0"/>
                <a:ea typeface="Nunito Sans" pitchFamily="34" charset="-122"/>
                <a:cs typeface="Nunito Sans" pitchFamily="34" charset="-120"/>
              </a:rPr>
              <a:t>Condition score, vibration, age and maintenance approach.</a:t>
            </a:r>
            <a:endParaRPr lang="en-US" sz="1300" dirty="0"/>
          </a:p>
        </p:txBody>
      </p:sp>
      <p:sp>
        <p:nvSpPr>
          <p:cNvPr id="19" name="Shape 17"/>
          <p:cNvSpPr/>
          <p:nvPr/>
        </p:nvSpPr>
        <p:spPr>
          <a:xfrm>
            <a:off x="7961809" y="3749526"/>
            <a:ext cx="3414216" cy="1395661"/>
          </a:xfrm>
          <a:prstGeom prst="roundRect">
            <a:avLst>
              <a:gd name="adj" fmla="val 7052"/>
            </a:avLst>
          </a:prstGeom>
          <a:solidFill>
            <a:srgbClr val="FFFFFF"/>
          </a:solidFill>
          <a:ln w="6350">
            <a:solidFill>
              <a:srgbClr val="E2DED3"/>
            </a:solidFill>
            <a:prstDash val="solid"/>
          </a:ln>
        </p:spPr>
      </p:sp>
      <p:sp>
        <p:nvSpPr>
          <p:cNvPr id="20" name="Text 18"/>
          <p:cNvSpPr/>
          <p:nvPr/>
        </p:nvSpPr>
        <p:spPr>
          <a:xfrm>
            <a:off x="8168184" y="3955901"/>
            <a:ext cx="309151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F6FB0"/>
                </a:solidFill>
                <a:latin typeface="Nunito Sans" pitchFamily="34" charset="0"/>
                <a:ea typeface="Nunito Sans" pitchFamily="34" charset="-122"/>
                <a:cs typeface="Nunito Sans" pitchFamily="34" charset="-120"/>
              </a:rPr>
              <a:t>How do predictions become work?</a:t>
            </a:r>
            <a:endParaRPr lang="en-US" sz="1400" dirty="0"/>
          </a:p>
        </p:txBody>
      </p:sp>
      <p:sp>
        <p:nvSpPr>
          <p:cNvPr id="21" name="Text 19"/>
          <p:cNvSpPr/>
          <p:nvPr/>
        </p:nvSpPr>
        <p:spPr>
          <a:xfrm>
            <a:off x="8168184" y="4245421"/>
            <a:ext cx="3091510"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13D"/>
                </a:solidFill>
                <a:latin typeface="Nunito Sans" pitchFamily="34" charset="0"/>
                <a:ea typeface="Nunito Sans" pitchFamily="34" charset="-122"/>
                <a:cs typeface="Nunito Sans" pitchFamily="34" charset="-120"/>
              </a:rPr>
              <a:t>Priority = failure chance × cost of downtime × importance, sorted into a weekly work queue.</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C0631A"/>
                </a:solidFill>
                <a:latin typeface="Nunito Sans" pitchFamily="34" charset="0"/>
                <a:ea typeface="Nunito Sans" pitchFamily="34" charset="-122"/>
                <a:cs typeface="Nunito Sans" pitchFamily="34" charset="-120"/>
              </a:rPr>
              <a:t>HOW WE SET THE ACTIONS · STEP 1</a:t>
            </a:r>
            <a:endParaRPr lang="en-US" sz="1400" dirty="0"/>
          </a:p>
        </p:txBody>
      </p:sp>
      <p:sp>
        <p:nvSpPr>
          <p:cNvPr id="3" name="Text 1"/>
          <p:cNvSpPr/>
          <p:nvPr>
            <p:ph type="title"/>
          </p:nvPr>
        </p:nvSpPr>
        <p:spPr>
          <a:xfrm>
            <a:off x="812800" y="131569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4213D"/>
                </a:solidFill>
                <a:latin typeface="Domine" pitchFamily="18" charset="0"/>
                <a:ea typeface="Domine" pitchFamily="18" charset="-122"/>
                <a:cs typeface="Domine" pitchFamily="18" charset="-120"/>
              </a:rPr>
              <a:t>Each action targets the cause we found, not the symptom</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91320"/>
          <a:ext cx="10553700" cy="3439765"/>
        </p:xfrm>
        <a:graphic>
          <a:graphicData uri="http://schemas.openxmlformats.org/drawingml/2006/table">
            <a:tbl>
              <a:tblPr/>
              <a:tblGrid>
                <a:gridCol w="2110740"/>
                <a:gridCol w="3166110"/>
                <a:gridCol w="2955036"/>
                <a:gridCol w="2321814"/>
              </a:tblGrid>
              <a:tr h="359321">
                <a:tc>
                  <a:txBody>
                    <a:bodyPr/>
                    <a:lstStyle/>
                    <a:p>
                      <a:pPr indent="0" marL="0">
                        <a:lnSpc>
                          <a:spcPts val="1820"/>
                        </a:lnSpc>
                        <a:buNone/>
                      </a:pPr>
                      <a:r>
                        <a:rPr lang="en-US" sz="1300" b="1" dirty="0">
                          <a:solidFill>
                            <a:srgbClr val="14213D"/>
                          </a:solidFill>
                          <a:latin typeface="Nunito Sans" pitchFamily="34" charset="0"/>
                          <a:ea typeface="Nunito Sans" pitchFamily="34" charset="-122"/>
                          <a:cs typeface="Nunito Sans" pitchFamily="34" charset="-120"/>
                        </a:rPr>
                        <a:t>Problem</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indent="0" marL="0">
                        <a:lnSpc>
                          <a:spcPts val="1820"/>
                        </a:lnSpc>
                        <a:buNone/>
                      </a:pPr>
                      <a:r>
                        <a:rPr lang="en-US" sz="1300" b="1" dirty="0">
                          <a:solidFill>
                            <a:srgbClr val="14213D"/>
                          </a:solidFill>
                          <a:latin typeface="Nunito Sans" pitchFamily="34" charset="0"/>
                          <a:ea typeface="Nunito Sans" pitchFamily="34" charset="-122"/>
                          <a:cs typeface="Nunito Sans" pitchFamily="34" charset="-120"/>
                        </a:rPr>
                        <a:t>Cause the data points to</a:t>
                      </a:r>
                      <a:endParaRPr lang="en-US" sz="1300" dirty="0">
                        <a:latin typeface="Nunito Sans" charset="0"/>
                        <a:ea typeface="Nunito Sans" charset="0"/>
                        <a:cs typeface="Nunito Sans" charset="0"/>
                      </a:endParaRPr>
                    </a:p>
                  </a:txBody>
                  <a:tcPr marL="57785" marR="57785" marT="57785" marB="57785" anchor="t">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indent="0" marL="0">
                        <a:lnSpc>
                          <a:spcPts val="1820"/>
                        </a:lnSpc>
                        <a:buNone/>
                      </a:pPr>
                      <a:r>
                        <a:rPr lang="en-US" sz="1300" b="1" dirty="0">
                          <a:solidFill>
                            <a:srgbClr val="14213D"/>
                          </a:solidFill>
                          <a:latin typeface="Nunito Sans" pitchFamily="34" charset="0"/>
                          <a:ea typeface="Nunito Sans" pitchFamily="34" charset="-122"/>
                          <a:cs typeface="Nunito Sans" pitchFamily="34" charset="-120"/>
                        </a:rPr>
                        <a:t>Action</a:t>
                      </a:r>
                      <a:endParaRPr lang="en-US" sz="1300" dirty="0">
                        <a:latin typeface="Nunito Sans" charset="0"/>
                        <a:ea typeface="Nunito Sans" charset="0"/>
                        <a:cs typeface="Nunito Sans" charset="0"/>
                      </a:endParaRPr>
                    </a:p>
                  </a:txBody>
                  <a:tcPr marL="57785" marR="57785" marT="57785" marB="57785" anchor="t">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indent="0" marL="0">
                        <a:lnSpc>
                          <a:spcPts val="1820"/>
                        </a:lnSpc>
                        <a:buNone/>
                      </a:pPr>
                      <a:r>
                        <a:rPr lang="en-US" sz="1300" b="1" dirty="0">
                          <a:solidFill>
                            <a:srgbClr val="14213D"/>
                          </a:solidFill>
                          <a:latin typeface="Nunito Sans" pitchFamily="34" charset="0"/>
                          <a:ea typeface="Nunito Sans" pitchFamily="34" charset="-122"/>
                          <a:cs typeface="Nunito Sans" pitchFamily="34" charset="-120"/>
                        </a:rPr>
                        <a:t>How we valued it</a:t>
                      </a:r>
                      <a:endParaRPr lang="en-US" sz="1300" dirty="0">
                        <a:latin typeface="Nunito Sans" charset="0"/>
                        <a:ea typeface="Nunito Sans" charset="0"/>
                        <a:cs typeface="Nunito Sans" charset="0"/>
                      </a:endParaRPr>
                    </a:p>
                  </a:txBody>
                  <a:tcPr marL="57785" marR="57785" marT="57785" marB="57785" anchor="t">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r>
              <a:tr h="590451">
                <a:tc>
                  <a:txBody>
                    <a:bodyPr/>
                    <a:lstStyle/>
                    <a:p>
                      <a:pPr indent="0" marL="0">
                        <a:lnSpc>
                          <a:spcPts val="1820"/>
                        </a:lnSpc>
                        <a:buNone/>
                      </a:pPr>
                      <a:r>
                        <a:rPr lang="en-US" sz="1300" dirty="0">
                          <a:solidFill>
                            <a:srgbClr val="14213D"/>
                          </a:solidFill>
                          <a:latin typeface="Nunito Sans" pitchFamily="34" charset="0"/>
                          <a:ea typeface="Nunito Sans" pitchFamily="34" charset="-122"/>
                          <a:cs typeface="Nunito Sans" pitchFamily="34" charset="-120"/>
                        </a:rPr>
                        <a:t>High cost per hour</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Nunito Sans" pitchFamily="34" charset="0"/>
                          <a:ea typeface="Nunito Sans" pitchFamily="34" charset="-122"/>
                          <a:cs typeface="Nunito Sans" pitchFamily="34" charset="-120"/>
                        </a:rPr>
                        <a:t>Run-to-failure machines break 66% more often</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Nunito Sans" pitchFamily="34" charset="0"/>
                          <a:ea typeface="Nunito Sans" pitchFamily="34" charset="-122"/>
                          <a:cs typeface="Nunito Sans" pitchFamily="34" charset="-120"/>
                        </a:rPr>
                        <a:t>Move them to sensor-guided or condition checks</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Nunito Sans" pitchFamily="34" charset="0"/>
                          <a:ea typeface="Nunito Sans" pitchFamily="34" charset="-122"/>
                          <a:cs typeface="Nunito Sans" pitchFamily="34" charset="-120"/>
                        </a:rPr>
                        <a:t>Cost gap × hours = $22M</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590451">
                <a:tc>
                  <a:txBody>
                    <a:bodyPr/>
                    <a:lstStyle/>
                    <a:p>
                      <a:pPr indent="0" marL="0">
                        <a:lnSpc>
                          <a:spcPts val="1820"/>
                        </a:lnSpc>
                        <a:buNone/>
                      </a:pPr>
                      <a:r>
                        <a:rPr lang="en-US" sz="1300" dirty="0">
                          <a:solidFill>
                            <a:srgbClr val="14213D"/>
                          </a:solidFill>
                          <a:latin typeface="Nunito Sans" pitchFamily="34" charset="0"/>
                          <a:ea typeface="Nunito Sans" pitchFamily="34" charset="-122"/>
                          <a:cs typeface="Nunito Sans" pitchFamily="34" charset="-120"/>
                        </a:rPr>
                        <a:t>Critical machines down longer</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Nunito Sans" pitchFamily="34" charset="0"/>
                          <a:ea typeface="Nunito Sans" pitchFamily="34" charset="-122"/>
                          <a:cs typeface="Nunito Sans" pitchFamily="34" charset="-120"/>
                        </a:rPr>
                        <a:t>No priority rule; same staff and queue</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Nunito Sans" pitchFamily="34" charset="0"/>
                          <a:ea typeface="Nunito Sans" pitchFamily="34" charset="-122"/>
                          <a:cs typeface="Nunito Sans" pitchFamily="34" charset="-120"/>
                        </a:rPr>
                        <a:t>Critical jobs first, staff and parts reserved</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Nunito Sans" pitchFamily="34" charset="0"/>
                          <a:ea typeface="Nunito Sans" pitchFamily="34" charset="-122"/>
                          <a:cs typeface="Nunito Sans" pitchFamily="34" charset="-120"/>
                        </a:rPr>
                        <a:t>Loss gap × records = $15.9M</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590451">
                <a:tc>
                  <a:txBody>
                    <a:bodyPr/>
                    <a:lstStyle/>
                    <a:p>
                      <a:pPr indent="0" marL="0">
                        <a:lnSpc>
                          <a:spcPts val="1820"/>
                        </a:lnSpc>
                        <a:buNone/>
                      </a:pPr>
                      <a:r>
                        <a:rPr lang="en-US" sz="1300" dirty="0">
                          <a:solidFill>
                            <a:srgbClr val="14213D"/>
                          </a:solidFill>
                          <a:latin typeface="Nunito Sans" pitchFamily="34" charset="0"/>
                          <a:ea typeface="Nunito Sans" pitchFamily="34" charset="-122"/>
                          <a:cs typeface="Nunito Sans" pitchFamily="34" charset="-120"/>
                        </a:rPr>
                        <a:t>54% missed deadlines</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Nunito Sans" pitchFamily="34" charset="0"/>
                          <a:ea typeface="Nunito Sans" pitchFamily="34" charset="-122"/>
                          <a:cs typeface="Nunito Sans" pitchFamily="34" charset="-120"/>
                        </a:rPr>
                        <a:t>Deadlines set at random, not slow teams</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Nunito Sans" pitchFamily="34" charset="0"/>
                          <a:ea typeface="Nunito Sans" pitchFamily="34" charset="-122"/>
                          <a:cs typeface="Nunito Sans" pitchFamily="34" charset="-120"/>
                        </a:rPr>
                        <a:t>Set deadlines by importance</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Nunito Sans" pitchFamily="34" charset="0"/>
                          <a:ea typeface="Nunito Sans" pitchFamily="34" charset="-122"/>
                          <a:cs typeface="Nunito Sans" pitchFamily="34" charset="-120"/>
                        </a:rPr>
                        <a:t>Misses by deadline</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59321">
                <a:tc>
                  <a:txBody>
                    <a:bodyPr/>
                    <a:lstStyle/>
                    <a:p>
                      <a:pPr indent="0" marL="0">
                        <a:lnSpc>
                          <a:spcPts val="1820"/>
                        </a:lnSpc>
                        <a:buNone/>
                      </a:pPr>
                      <a:r>
                        <a:rPr lang="en-US" sz="1300" dirty="0">
                          <a:solidFill>
                            <a:srgbClr val="14213D"/>
                          </a:solidFill>
                          <a:latin typeface="Nunito Sans" pitchFamily="34" charset="0"/>
                          <a:ea typeface="Nunito Sans" pitchFamily="34" charset="-122"/>
                          <a:cs typeface="Nunito Sans" pitchFamily="34" charset="-120"/>
                        </a:rPr>
                        <a:t>High-risk machines</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Nunito Sans" pitchFamily="34" charset="0"/>
                          <a:ea typeface="Nunito Sans" pitchFamily="34" charset="-122"/>
                          <a:cs typeface="Nunito Sans" pitchFamily="34" charset="-120"/>
                        </a:rPr>
                        <a:t>Age over 10 plus poor condition</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Nunito Sans" pitchFamily="34" charset="0"/>
                          <a:ea typeface="Nunito Sans" pitchFamily="34" charset="-122"/>
                          <a:cs typeface="Nunito Sans" pitchFamily="34" charset="-120"/>
                        </a:rPr>
                        <a:t>Inspect, overhaul or replace</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Nunito Sans" pitchFamily="34" charset="0"/>
                          <a:ea typeface="Nunito Sans" pitchFamily="34" charset="-122"/>
                          <a:cs typeface="Nunito Sans" pitchFamily="34" charset="-120"/>
                        </a:rPr>
                        <a:t>Rule catches 63%</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590451">
                <a:tc>
                  <a:txBody>
                    <a:bodyPr/>
                    <a:lstStyle/>
                    <a:p>
                      <a:pPr indent="0" marL="0">
                        <a:lnSpc>
                          <a:spcPts val="1820"/>
                        </a:lnSpc>
                        <a:buNone/>
                      </a:pPr>
                      <a:r>
                        <a:rPr lang="en-US" sz="1300" dirty="0">
                          <a:solidFill>
                            <a:srgbClr val="14213D"/>
                          </a:solidFill>
                          <a:latin typeface="Nunito Sans" pitchFamily="34" charset="0"/>
                          <a:ea typeface="Nunito Sans" pitchFamily="34" charset="-122"/>
                          <a:cs typeface="Nunito Sans" pitchFamily="34" charset="-120"/>
                        </a:rPr>
                        <a:t>Wrong alarms</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Nunito Sans" pitchFamily="34" charset="0"/>
                          <a:ea typeface="Nunito Sans" pitchFamily="34" charset="-122"/>
                          <a:cs typeface="Nunito Sans" pitchFamily="34" charset="-120"/>
                        </a:rPr>
                        <a:t>Alarm on temperature, which doesn’t predict failure</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Nunito Sans" pitchFamily="34" charset="0"/>
                          <a:ea typeface="Nunito Sans" pitchFamily="34" charset="-122"/>
                          <a:cs typeface="Nunito Sans" pitchFamily="34" charset="-120"/>
                        </a:rPr>
                        <a:t>Alarm on vibration and condition</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Nunito Sans" pitchFamily="34" charset="0"/>
                          <a:ea typeface="Nunito Sans" pitchFamily="34" charset="-122"/>
                          <a:cs typeface="Nunito Sans" pitchFamily="34" charset="-120"/>
                        </a:rPr>
                        <a:t>140 false alarms removed</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59321">
                <a:tc>
                  <a:txBody>
                    <a:bodyPr/>
                    <a:lstStyle/>
                    <a:p>
                      <a:pPr indent="0" marL="0">
                        <a:lnSpc>
                          <a:spcPts val="1820"/>
                        </a:lnSpc>
                        <a:buNone/>
                      </a:pPr>
                      <a:r>
                        <a:rPr lang="en-US" sz="1300" dirty="0">
                          <a:solidFill>
                            <a:srgbClr val="14213D"/>
                          </a:solidFill>
                          <a:latin typeface="Nunito Sans" pitchFamily="34" charset="0"/>
                          <a:ea typeface="Nunito Sans" pitchFamily="34" charset="-122"/>
                          <a:cs typeface="Nunito Sans" pitchFamily="34" charset="-120"/>
                        </a:rPr>
                        <a:t>Stockout losses</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Nunito Sans" pitchFamily="34" charset="0"/>
                          <a:ea typeface="Nunito Sans" pitchFamily="34" charset="-122"/>
                          <a:cs typeface="Nunito Sans" pitchFamily="34" charset="-120"/>
                        </a:rPr>
                        <a:t>Critical spares under-funded</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Nunito Sans" pitchFamily="34" charset="0"/>
                          <a:ea typeface="Nunito Sans" pitchFamily="34" charset="-122"/>
                          <a:cs typeface="Nunito Sans" pitchFamily="34" charset="-120"/>
                        </a:rPr>
                        <a:t>Raise critical spares cover</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Nunito Sans" pitchFamily="34" charset="0"/>
                          <a:ea typeface="Nunito Sans" pitchFamily="34" charset="-122"/>
                          <a:cs typeface="Nunito Sans" pitchFamily="34" charset="-120"/>
                        </a:rPr>
                        <a:t>+17% loss avoided</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C0631A"/>
                </a:solidFill>
                <a:latin typeface="Nunito Sans" pitchFamily="34" charset="0"/>
                <a:ea typeface="Nunito Sans" pitchFamily="34" charset="-122"/>
                <a:cs typeface="Nunito Sans" pitchFamily="34" charset="-120"/>
              </a:rPr>
              <a:t>HOW WE SET THE ACTIONS · STEP 2</a:t>
            </a:r>
            <a:endParaRPr lang="en-US" sz="1400" dirty="0"/>
          </a:p>
        </p:txBody>
      </p:sp>
      <p:sp>
        <p:nvSpPr>
          <p:cNvPr id="3" name="Text 1"/>
          <p:cNvSpPr/>
          <p:nvPr>
            <p:ph type="title"/>
          </p:nvPr>
        </p:nvSpPr>
        <p:spPr>
          <a:xfrm>
            <a:off x="812800" y="1290290"/>
            <a:ext cx="10883392" cy="84326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4213D"/>
                </a:solidFill>
                <a:latin typeface="Domine" pitchFamily="18" charset="0"/>
                <a:ea typeface="Domine" pitchFamily="18" charset="-122"/>
                <a:cs typeface="Domine" pitchFamily="18" charset="-120"/>
              </a:rPr>
              <a:t>We ordered them by cost to start, speed and strength of evidence</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349450"/>
          <a:ext cx="10553700" cy="2874566"/>
        </p:xfrm>
        <a:graphic>
          <a:graphicData uri="http://schemas.openxmlformats.org/drawingml/2006/table">
            <a:tbl>
              <a:tblPr/>
              <a:tblGrid>
                <a:gridCol w="3271647"/>
                <a:gridCol w="1794129"/>
                <a:gridCol w="1583055"/>
                <a:gridCol w="2110740"/>
                <a:gridCol w="1794129"/>
              </a:tblGrid>
              <a:tr h="359321">
                <a:tc>
                  <a:txBody>
                    <a:bodyPr/>
                    <a:lstStyle/>
                    <a:p>
                      <a:pPr indent="0" marL="0">
                        <a:lnSpc>
                          <a:spcPts val="1820"/>
                        </a:lnSpc>
                        <a:buNone/>
                      </a:pPr>
                      <a:r>
                        <a:rPr lang="en-US" sz="1300" b="1" dirty="0">
                          <a:solidFill>
                            <a:srgbClr val="14213D"/>
                          </a:solidFill>
                          <a:latin typeface="Nunito Sans" pitchFamily="34" charset="0"/>
                          <a:ea typeface="Nunito Sans" pitchFamily="34" charset="-122"/>
                          <a:cs typeface="Nunito Sans" pitchFamily="34" charset="-120"/>
                        </a:rPr>
                        <a:t>Action</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indent="0" marL="0">
                        <a:lnSpc>
                          <a:spcPts val="1820"/>
                        </a:lnSpc>
                        <a:buNone/>
                      </a:pPr>
                      <a:r>
                        <a:rPr lang="en-US" sz="1300" b="1" dirty="0">
                          <a:solidFill>
                            <a:srgbClr val="14213D"/>
                          </a:solidFill>
                          <a:latin typeface="Nunito Sans" pitchFamily="34" charset="0"/>
                          <a:ea typeface="Nunito Sans" pitchFamily="34" charset="-122"/>
                          <a:cs typeface="Nunito Sans" pitchFamily="34" charset="-120"/>
                        </a:rPr>
                        <a:t>Cost to start</a:t>
                      </a:r>
                      <a:endParaRPr lang="en-US" sz="1300" dirty="0">
                        <a:latin typeface="Nunito Sans" charset="0"/>
                        <a:ea typeface="Nunito Sans" charset="0"/>
                        <a:cs typeface="Nunito Sans" charset="0"/>
                      </a:endParaRPr>
                    </a:p>
                  </a:txBody>
                  <a:tcPr marL="57785" marR="57785" marT="57785" marB="57785" anchor="t">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indent="0" marL="0">
                        <a:lnSpc>
                          <a:spcPts val="1820"/>
                        </a:lnSpc>
                        <a:buNone/>
                      </a:pPr>
                      <a:r>
                        <a:rPr lang="en-US" sz="1300" b="1" dirty="0">
                          <a:solidFill>
                            <a:srgbClr val="14213D"/>
                          </a:solidFill>
                          <a:latin typeface="Nunito Sans" pitchFamily="34" charset="0"/>
                          <a:ea typeface="Nunito Sans" pitchFamily="34" charset="-122"/>
                          <a:cs typeface="Nunito Sans" pitchFamily="34" charset="-120"/>
                        </a:rPr>
                        <a:t>Speed</a:t>
                      </a:r>
                      <a:endParaRPr lang="en-US" sz="1300" dirty="0">
                        <a:latin typeface="Nunito Sans" charset="0"/>
                        <a:ea typeface="Nunito Sans" charset="0"/>
                        <a:cs typeface="Nunito Sans" charset="0"/>
                      </a:endParaRPr>
                    </a:p>
                  </a:txBody>
                  <a:tcPr marL="57785" marR="57785" marT="57785" marB="57785" anchor="t">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indent="0" marL="0">
                        <a:lnSpc>
                          <a:spcPts val="1820"/>
                        </a:lnSpc>
                        <a:buNone/>
                      </a:pPr>
                      <a:r>
                        <a:rPr lang="en-US" sz="1300" b="1" dirty="0">
                          <a:solidFill>
                            <a:srgbClr val="14213D"/>
                          </a:solidFill>
                          <a:latin typeface="Nunito Sans" pitchFamily="34" charset="0"/>
                          <a:ea typeface="Nunito Sans" pitchFamily="34" charset="-122"/>
                          <a:cs typeface="Nunito Sans" pitchFamily="34" charset="-120"/>
                        </a:rPr>
                        <a:t>Evidence</a:t>
                      </a:r>
                      <a:endParaRPr lang="en-US" sz="1300" dirty="0">
                        <a:latin typeface="Nunito Sans" charset="0"/>
                        <a:ea typeface="Nunito Sans" charset="0"/>
                        <a:cs typeface="Nunito Sans" charset="0"/>
                      </a:endParaRPr>
                    </a:p>
                  </a:txBody>
                  <a:tcPr marL="57785" marR="57785" marT="57785" marB="57785" anchor="t">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indent="0" marL="0">
                        <a:lnSpc>
                          <a:spcPts val="1820"/>
                        </a:lnSpc>
                        <a:buNone/>
                      </a:pPr>
                      <a:r>
                        <a:rPr lang="en-US" sz="1300" b="1" dirty="0">
                          <a:solidFill>
                            <a:srgbClr val="14213D"/>
                          </a:solidFill>
                          <a:latin typeface="Nunito Sans" pitchFamily="34" charset="0"/>
                          <a:ea typeface="Nunito Sans" pitchFamily="34" charset="-122"/>
                          <a:cs typeface="Nunito Sans" pitchFamily="34" charset="-120"/>
                        </a:rPr>
                        <a:t>When</a:t>
                      </a:r>
                      <a:endParaRPr lang="en-US" sz="1300" dirty="0">
                        <a:latin typeface="Nunito Sans" charset="0"/>
                        <a:ea typeface="Nunito Sans" charset="0"/>
                        <a:cs typeface="Nunito Sans" charset="0"/>
                      </a:endParaRPr>
                    </a:p>
                  </a:txBody>
                  <a:tcPr marL="57785" marR="57785" marT="57785" marB="57785" anchor="t">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r>
              <a:tr h="359321">
                <a:tc>
                  <a:txBody>
                    <a:bodyPr/>
                    <a:lstStyle/>
                    <a:p>
                      <a:pPr indent="0" marL="0">
                        <a:lnSpc>
                          <a:spcPts val="1820"/>
                        </a:lnSpc>
                        <a:buNone/>
                      </a:pPr>
                      <a:r>
                        <a:rPr lang="en-US" sz="1300" dirty="0">
                          <a:solidFill>
                            <a:srgbClr val="14213D"/>
                          </a:solidFill>
                          <a:latin typeface="Nunito Sans" pitchFamily="34" charset="0"/>
                          <a:ea typeface="Nunito Sans" pitchFamily="34" charset="-122"/>
                          <a:cs typeface="Nunito Sans" pitchFamily="34" charset="-120"/>
                        </a:rPr>
                        <a:t>Deadlines by importance</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Nunito Sans" pitchFamily="34" charset="0"/>
                          <a:ea typeface="Nunito Sans" pitchFamily="34" charset="-122"/>
                          <a:cs typeface="Nunito Sans" pitchFamily="34" charset="-120"/>
                        </a:rPr>
                        <a:t>None</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Nunito Sans" pitchFamily="34" charset="0"/>
                          <a:ea typeface="Nunito Sans" pitchFamily="34" charset="-122"/>
                          <a:cs typeface="Nunito Sans" pitchFamily="34" charset="-120"/>
                        </a:rPr>
                        <a:t>Days</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Nunito Sans" pitchFamily="34" charset="0"/>
                          <a:ea typeface="Nunito Sans" pitchFamily="34" charset="-122"/>
                          <a:cs typeface="Nunito Sans" pitchFamily="34" charset="-120"/>
                        </a:rPr>
                        <a:t>Strong (5,000 jobs)</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Nunito Sans" pitchFamily="34" charset="0"/>
                          <a:ea typeface="Nunito Sans" pitchFamily="34" charset="-122"/>
                          <a:cs typeface="Nunito Sans" pitchFamily="34" charset="-120"/>
                        </a:rPr>
                        <a:t>Day 1–30</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59321">
                <a:tc>
                  <a:txBody>
                    <a:bodyPr/>
                    <a:lstStyle/>
                    <a:p>
                      <a:pPr indent="0" marL="0">
                        <a:lnSpc>
                          <a:spcPts val="1820"/>
                        </a:lnSpc>
                        <a:buNone/>
                      </a:pPr>
                      <a:r>
                        <a:rPr lang="en-US" sz="1300" dirty="0">
                          <a:solidFill>
                            <a:srgbClr val="14213D"/>
                          </a:solidFill>
                          <a:latin typeface="Nunito Sans" pitchFamily="34" charset="0"/>
                          <a:ea typeface="Nunito Sans" pitchFamily="34" charset="-122"/>
                          <a:cs typeface="Nunito Sans" pitchFamily="34" charset="-120"/>
                        </a:rPr>
                        <a:t>Critical jobs first</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Nunito Sans" pitchFamily="34" charset="0"/>
                          <a:ea typeface="Nunito Sans" pitchFamily="34" charset="-122"/>
                          <a:cs typeface="Nunito Sans" pitchFamily="34" charset="-120"/>
                        </a:rPr>
                        <a:t>None</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Nunito Sans" pitchFamily="34" charset="0"/>
                          <a:ea typeface="Nunito Sans" pitchFamily="34" charset="-122"/>
                          <a:cs typeface="Nunito Sans" pitchFamily="34" charset="-120"/>
                        </a:rPr>
                        <a:t>Weeks</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Nunito Sans" pitchFamily="34" charset="0"/>
                          <a:ea typeface="Nunito Sans" pitchFamily="34" charset="-122"/>
                          <a:cs typeface="Nunito Sans" pitchFamily="34" charset="-120"/>
                        </a:rPr>
                        <a:t>Strong (862 records)</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Nunito Sans" pitchFamily="34" charset="0"/>
                          <a:ea typeface="Nunito Sans" pitchFamily="34" charset="-122"/>
                          <a:cs typeface="Nunito Sans" pitchFamily="34" charset="-120"/>
                        </a:rPr>
                        <a:t>Day 1–30</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59321">
                <a:tc>
                  <a:txBody>
                    <a:bodyPr/>
                    <a:lstStyle/>
                    <a:p>
                      <a:pPr indent="0" marL="0">
                        <a:lnSpc>
                          <a:spcPts val="1820"/>
                        </a:lnSpc>
                        <a:buNone/>
                      </a:pPr>
                      <a:r>
                        <a:rPr lang="en-US" sz="1300" dirty="0">
                          <a:solidFill>
                            <a:srgbClr val="14213D"/>
                          </a:solidFill>
                          <a:latin typeface="Nunito Sans" pitchFamily="34" charset="0"/>
                          <a:ea typeface="Nunito Sans" pitchFamily="34" charset="-122"/>
                          <a:cs typeface="Nunito Sans" pitchFamily="34" charset="-120"/>
                        </a:rPr>
                        <a:t>Re-tune alarms</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Nunito Sans" pitchFamily="34" charset="0"/>
                          <a:ea typeface="Nunito Sans" pitchFamily="34" charset="-122"/>
                          <a:cs typeface="Nunito Sans" pitchFamily="34" charset="-120"/>
                        </a:rPr>
                        <a:t>None</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Nunito Sans" pitchFamily="34" charset="0"/>
                          <a:ea typeface="Nunito Sans" pitchFamily="34" charset="-122"/>
                          <a:cs typeface="Nunito Sans" pitchFamily="34" charset="-120"/>
                        </a:rPr>
                        <a:t>Days</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Nunito Sans" pitchFamily="34" charset="0"/>
                          <a:ea typeface="Nunito Sans" pitchFamily="34" charset="-122"/>
                          <a:cs typeface="Nunito Sans" pitchFamily="34" charset="-120"/>
                        </a:rPr>
                        <a:t>Strong (263 alarms)</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Nunito Sans" pitchFamily="34" charset="0"/>
                          <a:ea typeface="Nunito Sans" pitchFamily="34" charset="-122"/>
                          <a:cs typeface="Nunito Sans" pitchFamily="34" charset="-120"/>
                        </a:rPr>
                        <a:t>Day 1–30</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59321">
                <a:tc>
                  <a:txBody>
                    <a:bodyPr/>
                    <a:lstStyle/>
                    <a:p>
                      <a:pPr indent="0" marL="0">
                        <a:lnSpc>
                          <a:spcPts val="1820"/>
                        </a:lnSpc>
                        <a:buNone/>
                      </a:pPr>
                      <a:r>
                        <a:rPr lang="en-US" sz="1300" dirty="0">
                          <a:solidFill>
                            <a:srgbClr val="14213D"/>
                          </a:solidFill>
                          <a:latin typeface="Nunito Sans" pitchFamily="34" charset="0"/>
                          <a:ea typeface="Nunito Sans" pitchFamily="34" charset="-122"/>
                          <a:cs typeface="Nunito Sans" pitchFamily="34" charset="-120"/>
                        </a:rPr>
                        <a:t>Inspect old, poor-condition machines</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Nunito Sans" pitchFamily="34" charset="0"/>
                          <a:ea typeface="Nunito Sans" pitchFamily="34" charset="-122"/>
                          <a:cs typeface="Nunito Sans" pitchFamily="34" charset="-120"/>
                        </a:rPr>
                        <a:t>Low</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Nunito Sans" pitchFamily="34" charset="0"/>
                          <a:ea typeface="Nunito Sans" pitchFamily="34" charset="-122"/>
                          <a:cs typeface="Nunito Sans" pitchFamily="34" charset="-120"/>
                        </a:rPr>
                        <a:t>Weeks</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Nunito Sans" pitchFamily="34" charset="0"/>
                          <a:ea typeface="Nunito Sans" pitchFamily="34" charset="-122"/>
                          <a:cs typeface="Nunito Sans" pitchFamily="34" charset="-120"/>
                        </a:rPr>
                        <a:t>Strong (289 cases)</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Nunito Sans" pitchFamily="34" charset="0"/>
                          <a:ea typeface="Nunito Sans" pitchFamily="34" charset="-122"/>
                          <a:cs typeface="Nunito Sans" pitchFamily="34" charset="-120"/>
                        </a:rPr>
                        <a:t>Day 1–30</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59321">
                <a:tc>
                  <a:txBody>
                    <a:bodyPr/>
                    <a:lstStyle/>
                    <a:p>
                      <a:pPr indent="0" marL="0">
                        <a:lnSpc>
                          <a:spcPts val="1820"/>
                        </a:lnSpc>
                        <a:buNone/>
                      </a:pPr>
                      <a:r>
                        <a:rPr lang="en-US" sz="1300" dirty="0">
                          <a:solidFill>
                            <a:srgbClr val="14213D"/>
                          </a:solidFill>
                          <a:latin typeface="Nunito Sans" pitchFamily="34" charset="0"/>
                          <a:ea typeface="Nunito Sans" pitchFamily="34" charset="-122"/>
                          <a:cs typeface="Nunito Sans" pitchFamily="34" charset="-120"/>
                        </a:rPr>
                        <a:t>Move to sensor-guided care</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9BC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BCB1"/>
                      </a:solidFill>
                      <a:prstDash val="solid"/>
                      <a:round/>
                      <a:headEnd type="none" w="med" len="med"/>
                      <a:tailEnd type="none" w="med" len="med"/>
                    </a:lnB>
                    <a:solidFill>
                      <a:srgbClr val="FCEBDD"/>
                    </a:solidFill>
                  </a:tcPr>
                </a:tc>
                <a:tc>
                  <a:txBody>
                    <a:bodyPr/>
                    <a:lstStyle/>
                    <a:p>
                      <a:pPr indent="0" marL="0">
                        <a:lnSpc>
                          <a:spcPts val="1820"/>
                        </a:lnSpc>
                        <a:buNone/>
                      </a:pPr>
                      <a:r>
                        <a:rPr lang="en-US" sz="1300" dirty="0">
                          <a:solidFill>
                            <a:srgbClr val="14213D"/>
                          </a:solidFill>
                          <a:latin typeface="Nunito Sans" pitchFamily="34" charset="0"/>
                          <a:ea typeface="Nunito Sans" pitchFamily="34" charset="-122"/>
                          <a:cs typeface="Nunito Sans" pitchFamily="34" charset="-120"/>
                        </a:rPr>
                        <a:t>Medium</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9BCB1"/>
                      </a:solidFill>
                      <a:prstDash val="solid"/>
                      <a:round/>
                      <a:headEnd type="none" w="med" len="med"/>
                      <a:tailEnd type="none" w="med" len="med"/>
                    </a:lnL>
                    <a:lnR w="12700" cap="flat" cmpd="sng" algn="ctr">
                      <a:solidFill>
                        <a:srgbClr val="C9BC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BCB1"/>
                      </a:solidFill>
                      <a:prstDash val="solid"/>
                      <a:round/>
                      <a:headEnd type="none" w="med" len="med"/>
                      <a:tailEnd type="none" w="med" len="med"/>
                    </a:lnB>
                    <a:solidFill>
                      <a:srgbClr val="FCEBDD"/>
                    </a:solidFill>
                  </a:tcPr>
                </a:tc>
                <a:tc>
                  <a:txBody>
                    <a:bodyPr/>
                    <a:lstStyle/>
                    <a:p>
                      <a:pPr indent="0" marL="0">
                        <a:lnSpc>
                          <a:spcPts val="1820"/>
                        </a:lnSpc>
                        <a:buNone/>
                      </a:pPr>
                      <a:r>
                        <a:rPr lang="en-US" sz="1300" dirty="0">
                          <a:solidFill>
                            <a:srgbClr val="14213D"/>
                          </a:solidFill>
                          <a:latin typeface="Nunito Sans" pitchFamily="34" charset="0"/>
                          <a:ea typeface="Nunito Sans" pitchFamily="34" charset="-122"/>
                          <a:cs typeface="Nunito Sans" pitchFamily="34" charset="-120"/>
                        </a:rPr>
                        <a:t>Months</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9BCB1"/>
                      </a:solidFill>
                      <a:prstDash val="solid"/>
                      <a:round/>
                      <a:headEnd type="none" w="med" len="med"/>
                      <a:tailEnd type="none" w="med" len="med"/>
                    </a:lnL>
                    <a:lnR w="12700" cap="flat" cmpd="sng" algn="ctr">
                      <a:solidFill>
                        <a:srgbClr val="C9BC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BCB1"/>
                      </a:solidFill>
                      <a:prstDash val="solid"/>
                      <a:round/>
                      <a:headEnd type="none" w="med" len="med"/>
                      <a:tailEnd type="none" w="med" len="med"/>
                    </a:lnB>
                    <a:solidFill>
                      <a:srgbClr val="FCEBDD"/>
                    </a:solidFill>
                  </a:tcPr>
                </a:tc>
                <a:tc>
                  <a:txBody>
                    <a:bodyPr/>
                    <a:lstStyle/>
                    <a:p>
                      <a:pPr indent="0" marL="0">
                        <a:lnSpc>
                          <a:spcPts val="1820"/>
                        </a:lnSpc>
                        <a:buNone/>
                      </a:pPr>
                      <a:r>
                        <a:rPr lang="en-US" sz="1300" dirty="0">
                          <a:solidFill>
                            <a:srgbClr val="14213D"/>
                          </a:solidFill>
                          <a:latin typeface="Nunito Sans" pitchFamily="34" charset="0"/>
                          <a:ea typeface="Nunito Sans" pitchFamily="34" charset="-122"/>
                          <a:cs typeface="Nunito Sans" pitchFamily="34" charset="-120"/>
                        </a:rPr>
                        <a:t>Strong (798 records)</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9BCB1"/>
                      </a:solidFill>
                      <a:prstDash val="solid"/>
                      <a:round/>
                      <a:headEnd type="none" w="med" len="med"/>
                      <a:tailEnd type="none" w="med" len="med"/>
                    </a:lnL>
                    <a:lnR w="12700" cap="flat" cmpd="sng" algn="ctr">
                      <a:solidFill>
                        <a:srgbClr val="C9BC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BCB1"/>
                      </a:solidFill>
                      <a:prstDash val="solid"/>
                      <a:round/>
                      <a:headEnd type="none" w="med" len="med"/>
                      <a:tailEnd type="none" w="med" len="med"/>
                    </a:lnB>
                    <a:solidFill>
                      <a:srgbClr val="FCEBDD"/>
                    </a:solidFill>
                  </a:tcPr>
                </a:tc>
                <a:tc>
                  <a:txBody>
                    <a:bodyPr/>
                    <a:lstStyle/>
                    <a:p>
                      <a:pPr indent="0" marL="0">
                        <a:lnSpc>
                          <a:spcPts val="1820"/>
                        </a:lnSpc>
                        <a:buNone/>
                      </a:pPr>
                      <a:r>
                        <a:rPr lang="en-US" sz="1300" dirty="0">
                          <a:solidFill>
                            <a:srgbClr val="14213D"/>
                          </a:solidFill>
                          <a:latin typeface="Nunito Sans" pitchFamily="34" charset="0"/>
                          <a:ea typeface="Nunito Sans" pitchFamily="34" charset="-122"/>
                          <a:cs typeface="Nunito Sans" pitchFamily="34" charset="-120"/>
                        </a:rPr>
                        <a:t>Day 31–90</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9BCB1"/>
                      </a:solidFill>
                      <a:prstDash val="solid"/>
                      <a:round/>
                      <a:headEnd type="none" w="med" len="med"/>
                      <a:tailEnd type="none" w="med" len="med"/>
                    </a:lnL>
                    <a:lnR w="12700" cap="flat" cmpd="sng" algn="ctr">
                      <a:solidFill>
                        <a:srgbClr val="C9BC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BCB1"/>
                      </a:solidFill>
                      <a:prstDash val="solid"/>
                      <a:round/>
                      <a:headEnd type="none" w="med" len="med"/>
                      <a:tailEnd type="none" w="med" len="med"/>
                    </a:lnB>
                    <a:solidFill>
                      <a:srgbClr val="FCEBDD"/>
                    </a:solidFill>
                  </a:tcPr>
                </a:tc>
              </a:tr>
              <a:tr h="359321">
                <a:tc>
                  <a:txBody>
                    <a:bodyPr/>
                    <a:lstStyle/>
                    <a:p>
                      <a:pPr indent="0" marL="0">
                        <a:lnSpc>
                          <a:spcPts val="1820"/>
                        </a:lnSpc>
                        <a:buNone/>
                      </a:pPr>
                      <a:r>
                        <a:rPr lang="en-US" sz="1300" dirty="0">
                          <a:solidFill>
                            <a:srgbClr val="14213D"/>
                          </a:solidFill>
                          <a:latin typeface="Nunito Sans" pitchFamily="34" charset="0"/>
                          <a:ea typeface="Nunito Sans" pitchFamily="34" charset="-122"/>
                          <a:cs typeface="Nunito Sans" pitchFamily="34" charset="-120"/>
                        </a:rPr>
                        <a:t>Top up critical spares</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9BCB1"/>
                      </a:solidFill>
                      <a:prstDash val="solid"/>
                      <a:round/>
                      <a:headEnd type="none" w="med" len="med"/>
                      <a:tailEnd type="none" w="med" len="med"/>
                    </a:lnR>
                    <a:lnT w="12700" cap="flat" cmpd="sng" algn="ctr">
                      <a:solidFill>
                        <a:srgbClr val="C9BCB1"/>
                      </a:solidFill>
                      <a:prstDash val="solid"/>
                      <a:round/>
                      <a:headEnd type="none" w="med" len="med"/>
                      <a:tailEnd type="none" w="med" len="med"/>
                    </a:lnT>
                    <a:lnB w="12700" cap="flat" cmpd="sng" algn="ctr">
                      <a:solidFill>
                        <a:srgbClr val="C9BCB1"/>
                      </a:solidFill>
                      <a:prstDash val="solid"/>
                      <a:round/>
                      <a:headEnd type="none" w="med" len="med"/>
                      <a:tailEnd type="none" w="med" len="med"/>
                    </a:lnB>
                    <a:solidFill>
                      <a:srgbClr val="FCEBDD"/>
                    </a:solidFill>
                  </a:tcPr>
                </a:tc>
                <a:tc>
                  <a:txBody>
                    <a:bodyPr/>
                    <a:lstStyle/>
                    <a:p>
                      <a:pPr indent="0" marL="0">
                        <a:lnSpc>
                          <a:spcPts val="1820"/>
                        </a:lnSpc>
                        <a:buNone/>
                      </a:pPr>
                      <a:r>
                        <a:rPr lang="en-US" sz="1300" dirty="0">
                          <a:solidFill>
                            <a:srgbClr val="14213D"/>
                          </a:solidFill>
                          <a:latin typeface="Nunito Sans" pitchFamily="34" charset="0"/>
                          <a:ea typeface="Nunito Sans" pitchFamily="34" charset="-122"/>
                          <a:cs typeface="Nunito Sans" pitchFamily="34" charset="-120"/>
                        </a:rPr>
                        <a:t>Medium</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9BCB1"/>
                      </a:solidFill>
                      <a:prstDash val="solid"/>
                      <a:round/>
                      <a:headEnd type="none" w="med" len="med"/>
                      <a:tailEnd type="none" w="med" len="med"/>
                    </a:lnL>
                    <a:lnR w="12700" cap="flat" cmpd="sng" algn="ctr">
                      <a:solidFill>
                        <a:srgbClr val="C9BCB1"/>
                      </a:solidFill>
                      <a:prstDash val="solid"/>
                      <a:round/>
                      <a:headEnd type="none" w="med" len="med"/>
                      <a:tailEnd type="none" w="med" len="med"/>
                    </a:lnR>
                    <a:lnT w="12700" cap="flat" cmpd="sng" algn="ctr">
                      <a:solidFill>
                        <a:srgbClr val="C9BCB1"/>
                      </a:solidFill>
                      <a:prstDash val="solid"/>
                      <a:round/>
                      <a:headEnd type="none" w="med" len="med"/>
                      <a:tailEnd type="none" w="med" len="med"/>
                    </a:lnT>
                    <a:lnB w="12700" cap="flat" cmpd="sng" algn="ctr">
                      <a:solidFill>
                        <a:srgbClr val="C9BCB1"/>
                      </a:solidFill>
                      <a:prstDash val="solid"/>
                      <a:round/>
                      <a:headEnd type="none" w="med" len="med"/>
                      <a:tailEnd type="none" w="med" len="med"/>
                    </a:lnB>
                    <a:solidFill>
                      <a:srgbClr val="FCEBDD"/>
                    </a:solidFill>
                  </a:tcPr>
                </a:tc>
                <a:tc>
                  <a:txBody>
                    <a:bodyPr/>
                    <a:lstStyle/>
                    <a:p>
                      <a:pPr indent="0" marL="0">
                        <a:lnSpc>
                          <a:spcPts val="1820"/>
                        </a:lnSpc>
                        <a:buNone/>
                      </a:pPr>
                      <a:r>
                        <a:rPr lang="en-US" sz="1300" dirty="0">
                          <a:solidFill>
                            <a:srgbClr val="14213D"/>
                          </a:solidFill>
                          <a:latin typeface="Nunito Sans" pitchFamily="34" charset="0"/>
                          <a:ea typeface="Nunito Sans" pitchFamily="34" charset="-122"/>
                          <a:cs typeface="Nunito Sans" pitchFamily="34" charset="-120"/>
                        </a:rPr>
                        <a:t>1–3 months</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9BCB1"/>
                      </a:solidFill>
                      <a:prstDash val="solid"/>
                      <a:round/>
                      <a:headEnd type="none" w="med" len="med"/>
                      <a:tailEnd type="none" w="med" len="med"/>
                    </a:lnL>
                    <a:lnR w="12700" cap="flat" cmpd="sng" algn="ctr">
                      <a:solidFill>
                        <a:srgbClr val="C9BCB1"/>
                      </a:solidFill>
                      <a:prstDash val="solid"/>
                      <a:round/>
                      <a:headEnd type="none" w="med" len="med"/>
                      <a:tailEnd type="none" w="med" len="med"/>
                    </a:lnR>
                    <a:lnT w="12700" cap="flat" cmpd="sng" algn="ctr">
                      <a:solidFill>
                        <a:srgbClr val="C9BCB1"/>
                      </a:solidFill>
                      <a:prstDash val="solid"/>
                      <a:round/>
                      <a:headEnd type="none" w="med" len="med"/>
                      <a:tailEnd type="none" w="med" len="med"/>
                    </a:lnT>
                    <a:lnB w="12700" cap="flat" cmpd="sng" algn="ctr">
                      <a:solidFill>
                        <a:srgbClr val="C9BCB1"/>
                      </a:solidFill>
                      <a:prstDash val="solid"/>
                      <a:round/>
                      <a:headEnd type="none" w="med" len="med"/>
                      <a:tailEnd type="none" w="med" len="med"/>
                    </a:lnB>
                    <a:solidFill>
                      <a:srgbClr val="FCEBDD"/>
                    </a:solidFill>
                  </a:tcPr>
                </a:tc>
                <a:tc>
                  <a:txBody>
                    <a:bodyPr/>
                    <a:lstStyle/>
                    <a:p>
                      <a:pPr indent="0" marL="0">
                        <a:lnSpc>
                          <a:spcPts val="1820"/>
                        </a:lnSpc>
                        <a:buNone/>
                      </a:pPr>
                      <a:r>
                        <a:rPr lang="en-US" sz="1300" dirty="0">
                          <a:solidFill>
                            <a:srgbClr val="14213D"/>
                          </a:solidFill>
                          <a:latin typeface="Nunito Sans" pitchFamily="34" charset="0"/>
                          <a:ea typeface="Nunito Sans" pitchFamily="34" charset="-122"/>
                          <a:cs typeface="Nunito Sans" pitchFamily="34" charset="-120"/>
                        </a:rPr>
                        <a:t>Moderate (84 stockouts)</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9BCB1"/>
                      </a:solidFill>
                      <a:prstDash val="solid"/>
                      <a:round/>
                      <a:headEnd type="none" w="med" len="med"/>
                      <a:tailEnd type="none" w="med" len="med"/>
                    </a:lnL>
                    <a:lnR w="12700" cap="flat" cmpd="sng" algn="ctr">
                      <a:solidFill>
                        <a:srgbClr val="C9BCB1"/>
                      </a:solidFill>
                      <a:prstDash val="solid"/>
                      <a:round/>
                      <a:headEnd type="none" w="med" len="med"/>
                      <a:tailEnd type="none" w="med" len="med"/>
                    </a:lnR>
                    <a:lnT w="12700" cap="flat" cmpd="sng" algn="ctr">
                      <a:solidFill>
                        <a:srgbClr val="C9BCB1"/>
                      </a:solidFill>
                      <a:prstDash val="solid"/>
                      <a:round/>
                      <a:headEnd type="none" w="med" len="med"/>
                      <a:tailEnd type="none" w="med" len="med"/>
                    </a:lnT>
                    <a:lnB w="12700" cap="flat" cmpd="sng" algn="ctr">
                      <a:solidFill>
                        <a:srgbClr val="C9BCB1"/>
                      </a:solidFill>
                      <a:prstDash val="solid"/>
                      <a:round/>
                      <a:headEnd type="none" w="med" len="med"/>
                      <a:tailEnd type="none" w="med" len="med"/>
                    </a:lnB>
                    <a:solidFill>
                      <a:srgbClr val="FCEBDD"/>
                    </a:solidFill>
                  </a:tcPr>
                </a:tc>
                <a:tc>
                  <a:txBody>
                    <a:bodyPr/>
                    <a:lstStyle/>
                    <a:p>
                      <a:pPr indent="0" marL="0">
                        <a:lnSpc>
                          <a:spcPts val="1820"/>
                        </a:lnSpc>
                        <a:buNone/>
                      </a:pPr>
                      <a:r>
                        <a:rPr lang="en-US" sz="1300" dirty="0">
                          <a:solidFill>
                            <a:srgbClr val="14213D"/>
                          </a:solidFill>
                          <a:latin typeface="Nunito Sans" pitchFamily="34" charset="0"/>
                          <a:ea typeface="Nunito Sans" pitchFamily="34" charset="-122"/>
                          <a:cs typeface="Nunito Sans" pitchFamily="34" charset="-120"/>
                        </a:rPr>
                        <a:t>Day 31–90</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9BCB1"/>
                      </a:solidFill>
                      <a:prstDash val="solid"/>
                      <a:round/>
                      <a:headEnd type="none" w="med" len="med"/>
                      <a:tailEnd type="none" w="med" len="med"/>
                    </a:lnL>
                    <a:lnR w="12700" cap="flat" cmpd="sng" algn="ctr">
                      <a:solidFill>
                        <a:srgbClr val="C9BCB1"/>
                      </a:solidFill>
                      <a:prstDash val="solid"/>
                      <a:round/>
                      <a:headEnd type="none" w="med" len="med"/>
                      <a:tailEnd type="none" w="med" len="med"/>
                    </a:lnR>
                    <a:lnT w="12700" cap="flat" cmpd="sng" algn="ctr">
                      <a:solidFill>
                        <a:srgbClr val="C9BCB1"/>
                      </a:solidFill>
                      <a:prstDash val="solid"/>
                      <a:round/>
                      <a:headEnd type="none" w="med" len="med"/>
                      <a:tailEnd type="none" w="med" len="med"/>
                    </a:lnT>
                    <a:lnB w="12700" cap="flat" cmpd="sng" algn="ctr">
                      <a:solidFill>
                        <a:srgbClr val="C9BCB1"/>
                      </a:solidFill>
                      <a:prstDash val="solid"/>
                      <a:round/>
                      <a:headEnd type="none" w="med" len="med"/>
                      <a:tailEnd type="none" w="med" len="med"/>
                    </a:lnB>
                    <a:solidFill>
                      <a:srgbClr val="FCEBDD"/>
                    </a:solidFill>
                  </a:tcPr>
                </a:tc>
              </a:tr>
              <a:tr h="359321">
                <a:tc>
                  <a:txBody>
                    <a:bodyPr/>
                    <a:lstStyle/>
                    <a:p>
                      <a:pPr indent="0" marL="0">
                        <a:lnSpc>
                          <a:spcPts val="1820"/>
                        </a:lnSpc>
                        <a:buNone/>
                      </a:pPr>
                      <a:r>
                        <a:rPr lang="en-US" sz="1300" dirty="0">
                          <a:solidFill>
                            <a:srgbClr val="14213D"/>
                          </a:solidFill>
                          <a:latin typeface="Nunito Sans" pitchFamily="34" charset="0"/>
                          <a:ea typeface="Nunito Sans" pitchFamily="34" charset="-122"/>
                          <a:cs typeface="Nunito Sans" pitchFamily="34" charset="-120"/>
                        </a:rPr>
                        <a:t>AI risk model and dashboards</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BC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Nunito Sans" pitchFamily="34" charset="0"/>
                          <a:ea typeface="Nunito Sans" pitchFamily="34" charset="-122"/>
                          <a:cs typeface="Nunito Sans" pitchFamily="34" charset="-120"/>
                        </a:rPr>
                        <a:t>Higher</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BC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Nunito Sans" pitchFamily="34" charset="0"/>
                          <a:ea typeface="Nunito Sans" pitchFamily="34" charset="-122"/>
                          <a:cs typeface="Nunito Sans" pitchFamily="34" charset="-120"/>
                        </a:rPr>
                        <a:t>A quarter</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BC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Nunito Sans" pitchFamily="34" charset="0"/>
                          <a:ea typeface="Nunito Sans" pitchFamily="34" charset="-122"/>
                          <a:cs typeface="Nunito Sans" pitchFamily="34" charset="-120"/>
                        </a:rPr>
                        <a:t>Tested on sample data</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BC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Nunito Sans" pitchFamily="34" charset="0"/>
                          <a:ea typeface="Nunito Sans" pitchFamily="34" charset="-122"/>
                          <a:cs typeface="Nunito Sans" pitchFamily="34" charset="-120"/>
                        </a:rPr>
                        <a:t>Q2 onward</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BC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unito Sans" pitchFamily="34" charset="0"/>
                <a:ea typeface="Nunito Sans" pitchFamily="34" charset="-122"/>
                <a:cs typeface="Nunito Sans" pitchFamily="34" charset="-120"/>
              </a:rPr>
              <a:t>Shaded rows carry the largest dollar value; they wait only because they need budget and preparation</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4213D"/>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F6F4EE"/>
                </a:solidFill>
                <a:latin typeface="Domine" pitchFamily="18" charset="0"/>
                <a:ea typeface="Domine" pitchFamily="18" charset="-122"/>
                <a:cs typeface="Domine" pitchFamily="18" charset="-120"/>
              </a:rPr>
              <a:t>Five decisions we ask you to approve</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597620"/>
          <a:ext cx="10553700" cy="2920504"/>
        </p:xfrm>
        <a:graphic>
          <a:graphicData uri="http://schemas.openxmlformats.org/drawingml/2006/table">
            <a:tbl>
              <a:tblPr/>
              <a:tblGrid>
                <a:gridCol w="844296"/>
                <a:gridCol w="6121146"/>
                <a:gridCol w="3588258"/>
              </a:tblGrid>
              <a:tr h="439341">
                <a:tc>
                  <a:txBody>
                    <a:bodyPr/>
                    <a:lstStyle/>
                    <a:p>
                      <a:pPr indent="0" marL="0">
                        <a:lnSpc>
                          <a:spcPts val="2240"/>
                        </a:lnSpc>
                        <a:buNone/>
                      </a:pPr>
                      <a:r>
                        <a:rPr lang="en-US" sz="1600" b="1" dirty="0">
                          <a:solidFill>
                            <a:srgbClr val="F0A35E"/>
                          </a:solidFill>
                          <a:latin typeface="Nunito Sans" pitchFamily="34" charset="0"/>
                          <a:ea typeface="Nunito Sans" pitchFamily="34" charset="-122"/>
                          <a:cs typeface="Nunito Sans" pitchFamily="34" charset="-120"/>
                        </a:rPr>
                        <a:t>#</a:t>
                      </a:r>
                      <a:endParaRPr lang="en-US" sz="1600" dirty="0">
                        <a:latin typeface="Nunito Sans" charset="0"/>
                        <a:ea typeface="Nunito Sans" charset="0"/>
                        <a:cs typeface="Nunito Sans" charset="0"/>
                      </a:endParaRPr>
                    </a:p>
                  </a:txBody>
                  <a:tcPr marL="71120" marR="71120" marT="71120" marB="71120" anchor="t">
                    <a:lnL w="12700" cap="flat" cmpd="sng" algn="ctr">
                      <a:solidFill>
                        <a:srgbClr val="475165"/>
                      </a:solidFill>
                      <a:prstDash val="solid"/>
                      <a:round/>
                      <a:headEnd type="none" w="med" len="med"/>
                      <a:tailEnd type="none" w="med" len="med"/>
                    </a:lnL>
                    <a:lnR w="12700" cap="flat" cmpd="sng" algn="ctr">
                      <a:solidFill>
                        <a:srgbClr val="555E71"/>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555E71"/>
                      </a:solidFill>
                      <a:prstDash val="solid"/>
                      <a:round/>
                      <a:headEnd type="none" w="med" len="med"/>
                      <a:tailEnd type="none" w="med" len="med"/>
                    </a:lnB>
                    <a:solidFill>
                      <a:srgbClr val="26324C"/>
                    </a:solidFill>
                  </a:tcPr>
                </a:tc>
                <a:tc>
                  <a:txBody>
                    <a:bodyPr/>
                    <a:lstStyle/>
                    <a:p>
                      <a:pPr indent="0" marL="0">
                        <a:lnSpc>
                          <a:spcPts val="2240"/>
                        </a:lnSpc>
                        <a:buNone/>
                      </a:pPr>
                      <a:r>
                        <a:rPr lang="en-US" sz="1600" b="1" dirty="0">
                          <a:solidFill>
                            <a:srgbClr val="F0A35E"/>
                          </a:solidFill>
                          <a:latin typeface="Nunito Sans" pitchFamily="34" charset="0"/>
                          <a:ea typeface="Nunito Sans" pitchFamily="34" charset="-122"/>
                          <a:cs typeface="Nunito Sans" pitchFamily="34" charset="-120"/>
                        </a:rPr>
                        <a:t>Decision</a:t>
                      </a:r>
                      <a:endParaRPr lang="en-US" sz="1600" dirty="0">
                        <a:latin typeface="Nunito Sans" charset="0"/>
                        <a:ea typeface="Nunito Sans" charset="0"/>
                        <a:cs typeface="Nunito Sans" charset="0"/>
                      </a:endParaRPr>
                    </a:p>
                  </a:txBody>
                  <a:tcPr marL="71120" marR="71120" marT="71120" marB="71120" anchor="t">
                    <a:lnL w="12700" cap="flat" cmpd="sng" algn="ctr">
                      <a:solidFill>
                        <a:srgbClr val="555E71"/>
                      </a:solidFill>
                      <a:prstDash val="solid"/>
                      <a:round/>
                      <a:headEnd type="none" w="med" len="med"/>
                      <a:tailEnd type="none" w="med" len="med"/>
                    </a:lnL>
                    <a:lnR w="12700" cap="flat" cmpd="sng" algn="ctr">
                      <a:solidFill>
                        <a:srgbClr val="555E71"/>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555E71"/>
                      </a:solidFill>
                      <a:prstDash val="solid"/>
                      <a:round/>
                      <a:headEnd type="none" w="med" len="med"/>
                      <a:tailEnd type="none" w="med" len="med"/>
                    </a:lnB>
                    <a:solidFill>
                      <a:srgbClr val="26324C"/>
                    </a:solidFill>
                  </a:tcPr>
                </a:tc>
                <a:tc>
                  <a:txBody>
                    <a:bodyPr/>
                    <a:lstStyle/>
                    <a:p>
                      <a:pPr indent="0" marL="0">
                        <a:lnSpc>
                          <a:spcPts val="2240"/>
                        </a:lnSpc>
                        <a:buNone/>
                      </a:pPr>
                      <a:r>
                        <a:rPr lang="en-US" sz="1600" b="1" dirty="0">
                          <a:solidFill>
                            <a:srgbClr val="F0A35E"/>
                          </a:solidFill>
                          <a:latin typeface="Nunito Sans" pitchFamily="34" charset="0"/>
                          <a:ea typeface="Nunito Sans" pitchFamily="34" charset="-122"/>
                          <a:cs typeface="Nunito Sans" pitchFamily="34" charset="-120"/>
                        </a:rPr>
                        <a:t>What it’s worth</a:t>
                      </a:r>
                      <a:endParaRPr lang="en-US" sz="1600" dirty="0">
                        <a:latin typeface="Nunito Sans" charset="0"/>
                        <a:ea typeface="Nunito Sans" charset="0"/>
                        <a:cs typeface="Nunito Sans" charset="0"/>
                      </a:endParaRPr>
                    </a:p>
                  </a:txBody>
                  <a:tcPr marL="71120" marR="71120" marT="71120" marB="71120" anchor="t">
                    <a:lnL w="12700" cap="flat" cmpd="sng" algn="ctr">
                      <a:solidFill>
                        <a:srgbClr val="555E71"/>
                      </a:solidFill>
                      <a:prstDash val="solid"/>
                      <a:round/>
                      <a:headEnd type="none" w="med" len="med"/>
                      <a:tailEnd type="none" w="med" len="med"/>
                    </a:lnL>
                    <a:lnR w="12700" cap="flat" cmpd="sng" algn="ctr">
                      <a:solidFill>
                        <a:srgbClr val="555E71"/>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555E71"/>
                      </a:solidFill>
                      <a:prstDash val="solid"/>
                      <a:round/>
                      <a:headEnd type="none" w="med" len="med"/>
                      <a:tailEnd type="none" w="med" len="med"/>
                    </a:lnB>
                    <a:solidFill>
                      <a:srgbClr val="26324C"/>
                    </a:solidFill>
                  </a:tcPr>
                </a:tc>
              </a:tr>
              <a:tr h="439341">
                <a:tc>
                  <a:txBody>
                    <a:bodyPr/>
                    <a:lstStyle/>
                    <a:p>
                      <a:pPr indent="0" marL="0">
                        <a:lnSpc>
                          <a:spcPts val="2240"/>
                        </a:lnSpc>
                        <a:buNone/>
                      </a:pPr>
                      <a:r>
                        <a:rPr lang="en-US" sz="1600" dirty="0">
                          <a:solidFill>
                            <a:srgbClr val="F6F4EE"/>
                          </a:solidFill>
                          <a:latin typeface="Nunito Sans" pitchFamily="34" charset="0"/>
                          <a:ea typeface="Nunito Sans" pitchFamily="34" charset="-122"/>
                          <a:cs typeface="Nunito Sans" pitchFamily="34" charset="-120"/>
                        </a:rPr>
                        <a:t>1</a:t>
                      </a:r>
                      <a:endParaRPr lang="en-US" sz="1600" dirty="0">
                        <a:latin typeface="Nunito Sans" charset="0"/>
                        <a:ea typeface="Nunito Sans" charset="0"/>
                        <a:cs typeface="Nunito Sans" charset="0"/>
                      </a:endParaRPr>
                    </a:p>
                  </a:txBody>
                  <a:tcPr marL="71120" marR="71120" marT="71120" marB="71120" anchor="t">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555E71"/>
                      </a:solidFill>
                      <a:prstDash val="solid"/>
                      <a:round/>
                      <a:headEnd type="none" w="med" len="med"/>
                      <a:tailEnd type="none" w="med" len="med"/>
                    </a:lnT>
                    <a:lnB w="12700" cap="flat" cmpd="sng" algn="ctr">
                      <a:solidFill>
                        <a:srgbClr val="475165"/>
                      </a:solidFill>
                      <a:prstDash val="solid"/>
                      <a:round/>
                      <a:headEnd type="none" w="med" len="med"/>
                      <a:tailEnd type="none" w="med" len="med"/>
                    </a:lnB>
                  </a:tcPr>
                </a:tc>
                <a:tc>
                  <a:txBody>
                    <a:bodyPr/>
                    <a:lstStyle/>
                    <a:p>
                      <a:pPr indent="0" marL="0">
                        <a:lnSpc>
                          <a:spcPts val="2240"/>
                        </a:lnSpc>
                        <a:buNone/>
                      </a:pPr>
                      <a:r>
                        <a:rPr lang="en-US" sz="1600" dirty="0">
                          <a:solidFill>
                            <a:srgbClr val="F6F4EE"/>
                          </a:solidFill>
                          <a:latin typeface="Nunito Sans" pitchFamily="34" charset="0"/>
                          <a:ea typeface="Nunito Sans" pitchFamily="34" charset="-122"/>
                          <a:cs typeface="Nunito Sans" pitchFamily="34" charset="-120"/>
                        </a:rPr>
                        <a:t>Move “wait until it breaks” equipment to sensor-guided care</a:t>
                      </a:r>
                      <a:endParaRPr lang="en-US" sz="1600" dirty="0">
                        <a:latin typeface="Nunito Sans" charset="0"/>
                        <a:ea typeface="Nunito Sans" charset="0"/>
                        <a:cs typeface="Nunito Sans" charset="0"/>
                      </a:endParaRPr>
                    </a:p>
                  </a:txBody>
                  <a:tcPr marL="71120" marR="71120" marT="71120" marB="71120" anchor="t">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555E71"/>
                      </a:solidFill>
                      <a:prstDash val="solid"/>
                      <a:round/>
                      <a:headEnd type="none" w="med" len="med"/>
                      <a:tailEnd type="none" w="med" len="med"/>
                    </a:lnT>
                    <a:lnB w="12700" cap="flat" cmpd="sng" algn="ctr">
                      <a:solidFill>
                        <a:srgbClr val="475165"/>
                      </a:solidFill>
                      <a:prstDash val="solid"/>
                      <a:round/>
                      <a:headEnd type="none" w="med" len="med"/>
                      <a:tailEnd type="none" w="med" len="med"/>
                    </a:lnB>
                  </a:tcPr>
                </a:tc>
                <a:tc>
                  <a:txBody>
                    <a:bodyPr/>
                    <a:lstStyle/>
                    <a:p>
                      <a:pPr indent="0" marL="0">
                        <a:lnSpc>
                          <a:spcPts val="2240"/>
                        </a:lnSpc>
                        <a:buNone/>
                      </a:pPr>
                      <a:r>
                        <a:rPr lang="en-US" sz="1600" dirty="0">
                          <a:solidFill>
                            <a:srgbClr val="F6F4EE"/>
                          </a:solidFill>
                          <a:latin typeface="Nunito Sans" pitchFamily="34" charset="0"/>
                          <a:ea typeface="Nunito Sans" pitchFamily="34" charset="-122"/>
                          <a:cs typeface="Nunito Sans" pitchFamily="34" charset="-120"/>
                        </a:rPr>
                        <a:t>About $22M saved</a:t>
                      </a:r>
                      <a:endParaRPr lang="en-US" sz="1600" dirty="0">
                        <a:latin typeface="Nunito Sans" charset="0"/>
                        <a:ea typeface="Nunito Sans" charset="0"/>
                        <a:cs typeface="Nunito Sans" charset="0"/>
                      </a:endParaRPr>
                    </a:p>
                  </a:txBody>
                  <a:tcPr marL="71120" marR="71120" marT="71120" marB="71120" anchor="t">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555E71"/>
                      </a:solidFill>
                      <a:prstDash val="solid"/>
                      <a:round/>
                      <a:headEnd type="none" w="med" len="med"/>
                      <a:tailEnd type="none" w="med" len="med"/>
                    </a:lnT>
                    <a:lnB w="12700" cap="flat" cmpd="sng" algn="ctr">
                      <a:solidFill>
                        <a:srgbClr val="475165"/>
                      </a:solidFill>
                      <a:prstDash val="solid"/>
                      <a:round/>
                      <a:headEnd type="none" w="med" len="med"/>
                      <a:tailEnd type="none" w="med" len="med"/>
                    </a:lnB>
                  </a:tcPr>
                </a:tc>
              </a:tr>
              <a:tr h="439341">
                <a:tc>
                  <a:txBody>
                    <a:bodyPr/>
                    <a:lstStyle/>
                    <a:p>
                      <a:pPr indent="0" marL="0">
                        <a:lnSpc>
                          <a:spcPts val="2240"/>
                        </a:lnSpc>
                        <a:buNone/>
                      </a:pPr>
                      <a:r>
                        <a:rPr lang="en-US" sz="1600" dirty="0">
                          <a:solidFill>
                            <a:srgbClr val="F6F4EE"/>
                          </a:solidFill>
                          <a:latin typeface="Nunito Sans" pitchFamily="34" charset="0"/>
                          <a:ea typeface="Nunito Sans" pitchFamily="34" charset="-122"/>
                          <a:cs typeface="Nunito Sans" pitchFamily="34" charset="-120"/>
                        </a:rPr>
                        <a:t>2</a:t>
                      </a:r>
                      <a:endParaRPr lang="en-US" sz="1600" dirty="0">
                        <a:latin typeface="Nunito Sans" charset="0"/>
                        <a:ea typeface="Nunito Sans" charset="0"/>
                        <a:cs typeface="Nunito Sans" charset="0"/>
                      </a:endParaRPr>
                    </a:p>
                  </a:txBody>
                  <a:tcPr marL="71120" marR="71120" marT="71120" marB="71120" anchor="t">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475165"/>
                      </a:solidFill>
                      <a:prstDash val="solid"/>
                      <a:round/>
                      <a:headEnd type="none" w="med" len="med"/>
                      <a:tailEnd type="none" w="med" len="med"/>
                    </a:lnB>
                  </a:tcPr>
                </a:tc>
                <a:tc>
                  <a:txBody>
                    <a:bodyPr/>
                    <a:lstStyle/>
                    <a:p>
                      <a:pPr indent="0" marL="0">
                        <a:lnSpc>
                          <a:spcPts val="2240"/>
                        </a:lnSpc>
                        <a:buNone/>
                      </a:pPr>
                      <a:r>
                        <a:rPr lang="en-US" sz="1600" dirty="0">
                          <a:solidFill>
                            <a:srgbClr val="F6F4EE"/>
                          </a:solidFill>
                          <a:latin typeface="Nunito Sans" pitchFamily="34" charset="0"/>
                          <a:ea typeface="Nunito Sans" pitchFamily="34" charset="-122"/>
                          <a:cs typeface="Nunito Sans" pitchFamily="34" charset="-120"/>
                        </a:rPr>
                        <a:t>Put critical equipment at the front of every repair queue</a:t>
                      </a:r>
                      <a:endParaRPr lang="en-US" sz="1600" dirty="0">
                        <a:latin typeface="Nunito Sans" charset="0"/>
                        <a:ea typeface="Nunito Sans" charset="0"/>
                        <a:cs typeface="Nunito Sans" charset="0"/>
                      </a:endParaRPr>
                    </a:p>
                  </a:txBody>
                  <a:tcPr marL="71120" marR="71120" marT="71120" marB="71120" anchor="t">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475165"/>
                      </a:solidFill>
                      <a:prstDash val="solid"/>
                      <a:round/>
                      <a:headEnd type="none" w="med" len="med"/>
                      <a:tailEnd type="none" w="med" len="med"/>
                    </a:lnB>
                  </a:tcPr>
                </a:tc>
                <a:tc>
                  <a:txBody>
                    <a:bodyPr/>
                    <a:lstStyle/>
                    <a:p>
                      <a:pPr indent="0" marL="0">
                        <a:lnSpc>
                          <a:spcPts val="2240"/>
                        </a:lnSpc>
                        <a:buNone/>
                      </a:pPr>
                      <a:r>
                        <a:rPr lang="en-US" sz="1600" dirty="0">
                          <a:solidFill>
                            <a:srgbClr val="F6F4EE"/>
                          </a:solidFill>
                          <a:latin typeface="Nunito Sans" pitchFamily="34" charset="0"/>
                          <a:ea typeface="Nunito Sans" pitchFamily="34" charset="-122"/>
                          <a:cs typeface="Nunito Sans" pitchFamily="34" charset="-120"/>
                        </a:rPr>
                        <a:t>Up to $15.9M of losses</a:t>
                      </a:r>
                      <a:endParaRPr lang="en-US" sz="1600" dirty="0">
                        <a:latin typeface="Nunito Sans" charset="0"/>
                        <a:ea typeface="Nunito Sans" charset="0"/>
                        <a:cs typeface="Nunito Sans" charset="0"/>
                      </a:endParaRPr>
                    </a:p>
                  </a:txBody>
                  <a:tcPr marL="71120" marR="71120" marT="71120" marB="71120" anchor="t">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475165"/>
                      </a:solidFill>
                      <a:prstDash val="solid"/>
                      <a:round/>
                      <a:headEnd type="none" w="med" len="med"/>
                      <a:tailEnd type="none" w="med" len="med"/>
                    </a:lnB>
                  </a:tcPr>
                </a:tc>
              </a:tr>
              <a:tr h="439341">
                <a:tc>
                  <a:txBody>
                    <a:bodyPr/>
                    <a:lstStyle/>
                    <a:p>
                      <a:pPr indent="0" marL="0">
                        <a:lnSpc>
                          <a:spcPts val="2240"/>
                        </a:lnSpc>
                        <a:buNone/>
                      </a:pPr>
                      <a:r>
                        <a:rPr lang="en-US" sz="1600" dirty="0">
                          <a:solidFill>
                            <a:srgbClr val="F6F4EE"/>
                          </a:solidFill>
                          <a:latin typeface="Nunito Sans" pitchFamily="34" charset="0"/>
                          <a:ea typeface="Nunito Sans" pitchFamily="34" charset="-122"/>
                          <a:cs typeface="Nunito Sans" pitchFamily="34" charset="-120"/>
                        </a:rPr>
                        <a:t>3</a:t>
                      </a:r>
                      <a:endParaRPr lang="en-US" sz="1600" dirty="0">
                        <a:latin typeface="Nunito Sans" charset="0"/>
                        <a:ea typeface="Nunito Sans" charset="0"/>
                        <a:cs typeface="Nunito Sans" charset="0"/>
                      </a:endParaRPr>
                    </a:p>
                  </a:txBody>
                  <a:tcPr marL="71120" marR="71120" marT="71120" marB="71120" anchor="t">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475165"/>
                      </a:solidFill>
                      <a:prstDash val="solid"/>
                      <a:round/>
                      <a:headEnd type="none" w="med" len="med"/>
                      <a:tailEnd type="none" w="med" len="med"/>
                    </a:lnB>
                  </a:tcPr>
                </a:tc>
                <a:tc>
                  <a:txBody>
                    <a:bodyPr/>
                    <a:lstStyle/>
                    <a:p>
                      <a:pPr indent="0" marL="0">
                        <a:lnSpc>
                          <a:spcPts val="2240"/>
                        </a:lnSpc>
                        <a:buNone/>
                      </a:pPr>
                      <a:r>
                        <a:rPr lang="en-US" sz="1600" dirty="0">
                          <a:solidFill>
                            <a:srgbClr val="F6F4EE"/>
                          </a:solidFill>
                          <a:latin typeface="Nunito Sans" pitchFamily="34" charset="0"/>
                          <a:ea typeface="Nunito Sans" pitchFamily="34" charset="-122"/>
                          <a:cs typeface="Nunito Sans" pitchFamily="34" charset="-120"/>
                        </a:rPr>
                        <a:t>Set repair deadlines by equipment importance</a:t>
                      </a:r>
                      <a:endParaRPr lang="en-US" sz="1600" dirty="0">
                        <a:latin typeface="Nunito Sans" charset="0"/>
                        <a:ea typeface="Nunito Sans" charset="0"/>
                        <a:cs typeface="Nunito Sans" charset="0"/>
                      </a:endParaRPr>
                    </a:p>
                  </a:txBody>
                  <a:tcPr marL="71120" marR="71120" marT="71120" marB="71120" anchor="t">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475165"/>
                      </a:solidFill>
                      <a:prstDash val="solid"/>
                      <a:round/>
                      <a:headEnd type="none" w="med" len="med"/>
                      <a:tailEnd type="none" w="med" len="med"/>
                    </a:lnB>
                  </a:tcPr>
                </a:tc>
                <a:tc>
                  <a:txBody>
                    <a:bodyPr/>
                    <a:lstStyle/>
                    <a:p>
                      <a:pPr indent="0" marL="0">
                        <a:lnSpc>
                          <a:spcPts val="2240"/>
                        </a:lnSpc>
                        <a:buNone/>
                      </a:pPr>
                      <a:r>
                        <a:rPr lang="en-US" sz="1600" dirty="0">
                          <a:solidFill>
                            <a:srgbClr val="F6F4EE"/>
                          </a:solidFill>
                          <a:latin typeface="Nunito Sans" pitchFamily="34" charset="0"/>
                          <a:ea typeface="Nunito Sans" pitchFamily="34" charset="-122"/>
                          <a:cs typeface="Nunito Sans" pitchFamily="34" charset="-120"/>
                        </a:rPr>
                        <a:t>Fixes most of the 54% missed</a:t>
                      </a:r>
                      <a:endParaRPr lang="en-US" sz="1600" dirty="0">
                        <a:latin typeface="Nunito Sans" charset="0"/>
                        <a:ea typeface="Nunito Sans" charset="0"/>
                        <a:cs typeface="Nunito Sans" charset="0"/>
                      </a:endParaRPr>
                    </a:p>
                  </a:txBody>
                  <a:tcPr marL="71120" marR="71120" marT="71120" marB="71120" anchor="t">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475165"/>
                      </a:solidFill>
                      <a:prstDash val="solid"/>
                      <a:round/>
                      <a:headEnd type="none" w="med" len="med"/>
                      <a:tailEnd type="none" w="med" len="med"/>
                    </a:lnB>
                  </a:tcPr>
                </a:tc>
              </a:tr>
              <a:tr h="439341">
                <a:tc>
                  <a:txBody>
                    <a:bodyPr/>
                    <a:lstStyle/>
                    <a:p>
                      <a:pPr indent="0" marL="0">
                        <a:lnSpc>
                          <a:spcPts val="2240"/>
                        </a:lnSpc>
                        <a:buNone/>
                      </a:pPr>
                      <a:r>
                        <a:rPr lang="en-US" sz="1600" dirty="0">
                          <a:solidFill>
                            <a:srgbClr val="F6F4EE"/>
                          </a:solidFill>
                          <a:latin typeface="Nunito Sans" pitchFamily="34" charset="0"/>
                          <a:ea typeface="Nunito Sans" pitchFamily="34" charset="-122"/>
                          <a:cs typeface="Nunito Sans" pitchFamily="34" charset="-120"/>
                        </a:rPr>
                        <a:t>4</a:t>
                      </a:r>
                      <a:endParaRPr lang="en-US" sz="1600" dirty="0">
                        <a:latin typeface="Nunito Sans" charset="0"/>
                        <a:ea typeface="Nunito Sans" charset="0"/>
                        <a:cs typeface="Nunito Sans" charset="0"/>
                      </a:endParaRPr>
                    </a:p>
                  </a:txBody>
                  <a:tcPr marL="71120" marR="71120" marT="71120" marB="71120" anchor="t">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475165"/>
                      </a:solidFill>
                      <a:prstDash val="solid"/>
                      <a:round/>
                      <a:headEnd type="none" w="med" len="med"/>
                      <a:tailEnd type="none" w="med" len="med"/>
                    </a:lnB>
                  </a:tcPr>
                </a:tc>
                <a:tc>
                  <a:txBody>
                    <a:bodyPr/>
                    <a:lstStyle/>
                    <a:p>
                      <a:pPr indent="0" marL="0">
                        <a:lnSpc>
                          <a:spcPts val="2240"/>
                        </a:lnSpc>
                        <a:buNone/>
                      </a:pPr>
                      <a:r>
                        <a:rPr lang="en-US" sz="1600" dirty="0">
                          <a:solidFill>
                            <a:srgbClr val="F6F4EE"/>
                          </a:solidFill>
                          <a:latin typeface="Nunito Sans" pitchFamily="34" charset="0"/>
                          <a:ea typeface="Nunito Sans" pitchFamily="34" charset="-122"/>
                          <a:cs typeface="Nunito Sans" pitchFamily="34" charset="-120"/>
                        </a:rPr>
                        <a:t>Inspect every machine over 10 years old in poor condition</a:t>
                      </a:r>
                      <a:endParaRPr lang="en-US" sz="1600" dirty="0">
                        <a:latin typeface="Nunito Sans" charset="0"/>
                        <a:ea typeface="Nunito Sans" charset="0"/>
                        <a:cs typeface="Nunito Sans" charset="0"/>
                      </a:endParaRPr>
                    </a:p>
                  </a:txBody>
                  <a:tcPr marL="71120" marR="71120" marT="71120" marB="71120" anchor="t">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475165"/>
                      </a:solidFill>
                      <a:prstDash val="solid"/>
                      <a:round/>
                      <a:headEnd type="none" w="med" len="med"/>
                      <a:tailEnd type="none" w="med" len="med"/>
                    </a:lnB>
                  </a:tcPr>
                </a:tc>
                <a:tc>
                  <a:txBody>
                    <a:bodyPr/>
                    <a:lstStyle/>
                    <a:p>
                      <a:pPr indent="0" marL="0">
                        <a:lnSpc>
                          <a:spcPts val="2240"/>
                        </a:lnSpc>
                        <a:buNone/>
                      </a:pPr>
                      <a:r>
                        <a:rPr lang="en-US" sz="1600" dirty="0">
                          <a:solidFill>
                            <a:srgbClr val="F6F4EE"/>
                          </a:solidFill>
                          <a:latin typeface="Nunito Sans" pitchFamily="34" charset="0"/>
                          <a:ea typeface="Nunito Sans" pitchFamily="34" charset="-122"/>
                          <a:cs typeface="Nunito Sans" pitchFamily="34" charset="-120"/>
                        </a:rPr>
                        <a:t>Covers 63% of high-risk cases</a:t>
                      </a:r>
                      <a:endParaRPr lang="en-US" sz="1600" dirty="0">
                        <a:latin typeface="Nunito Sans" charset="0"/>
                        <a:ea typeface="Nunito Sans" charset="0"/>
                        <a:cs typeface="Nunito Sans" charset="0"/>
                      </a:endParaRPr>
                    </a:p>
                  </a:txBody>
                  <a:tcPr marL="71120" marR="71120" marT="71120" marB="71120" anchor="t">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475165"/>
                      </a:solidFill>
                      <a:prstDash val="solid"/>
                      <a:round/>
                      <a:headEnd type="none" w="med" len="med"/>
                      <a:tailEnd type="none" w="med" len="med"/>
                    </a:lnB>
                  </a:tcPr>
                </a:tc>
              </a:tr>
              <a:tr h="723801">
                <a:tc>
                  <a:txBody>
                    <a:bodyPr/>
                    <a:lstStyle/>
                    <a:p>
                      <a:pPr indent="0" marL="0">
                        <a:lnSpc>
                          <a:spcPts val="2240"/>
                        </a:lnSpc>
                        <a:buNone/>
                      </a:pPr>
                      <a:r>
                        <a:rPr lang="en-US" sz="1600" dirty="0">
                          <a:solidFill>
                            <a:srgbClr val="F6F4EE"/>
                          </a:solidFill>
                          <a:latin typeface="Nunito Sans" pitchFamily="34" charset="0"/>
                          <a:ea typeface="Nunito Sans" pitchFamily="34" charset="-122"/>
                          <a:cs typeface="Nunito Sans" pitchFamily="34" charset="-120"/>
                        </a:rPr>
                        <a:t>5</a:t>
                      </a:r>
                      <a:endParaRPr lang="en-US" sz="1600" dirty="0">
                        <a:latin typeface="Nunito Sans" charset="0"/>
                        <a:ea typeface="Nunito Sans" charset="0"/>
                        <a:cs typeface="Nunito Sans" charset="0"/>
                      </a:endParaRPr>
                    </a:p>
                  </a:txBody>
                  <a:tcPr marL="71120" marR="71120" marT="71120" marB="71120" anchor="t">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475165"/>
                      </a:solidFill>
                      <a:prstDash val="solid"/>
                      <a:round/>
                      <a:headEnd type="none" w="med" len="med"/>
                      <a:tailEnd type="none" w="med" len="med"/>
                    </a:lnB>
                  </a:tcPr>
                </a:tc>
                <a:tc>
                  <a:txBody>
                    <a:bodyPr/>
                    <a:lstStyle/>
                    <a:p>
                      <a:pPr indent="0" marL="0">
                        <a:lnSpc>
                          <a:spcPts val="2240"/>
                        </a:lnSpc>
                        <a:buNone/>
                      </a:pPr>
                      <a:r>
                        <a:rPr lang="en-US" sz="1600" dirty="0">
                          <a:solidFill>
                            <a:srgbClr val="F6F4EE"/>
                          </a:solidFill>
                          <a:latin typeface="Nunito Sans" pitchFamily="34" charset="0"/>
                          <a:ea typeface="Nunito Sans" pitchFamily="34" charset="-122"/>
                          <a:cs typeface="Nunito Sans" pitchFamily="34" charset="-120"/>
                        </a:rPr>
                        <a:t>Re-tune alarms and stock spares for critical machines</a:t>
                      </a:r>
                      <a:endParaRPr lang="en-US" sz="1600" dirty="0">
                        <a:latin typeface="Nunito Sans" charset="0"/>
                        <a:ea typeface="Nunito Sans" charset="0"/>
                        <a:cs typeface="Nunito Sans" charset="0"/>
                      </a:endParaRPr>
                    </a:p>
                  </a:txBody>
                  <a:tcPr marL="71120" marR="71120" marT="71120" marB="71120" anchor="t">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475165"/>
                      </a:solidFill>
                      <a:prstDash val="solid"/>
                      <a:round/>
                      <a:headEnd type="none" w="med" len="med"/>
                      <a:tailEnd type="none" w="med" len="med"/>
                    </a:lnB>
                  </a:tcPr>
                </a:tc>
                <a:tc>
                  <a:txBody>
                    <a:bodyPr/>
                    <a:lstStyle/>
                    <a:p>
                      <a:pPr indent="0" marL="0">
                        <a:lnSpc>
                          <a:spcPts val="2240"/>
                        </a:lnSpc>
                        <a:buNone/>
                      </a:pPr>
                      <a:r>
                        <a:rPr lang="en-US" sz="1600" dirty="0">
                          <a:solidFill>
                            <a:srgbClr val="F6F4EE"/>
                          </a:solidFill>
                          <a:latin typeface="Nunito Sans" pitchFamily="34" charset="0"/>
                          <a:ea typeface="Nunito Sans" pitchFamily="34" charset="-122"/>
                          <a:cs typeface="Nunito Sans" pitchFamily="34" charset="-120"/>
                        </a:rPr>
                        <a:t>140 fewer false alarms; 17% less loss on stockouts</a:t>
                      </a:r>
                      <a:endParaRPr lang="en-US" sz="1600" dirty="0">
                        <a:latin typeface="Nunito Sans" charset="0"/>
                        <a:ea typeface="Nunito Sans" charset="0"/>
                        <a:cs typeface="Nunito Sans" charset="0"/>
                      </a:endParaRPr>
                    </a:p>
                  </a:txBody>
                  <a:tcPr marL="71120" marR="71120" marT="71120" marB="71120" anchor="t">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475165"/>
                      </a:solidFill>
                      <a:prstDash val="solid"/>
                      <a:round/>
                      <a:headEnd type="none" w="med" len="med"/>
                      <a:tailEnd type="none" w="med" len="med"/>
                    </a:lnB>
                  </a:tcPr>
                </a:tc>
              </a:tr>
            </a:tbl>
          </a:graphicData>
        </a:graphic>
      </p:graphicFrame>
      <p:sp>
        <p:nvSpPr>
          <p:cNvPr id="4" name="Text 1"/>
          <p:cNvSpPr/>
          <p:nvPr/>
        </p:nvSpPr>
        <p:spPr>
          <a:xfrm>
            <a:off x="812800" y="4822924"/>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3E3"/>
                </a:solidFill>
                <a:latin typeface="Nunito Sans" pitchFamily="34" charset="0"/>
                <a:ea typeface="Nunito Sans" pitchFamily="34" charset="-122"/>
                <a:cs typeface="Nunito Sans" pitchFamily="34" charset="-120"/>
              </a:rPr>
              <a:t>The savings overlap, so they should not be added together. Decisions 2–4 cost almost nothing to start.</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6F4E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960041"/>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Domine" pitchFamily="18" charset="0"/>
                <a:ea typeface="Domine" pitchFamily="18" charset="-122"/>
                <a:cs typeface="Domine" pitchFamily="18" charset="-120"/>
              </a:rPr>
              <a:t>Quick, free fixes first; new technology after it has proven itself</a:t>
            </a:r>
            <a:endParaRPr lang="en-US" sz="3200" dirty="0"/>
          </a:p>
        </p:txBody>
      </p:sp>
      <p:sp>
        <p:nvSpPr>
          <p:cNvPr id="3" name="Shape 1"/>
          <p:cNvSpPr/>
          <p:nvPr/>
        </p:nvSpPr>
        <p:spPr>
          <a:xfrm>
            <a:off x="812800" y="2103041"/>
            <a:ext cx="3386634" cy="3103215"/>
          </a:xfrm>
          <a:prstGeom prst="roundRect">
            <a:avLst>
              <a:gd name="adj" fmla="val 3274"/>
            </a:avLst>
          </a:prstGeom>
          <a:solidFill>
            <a:srgbClr val="FFFFFF"/>
          </a:solidFill>
          <a:ln/>
        </p:spPr>
      </p:sp>
      <p:sp>
        <p:nvSpPr>
          <p:cNvPr id="4" name="Shape 2"/>
          <p:cNvSpPr/>
          <p:nvPr/>
        </p:nvSpPr>
        <p:spPr>
          <a:xfrm>
            <a:off x="812800" y="2103041"/>
            <a:ext cx="3386634" cy="3103215"/>
          </a:xfrm>
          <a:custGeom>
            <a:avLst/>
            <a:gdLst/>
            <a:ahLst/>
            <a:cxnLst/>
            <a:rect l="l" t="t" r="r" b="b"/>
            <a:pathLst>
              <a:path w="3386634" h="3103215">
                <a:moveTo>
                  <a:pt x="0" y="101600"/>
                </a:moveTo>
                <a:lnTo>
                  <a:pt x="0" y="101600"/>
                </a:lnTo>
                <a:arcTo hR="101600" wR="101600" stAng="10800000" swAng="5400000"/>
                <a:lnTo>
                  <a:pt x="3285034" y="0"/>
                </a:lnTo>
                <a:arcTo hR="101600" wR="101600" stAng="16200000" swAng="5400000"/>
                <a:lnTo>
                  <a:pt x="3386634" y="101600"/>
                </a:lnTo>
                <a:arcTo hR="50800" wR="101600" stAng="0" swAng="-5400000"/>
                <a:lnTo>
                  <a:pt x="101600" y="50800"/>
                </a:lnTo>
                <a:arcTo hR="50800" wR="101600" stAng="16200000" swAng="-5400000"/>
                <a:close/>
              </a:path>
            </a:pathLst>
          </a:custGeom>
          <a:solidFill>
            <a:srgbClr val="C0631A"/>
          </a:solidFill>
          <a:ln/>
        </p:spPr>
      </p:sp>
      <p:sp>
        <p:nvSpPr>
          <p:cNvPr id="5" name="Text 3"/>
          <p:cNvSpPr/>
          <p:nvPr/>
        </p:nvSpPr>
        <p:spPr>
          <a:xfrm>
            <a:off x="1092200" y="2433241"/>
            <a:ext cx="2912669" cy="274290"/>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C0631A"/>
                </a:solidFill>
                <a:latin typeface="Nunito Sans" pitchFamily="34" charset="0"/>
                <a:ea typeface="Nunito Sans" pitchFamily="34" charset="-122"/>
                <a:cs typeface="Nunito Sans" pitchFamily="34" charset="-120"/>
              </a:rPr>
              <a:t>FIRST 30 DAYS</a:t>
            </a:r>
            <a:endParaRPr lang="en-US" sz="1400" dirty="0"/>
          </a:p>
        </p:txBody>
      </p:sp>
      <p:sp>
        <p:nvSpPr>
          <p:cNvPr id="6" name="Text 4"/>
          <p:cNvSpPr/>
          <p:nvPr/>
        </p:nvSpPr>
        <p:spPr>
          <a:xfrm>
            <a:off x="1092200" y="2809131"/>
            <a:ext cx="291266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Nunito Sans" pitchFamily="34" charset="0"/>
                <a:ea typeface="Nunito Sans" pitchFamily="34" charset="-122"/>
                <a:cs typeface="Nunito Sans" pitchFamily="34" charset="-120"/>
              </a:rPr>
              <a:t>Change the rules</a:t>
            </a:r>
            <a:endParaRPr lang="en-US" sz="2000" dirty="0"/>
          </a:p>
        </p:txBody>
      </p:sp>
      <p:sp>
        <p:nvSpPr>
          <p:cNvPr id="7" name="Text 5"/>
          <p:cNvSpPr/>
          <p:nvPr/>
        </p:nvSpPr>
        <p:spPr>
          <a:xfrm>
            <a:off x="1163320" y="3240931"/>
            <a:ext cx="2833929" cy="1406525"/>
          </a:xfrm>
          <a:prstGeom prst="rect">
            <a:avLst/>
          </a:prstGeom>
          <a:noFill/>
          <a:ln/>
        </p:spPr>
        <p:txBody>
          <a:bodyPr wrap="square" lIns="0" tIns="0" rIns="0" bIns="0" rtlCol="0" anchor="t">
            <a:normAutofit/>
          </a:bodyPr>
          <a:lstStyle/>
          <a:p>
            <a:pPr algn="l" marL="182880" indent="-182880">
              <a:lnSpc>
                <a:spcPts val="2175"/>
              </a:lnSpc>
              <a:buSzPct val="100000"/>
              <a:buChar char="•"/>
            </a:pPr>
            <a:r>
              <a:rPr lang="en-US" sz="1500" dirty="0">
                <a:solidFill>
                  <a:srgbClr val="4A5568"/>
                </a:solidFill>
                <a:latin typeface="Nunito Sans" pitchFamily="34" charset="0"/>
                <a:ea typeface="Nunito Sans" pitchFamily="34" charset="-122"/>
                <a:cs typeface="Nunito Sans" pitchFamily="34" charset="-120"/>
              </a:rPr>
              <a:t>Deadlines by importance</a:t>
            </a:r>
            <a:endParaRPr lang="en-US" sz="1500" dirty="0"/>
          </a:p>
          <a:p>
            <a:pPr algn="l" marL="182880" indent="-182880">
              <a:lnSpc>
                <a:spcPts val="2175"/>
              </a:lnSpc>
              <a:buSzPct val="100000"/>
              <a:buChar char="•"/>
            </a:pPr>
            <a:r>
              <a:rPr lang="en-US" sz="1500" dirty="0">
                <a:solidFill>
                  <a:srgbClr val="4A5568"/>
                </a:solidFill>
                <a:latin typeface="Nunito Sans" pitchFamily="34" charset="0"/>
                <a:ea typeface="Nunito Sans" pitchFamily="34" charset="-122"/>
                <a:cs typeface="Nunito Sans" pitchFamily="34" charset="-120"/>
              </a:rPr>
              <a:t>Critical jobs first</a:t>
            </a:r>
            <a:endParaRPr lang="en-US" sz="1500" dirty="0"/>
          </a:p>
          <a:p>
            <a:pPr algn="l" marL="182880" indent="-182880">
              <a:lnSpc>
                <a:spcPts val="2175"/>
              </a:lnSpc>
              <a:buSzPct val="100000"/>
              <a:buChar char="•"/>
            </a:pPr>
            <a:r>
              <a:rPr lang="en-US" sz="1500" dirty="0">
                <a:solidFill>
                  <a:srgbClr val="4A5568"/>
                </a:solidFill>
                <a:latin typeface="Nunito Sans" pitchFamily="34" charset="0"/>
                <a:ea typeface="Nunito Sans" pitchFamily="34" charset="-122"/>
                <a:cs typeface="Nunito Sans" pitchFamily="34" charset="-120"/>
              </a:rPr>
              <a:t>Switch off false temperature alarms</a:t>
            </a:r>
            <a:endParaRPr lang="en-US" sz="1500" dirty="0"/>
          </a:p>
          <a:p>
            <a:pPr algn="l" marL="182880" indent="-182880">
              <a:lnSpc>
                <a:spcPts val="2175"/>
              </a:lnSpc>
              <a:buSzPct val="100000"/>
              <a:buChar char="•"/>
            </a:pPr>
            <a:r>
              <a:rPr lang="en-US" sz="1500" dirty="0">
                <a:solidFill>
                  <a:srgbClr val="4A5568"/>
                </a:solidFill>
                <a:latin typeface="Nunito Sans" pitchFamily="34" charset="0"/>
                <a:ea typeface="Nunito Sans" pitchFamily="34" charset="-122"/>
                <a:cs typeface="Nunito Sans" pitchFamily="34" charset="-120"/>
              </a:rPr>
              <a:t>Clean up asset records</a:t>
            </a:r>
            <a:endParaRPr lang="en-US" sz="1500" dirty="0"/>
          </a:p>
        </p:txBody>
      </p:sp>
      <p:sp>
        <p:nvSpPr>
          <p:cNvPr id="8" name="Shape 6"/>
          <p:cNvSpPr/>
          <p:nvPr/>
        </p:nvSpPr>
        <p:spPr>
          <a:xfrm>
            <a:off x="4402634" y="2103041"/>
            <a:ext cx="3386683" cy="3103215"/>
          </a:xfrm>
          <a:prstGeom prst="roundRect">
            <a:avLst>
              <a:gd name="adj" fmla="val 3274"/>
            </a:avLst>
          </a:prstGeom>
          <a:solidFill>
            <a:srgbClr val="FFFFFF"/>
          </a:solidFill>
          <a:ln/>
        </p:spPr>
      </p:sp>
      <p:sp>
        <p:nvSpPr>
          <p:cNvPr id="9" name="Shape 7"/>
          <p:cNvSpPr/>
          <p:nvPr/>
        </p:nvSpPr>
        <p:spPr>
          <a:xfrm>
            <a:off x="4402634" y="2103041"/>
            <a:ext cx="3386683" cy="3103215"/>
          </a:xfrm>
          <a:custGeom>
            <a:avLst/>
            <a:gdLst/>
            <a:ahLst/>
            <a:cxnLst/>
            <a:rect l="l" t="t" r="r" b="b"/>
            <a:pathLst>
              <a:path w="3386683" h="3103215">
                <a:moveTo>
                  <a:pt x="0" y="101600"/>
                </a:moveTo>
                <a:lnTo>
                  <a:pt x="0" y="101600"/>
                </a:lnTo>
                <a:arcTo hR="101600" wR="101600" stAng="10800000" swAng="5400000"/>
                <a:lnTo>
                  <a:pt x="3285083" y="0"/>
                </a:lnTo>
                <a:arcTo hR="101600" wR="101600" stAng="16200000" swAng="5400000"/>
                <a:lnTo>
                  <a:pt x="3386683" y="101600"/>
                </a:lnTo>
                <a:arcTo hR="50800" wR="101600" stAng="0" swAng="-5400000"/>
                <a:lnTo>
                  <a:pt x="101600" y="50800"/>
                </a:lnTo>
                <a:arcTo hR="50800" wR="101600" stAng="16200000" swAng="-5400000"/>
                <a:close/>
              </a:path>
            </a:pathLst>
          </a:custGeom>
          <a:solidFill>
            <a:srgbClr val="9AA5B8"/>
          </a:solidFill>
          <a:ln/>
        </p:spPr>
      </p:sp>
      <p:sp>
        <p:nvSpPr>
          <p:cNvPr id="10" name="Text 8"/>
          <p:cNvSpPr/>
          <p:nvPr/>
        </p:nvSpPr>
        <p:spPr>
          <a:xfrm>
            <a:off x="4682034" y="2433241"/>
            <a:ext cx="2912720" cy="274290"/>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4A5568"/>
                </a:solidFill>
                <a:latin typeface="Nunito Sans" pitchFamily="34" charset="0"/>
                <a:ea typeface="Nunito Sans" pitchFamily="34" charset="-122"/>
                <a:cs typeface="Nunito Sans" pitchFamily="34" charset="-120"/>
              </a:rPr>
              <a:t>DAYS 31–90</a:t>
            </a:r>
            <a:endParaRPr lang="en-US" sz="1400" dirty="0"/>
          </a:p>
        </p:txBody>
      </p:sp>
      <p:sp>
        <p:nvSpPr>
          <p:cNvPr id="11" name="Text 9"/>
          <p:cNvSpPr/>
          <p:nvPr/>
        </p:nvSpPr>
        <p:spPr>
          <a:xfrm>
            <a:off x="4682034" y="2809131"/>
            <a:ext cx="2912720" cy="6350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Nunito Sans" pitchFamily="34" charset="0"/>
                <a:ea typeface="Nunito Sans" pitchFamily="34" charset="-122"/>
                <a:cs typeface="Nunito Sans" pitchFamily="34" charset="-120"/>
              </a:rPr>
              <a:t>Change how we maintain</a:t>
            </a:r>
            <a:endParaRPr lang="en-US" sz="2000" dirty="0"/>
          </a:p>
        </p:txBody>
      </p:sp>
      <p:sp>
        <p:nvSpPr>
          <p:cNvPr id="12" name="Text 10"/>
          <p:cNvSpPr/>
          <p:nvPr/>
        </p:nvSpPr>
        <p:spPr>
          <a:xfrm>
            <a:off x="4753154" y="3545731"/>
            <a:ext cx="2833980" cy="1406525"/>
          </a:xfrm>
          <a:prstGeom prst="rect">
            <a:avLst/>
          </a:prstGeom>
          <a:noFill/>
          <a:ln/>
        </p:spPr>
        <p:txBody>
          <a:bodyPr wrap="square" lIns="0" tIns="0" rIns="0" bIns="0" rtlCol="0" anchor="t">
            <a:normAutofit/>
          </a:bodyPr>
          <a:lstStyle/>
          <a:p>
            <a:pPr algn="l" marL="182880" indent="-182880">
              <a:lnSpc>
                <a:spcPts val="2175"/>
              </a:lnSpc>
              <a:buSzPct val="100000"/>
              <a:buChar char="•"/>
            </a:pPr>
            <a:r>
              <a:rPr lang="en-US" sz="1500" dirty="0">
                <a:solidFill>
                  <a:srgbClr val="4A5568"/>
                </a:solidFill>
                <a:latin typeface="Nunito Sans" pitchFamily="34" charset="0"/>
                <a:ea typeface="Nunito Sans" pitchFamily="34" charset="-122"/>
                <a:cs typeface="Nunito Sans" pitchFamily="34" charset="-120"/>
              </a:rPr>
              <a:t>Move run-to-failure machines to condition checks</a:t>
            </a:r>
            <a:endParaRPr lang="en-US" sz="1500" dirty="0"/>
          </a:p>
          <a:p>
            <a:pPr algn="l" marL="182880" indent="-182880">
              <a:lnSpc>
                <a:spcPts val="2175"/>
              </a:lnSpc>
              <a:buSzPct val="100000"/>
              <a:buChar char="•"/>
            </a:pPr>
            <a:r>
              <a:rPr lang="en-US" sz="1500" dirty="0">
                <a:solidFill>
                  <a:srgbClr val="4A5568"/>
                </a:solidFill>
                <a:latin typeface="Nunito Sans" pitchFamily="34" charset="0"/>
                <a:ea typeface="Nunito Sans" pitchFamily="34" charset="-122"/>
                <a:cs typeface="Nunito Sans" pitchFamily="34" charset="-120"/>
              </a:rPr>
              <a:t>Top up critical spare parts</a:t>
            </a:r>
            <a:endParaRPr lang="en-US" sz="1500" dirty="0"/>
          </a:p>
          <a:p>
            <a:pPr algn="l" marL="182880" indent="-182880">
              <a:lnSpc>
                <a:spcPts val="2175"/>
              </a:lnSpc>
              <a:buSzPct val="100000"/>
              <a:buChar char="•"/>
            </a:pPr>
            <a:r>
              <a:rPr lang="en-US" sz="1500" dirty="0">
                <a:solidFill>
                  <a:srgbClr val="4A5568"/>
                </a:solidFill>
                <a:latin typeface="Nunito Sans" pitchFamily="34" charset="0"/>
                <a:ea typeface="Nunito Sans" pitchFamily="34" charset="-122"/>
                <a:cs typeface="Nunito Sans" pitchFamily="34" charset="-120"/>
              </a:rPr>
              <a:t>Extra checks on repeat-failure machines</a:t>
            </a:r>
            <a:endParaRPr lang="en-US" sz="1500" dirty="0"/>
          </a:p>
        </p:txBody>
      </p:sp>
      <p:sp>
        <p:nvSpPr>
          <p:cNvPr id="13" name="Shape 11"/>
          <p:cNvSpPr/>
          <p:nvPr/>
        </p:nvSpPr>
        <p:spPr>
          <a:xfrm>
            <a:off x="7992517" y="2103041"/>
            <a:ext cx="3386683" cy="3103215"/>
          </a:xfrm>
          <a:prstGeom prst="roundRect">
            <a:avLst>
              <a:gd name="adj" fmla="val 3274"/>
            </a:avLst>
          </a:prstGeom>
          <a:solidFill>
            <a:srgbClr val="FFFFFF"/>
          </a:solidFill>
          <a:ln/>
        </p:spPr>
      </p:sp>
      <p:sp>
        <p:nvSpPr>
          <p:cNvPr id="14" name="Shape 12"/>
          <p:cNvSpPr/>
          <p:nvPr/>
        </p:nvSpPr>
        <p:spPr>
          <a:xfrm>
            <a:off x="7992517" y="2103041"/>
            <a:ext cx="3386683" cy="3103215"/>
          </a:xfrm>
          <a:custGeom>
            <a:avLst/>
            <a:gdLst/>
            <a:ahLst/>
            <a:cxnLst/>
            <a:rect l="l" t="t" r="r" b="b"/>
            <a:pathLst>
              <a:path w="3386683" h="3103215">
                <a:moveTo>
                  <a:pt x="0" y="101600"/>
                </a:moveTo>
                <a:lnTo>
                  <a:pt x="0" y="101600"/>
                </a:lnTo>
                <a:arcTo hR="101600" wR="101600" stAng="10800000" swAng="5400000"/>
                <a:lnTo>
                  <a:pt x="3285083" y="0"/>
                </a:lnTo>
                <a:arcTo hR="101600" wR="101600" stAng="16200000" swAng="5400000"/>
                <a:lnTo>
                  <a:pt x="3386683" y="101600"/>
                </a:lnTo>
                <a:arcTo hR="50800" wR="101600" stAng="0" swAng="-5400000"/>
                <a:lnTo>
                  <a:pt x="101600" y="50800"/>
                </a:lnTo>
                <a:arcTo hR="50800" wR="101600" stAng="16200000" swAng="-5400000"/>
                <a:close/>
              </a:path>
            </a:pathLst>
          </a:custGeom>
          <a:solidFill>
            <a:srgbClr val="2F6FB0"/>
          </a:solidFill>
          <a:ln/>
        </p:spPr>
      </p:sp>
      <p:sp>
        <p:nvSpPr>
          <p:cNvPr id="15" name="Text 13"/>
          <p:cNvSpPr/>
          <p:nvPr/>
        </p:nvSpPr>
        <p:spPr>
          <a:xfrm>
            <a:off x="8271917" y="2433241"/>
            <a:ext cx="2912720" cy="274290"/>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2F6FB0"/>
                </a:solidFill>
                <a:latin typeface="Nunito Sans" pitchFamily="34" charset="0"/>
                <a:ea typeface="Nunito Sans" pitchFamily="34" charset="-122"/>
                <a:cs typeface="Nunito Sans" pitchFamily="34" charset="-120"/>
              </a:rPr>
              <a:t>NEXT QUARTER</a:t>
            </a:r>
            <a:endParaRPr lang="en-US" sz="1400" dirty="0"/>
          </a:p>
        </p:txBody>
      </p:sp>
      <p:sp>
        <p:nvSpPr>
          <p:cNvPr id="16" name="Text 14"/>
          <p:cNvSpPr/>
          <p:nvPr/>
        </p:nvSpPr>
        <p:spPr>
          <a:xfrm>
            <a:off x="8271917" y="2809131"/>
            <a:ext cx="310728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Nunito Sans" pitchFamily="34" charset="0"/>
                <a:ea typeface="Nunito Sans" pitchFamily="34" charset="-122"/>
                <a:cs typeface="Nunito Sans" pitchFamily="34" charset="-120"/>
              </a:rPr>
              <a:t>Add AI and dashboards</a:t>
            </a:r>
            <a:endParaRPr lang="en-US" sz="2000" dirty="0"/>
          </a:p>
        </p:txBody>
      </p:sp>
      <p:sp>
        <p:nvSpPr>
          <p:cNvPr id="17" name="Text 15"/>
          <p:cNvSpPr/>
          <p:nvPr/>
        </p:nvSpPr>
        <p:spPr>
          <a:xfrm>
            <a:off x="8343037" y="3240931"/>
            <a:ext cx="2833980" cy="1406525"/>
          </a:xfrm>
          <a:prstGeom prst="rect">
            <a:avLst/>
          </a:prstGeom>
          <a:noFill/>
          <a:ln/>
        </p:spPr>
        <p:txBody>
          <a:bodyPr wrap="square" lIns="0" tIns="0" rIns="0" bIns="0" rtlCol="0" anchor="t">
            <a:normAutofit/>
          </a:bodyPr>
          <a:lstStyle/>
          <a:p>
            <a:pPr algn="l" marL="182880" indent="-182880">
              <a:lnSpc>
                <a:spcPts val="2175"/>
              </a:lnSpc>
              <a:buSzPct val="100000"/>
              <a:buChar char="•"/>
            </a:pPr>
            <a:r>
              <a:rPr lang="en-US" sz="1500" dirty="0">
                <a:solidFill>
                  <a:srgbClr val="4A5568"/>
                </a:solidFill>
                <a:latin typeface="Nunito Sans" pitchFamily="34" charset="0"/>
                <a:ea typeface="Nunito Sans" pitchFamily="34" charset="-122"/>
                <a:cs typeface="Nunito Sans" pitchFamily="34" charset="-120"/>
              </a:rPr>
              <a:t>Risk-warning model that flags 86% of high-risk cases early</a:t>
            </a:r>
            <a:endParaRPr lang="en-US" sz="1500" dirty="0"/>
          </a:p>
          <a:p>
            <a:pPr algn="l" marL="182880" indent="-182880">
              <a:lnSpc>
                <a:spcPts val="2175"/>
              </a:lnSpc>
              <a:buSzPct val="100000"/>
              <a:buChar char="•"/>
            </a:pPr>
            <a:r>
              <a:rPr lang="en-US" sz="1500" dirty="0">
                <a:solidFill>
                  <a:srgbClr val="4A5568"/>
                </a:solidFill>
                <a:latin typeface="Nunito Sans" pitchFamily="34" charset="0"/>
                <a:ea typeface="Nunito Sans" pitchFamily="34" charset="-122"/>
                <a:cs typeface="Nunito Sans" pitchFamily="34" charset="-120"/>
              </a:rPr>
              <a:t>Five Power BI dashboards</a:t>
            </a:r>
            <a:endParaRPr lang="en-US" sz="1500" dirty="0"/>
          </a:p>
          <a:p>
            <a:pPr algn="l" marL="182880" indent="-182880">
              <a:lnSpc>
                <a:spcPts val="2175"/>
              </a:lnSpc>
              <a:buSzPct val="100000"/>
              <a:buChar char="•"/>
            </a:pPr>
            <a:r>
              <a:rPr lang="en-US" sz="1500" dirty="0">
                <a:solidFill>
                  <a:srgbClr val="4A5568"/>
                </a:solidFill>
                <a:latin typeface="Nunito Sans" pitchFamily="34" charset="0"/>
                <a:ea typeface="Nunito Sans" pitchFamily="34" charset="-122"/>
                <a:cs typeface="Nunito Sans" pitchFamily="34" charset="-120"/>
              </a:rPr>
              <a:t>Humans approve every action</a:t>
            </a:r>
            <a:endParaRPr lang="en-US" sz="15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68982"/>
          </a:xfrm>
          <a:prstGeom prst="rect">
            <a:avLst/>
          </a:prstGeom>
          <a:noFill/>
          <a:ln/>
        </p:spPr>
        <p:txBody>
          <a:bodyPr wrap="square" lIns="0" tIns="0" rIns="0" bIns="0" rtlCol="0" anchor="t">
            <a:normAutofit/>
          </a:bodyPr>
          <a:lstStyle/>
          <a:p>
            <a:pPr algn="l" indent="0" marL="0">
              <a:lnSpc>
                <a:spcPts val="1923"/>
              </a:lnSpc>
              <a:buNone/>
            </a:pPr>
            <a:r>
              <a:rPr lang="en-US" sz="1374" b="1" spc="150" kern="0" dirty="0">
                <a:solidFill>
                  <a:srgbClr val="C0631A"/>
                </a:solidFill>
                <a:latin typeface="Nunito Sans" pitchFamily="34" charset="0"/>
                <a:ea typeface="Nunito Sans" pitchFamily="34" charset="-122"/>
                <a:cs typeface="Nunito Sans" pitchFamily="34" charset="-120"/>
              </a:rPr>
              <a:t>AI APPLICATIONS · TESTED ON THE PROJECT DATA</a:t>
            </a:r>
            <a:endParaRPr lang="en-US" sz="1374" dirty="0"/>
          </a:p>
        </p:txBody>
      </p:sp>
      <p:sp>
        <p:nvSpPr>
          <p:cNvPr id="3" name="Text 1"/>
          <p:cNvSpPr/>
          <p:nvPr>
            <p:ph type="title"/>
          </p:nvPr>
        </p:nvSpPr>
        <p:spPr>
          <a:xfrm>
            <a:off x="812800" y="1284982"/>
            <a:ext cx="10883392" cy="825897"/>
          </a:xfrm>
          <a:prstGeom prst="rect">
            <a:avLst/>
          </a:prstGeom>
          <a:noFill/>
          <a:ln/>
        </p:spPr>
        <p:txBody>
          <a:bodyPr wrap="square" lIns="0" tIns="0" rIns="0" bIns="0" rtlCol="0" anchor="t">
            <a:normAutofit/>
          </a:bodyPr>
          <a:lstStyle/>
          <a:p>
            <a:pPr algn="l" indent="0" marL="0">
              <a:lnSpc>
                <a:spcPts val="3160"/>
              </a:lnSpc>
              <a:buNone/>
            </a:pPr>
            <a:r>
              <a:rPr lang="en-US" sz="2748" b="1" i="0" dirty="0">
                <a:solidFill>
                  <a:srgbClr val="14213D"/>
                </a:solidFill>
                <a:latin typeface="Domine" pitchFamily="18" charset="0"/>
                <a:ea typeface="Domine" pitchFamily="18" charset="-122"/>
                <a:cs typeface="Domine" pitchFamily="18" charset="-120"/>
              </a:rPr>
              <a:t>Risk prediction works today; other uses need cleaner data first</a:t>
            </a:r>
            <a:endParaRPr lang="en-US" sz="2748"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326779"/>
          <a:ext cx="10553700" cy="3718421"/>
        </p:xfrm>
        <a:graphic>
          <a:graphicData uri="http://schemas.openxmlformats.org/drawingml/2006/table">
            <a:tbl>
              <a:tblPr/>
              <a:tblGrid>
                <a:gridCol w="2743962"/>
                <a:gridCol w="4221480"/>
                <a:gridCol w="3588258"/>
              </a:tblGrid>
              <a:tr h="379710">
                <a:tc>
                  <a:txBody>
                    <a:bodyPr/>
                    <a:lstStyle/>
                    <a:p>
                      <a:pPr indent="0" marL="0">
                        <a:lnSpc>
                          <a:spcPts val="1786"/>
                        </a:lnSpc>
                        <a:buNone/>
                      </a:pPr>
                      <a:r>
                        <a:rPr lang="en-US" sz="1276" b="1" dirty="0">
                          <a:solidFill>
                            <a:srgbClr val="14213D"/>
                          </a:solidFill>
                          <a:latin typeface="Nunito Sans" pitchFamily="34" charset="0"/>
                          <a:ea typeface="Nunito Sans" pitchFamily="34" charset="-122"/>
                          <a:cs typeface="Nunito Sans" pitchFamily="34" charset="-120"/>
                        </a:rPr>
                        <a:t>AI use</a:t>
                      </a:r>
                      <a:endParaRPr lang="en-US" sz="1276" dirty="0">
                        <a:latin typeface="Nunito Sans" charset="0"/>
                        <a:ea typeface="Nunito Sans" charset="0"/>
                        <a:cs typeface="Nunito Sans" charset="0"/>
                      </a:endParaRPr>
                    </a:p>
                  </a:txBody>
                  <a:tcPr marL="56702" marR="56702" marT="56702" marB="56702" anchor="t">
                    <a:lnL w="12700" cap="flat" cmpd="sng" algn="ctr">
                      <a:solidFill>
                        <a:srgbClr val="C4C3BE"/>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indent="0" marL="0">
                        <a:lnSpc>
                          <a:spcPts val="1786"/>
                        </a:lnSpc>
                        <a:buNone/>
                      </a:pPr>
                      <a:r>
                        <a:rPr lang="en-US" sz="1276" b="1" dirty="0">
                          <a:solidFill>
                            <a:srgbClr val="14213D"/>
                          </a:solidFill>
                          <a:latin typeface="Nunito Sans" pitchFamily="34" charset="0"/>
                          <a:ea typeface="Nunito Sans" pitchFamily="34" charset="-122"/>
                          <a:cs typeface="Nunito Sans" pitchFamily="34" charset="-120"/>
                        </a:rPr>
                        <a:t>What it does</a:t>
                      </a:r>
                      <a:endParaRPr lang="en-US" sz="1276" dirty="0">
                        <a:latin typeface="Nunito Sans" charset="0"/>
                        <a:ea typeface="Nunito Sans" charset="0"/>
                        <a:cs typeface="Nunito Sans" charset="0"/>
                      </a:endParaRPr>
                    </a:p>
                  </a:txBody>
                  <a:tcPr marL="56702" marR="56702" marT="56702" marB="56702" anchor="t">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indent="0" marL="0">
                        <a:lnSpc>
                          <a:spcPts val="1786"/>
                        </a:lnSpc>
                        <a:buNone/>
                      </a:pPr>
                      <a:r>
                        <a:rPr lang="en-US" sz="1276" b="1" dirty="0">
                          <a:solidFill>
                            <a:srgbClr val="14213D"/>
                          </a:solidFill>
                          <a:latin typeface="Nunito Sans" pitchFamily="34" charset="0"/>
                          <a:ea typeface="Nunito Sans" pitchFamily="34" charset="-122"/>
                          <a:cs typeface="Nunito Sans" pitchFamily="34" charset="-120"/>
                        </a:rPr>
                        <a:t>What our test showed</a:t>
                      </a:r>
                      <a:endParaRPr lang="en-US" sz="1276" dirty="0">
                        <a:latin typeface="Nunito Sans" charset="0"/>
                        <a:ea typeface="Nunito Sans" charset="0"/>
                        <a:cs typeface="Nunito Sans" charset="0"/>
                      </a:endParaRPr>
                    </a:p>
                  </a:txBody>
                  <a:tcPr marL="56702" marR="56702" marT="56702" marB="56702" anchor="t">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r>
              <a:tr h="379710">
                <a:tc>
                  <a:txBody>
                    <a:bodyPr/>
                    <a:lstStyle/>
                    <a:p>
                      <a:pPr indent="0" marL="0">
                        <a:lnSpc>
                          <a:spcPts val="1786"/>
                        </a:lnSpc>
                        <a:buNone/>
                      </a:pPr>
                      <a:r>
                        <a:rPr lang="en-US" sz="1276" dirty="0">
                          <a:solidFill>
                            <a:srgbClr val="14213D"/>
                          </a:solidFill>
                          <a:latin typeface="Nunito Sans" pitchFamily="34" charset="0"/>
                          <a:ea typeface="Nunito Sans" pitchFamily="34" charset="-122"/>
                          <a:cs typeface="Nunito Sans" pitchFamily="34" charset="-120"/>
                        </a:rPr>
                        <a:t>Failure / risk classification</a:t>
                      </a:r>
                      <a:endParaRPr lang="en-US" sz="1276" dirty="0">
                        <a:latin typeface="Nunito Sans" charset="0"/>
                        <a:ea typeface="Nunito Sans" charset="0"/>
                        <a:cs typeface="Nunito Sans" charset="0"/>
                      </a:endParaRPr>
                    </a:p>
                  </a:txBody>
                  <a:tcPr marL="56702" marR="56702" marT="56702" marB="56702" anchor="t">
                    <a:lnL w="12700" cap="flat" cmpd="sng" algn="ctr">
                      <a:solidFill>
                        <a:srgbClr val="C4C3BE"/>
                      </a:solidFill>
                      <a:prstDash val="solid"/>
                      <a:round/>
                      <a:headEnd type="none" w="med" len="med"/>
                      <a:tailEnd type="none" w="med" len="med"/>
                    </a:lnL>
                    <a:lnR w="12700" cap="flat" cmpd="sng" algn="ctr">
                      <a:solidFill>
                        <a:srgbClr val="B5BCC4"/>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B5BCC4"/>
                      </a:solidFill>
                      <a:prstDash val="solid"/>
                      <a:round/>
                      <a:headEnd type="none" w="med" len="med"/>
                      <a:tailEnd type="none" w="med" len="med"/>
                    </a:lnB>
                    <a:solidFill>
                      <a:srgbClr val="E3ECF6"/>
                    </a:solidFill>
                  </a:tcPr>
                </a:tc>
                <a:tc>
                  <a:txBody>
                    <a:bodyPr/>
                    <a:lstStyle/>
                    <a:p>
                      <a:pPr indent="0" marL="0">
                        <a:lnSpc>
                          <a:spcPts val="1786"/>
                        </a:lnSpc>
                        <a:buNone/>
                      </a:pPr>
                      <a:r>
                        <a:rPr lang="en-US" sz="1276" dirty="0">
                          <a:solidFill>
                            <a:srgbClr val="14213D"/>
                          </a:solidFill>
                          <a:latin typeface="Nunito Sans" pitchFamily="34" charset="0"/>
                          <a:ea typeface="Nunito Sans" pitchFamily="34" charset="-122"/>
                          <a:cs typeface="Nunito Sans" pitchFamily="34" charset="-120"/>
                        </a:rPr>
                        <a:t>Flags machines likely to become high-risk</a:t>
                      </a:r>
                      <a:endParaRPr lang="en-US" sz="1276" dirty="0">
                        <a:latin typeface="Nunito Sans" charset="0"/>
                        <a:ea typeface="Nunito Sans" charset="0"/>
                        <a:cs typeface="Nunito Sans" charset="0"/>
                      </a:endParaRPr>
                    </a:p>
                  </a:txBody>
                  <a:tcPr marL="56702" marR="56702" marT="56702" marB="56702" anchor="t">
                    <a:lnL w="12700" cap="flat" cmpd="sng" algn="ctr">
                      <a:solidFill>
                        <a:srgbClr val="B5BCC4"/>
                      </a:solidFill>
                      <a:prstDash val="solid"/>
                      <a:round/>
                      <a:headEnd type="none" w="med" len="med"/>
                      <a:tailEnd type="none" w="med" len="med"/>
                    </a:lnL>
                    <a:lnR w="12700" cap="flat" cmpd="sng" algn="ctr">
                      <a:solidFill>
                        <a:srgbClr val="B5BCC4"/>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B5BCC4"/>
                      </a:solidFill>
                      <a:prstDash val="solid"/>
                      <a:round/>
                      <a:headEnd type="none" w="med" len="med"/>
                      <a:tailEnd type="none" w="med" len="med"/>
                    </a:lnB>
                    <a:solidFill>
                      <a:srgbClr val="E3ECF6"/>
                    </a:solidFill>
                  </a:tcPr>
                </a:tc>
                <a:tc>
                  <a:txBody>
                    <a:bodyPr/>
                    <a:lstStyle/>
                    <a:p>
                      <a:pPr indent="0" marL="0">
                        <a:lnSpc>
                          <a:spcPts val="1786"/>
                        </a:lnSpc>
                        <a:buNone/>
                      </a:pPr>
                      <a:r>
                        <a:rPr lang="en-US" sz="1276" dirty="0">
                          <a:solidFill>
                            <a:srgbClr val="14213D"/>
                          </a:solidFill>
                          <a:latin typeface="Nunito Sans" pitchFamily="34" charset="0"/>
                          <a:ea typeface="Nunito Sans" pitchFamily="34" charset="-122"/>
                          <a:cs typeface="Nunito Sans" pitchFamily="34" charset="-120"/>
                        </a:rPr>
                        <a:t>Finds 86% of cases in its top 10% of alerts</a:t>
                      </a:r>
                      <a:endParaRPr lang="en-US" sz="1276" dirty="0">
                        <a:latin typeface="Nunito Sans" charset="0"/>
                        <a:ea typeface="Nunito Sans" charset="0"/>
                        <a:cs typeface="Nunito Sans" charset="0"/>
                      </a:endParaRPr>
                    </a:p>
                  </a:txBody>
                  <a:tcPr marL="56702" marR="56702" marT="56702" marB="56702" anchor="t">
                    <a:lnL w="12700" cap="flat" cmpd="sng" algn="ctr">
                      <a:solidFill>
                        <a:srgbClr val="B5BCC4"/>
                      </a:solidFill>
                      <a:prstDash val="solid"/>
                      <a:round/>
                      <a:headEnd type="none" w="med" len="med"/>
                      <a:tailEnd type="none" w="med" len="med"/>
                    </a:lnL>
                    <a:lnR w="12700" cap="flat" cmpd="sng" algn="ctr">
                      <a:solidFill>
                        <a:srgbClr val="B5BCC4"/>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B5BCC4"/>
                      </a:solidFill>
                      <a:prstDash val="solid"/>
                      <a:round/>
                      <a:headEnd type="none" w="med" len="med"/>
                      <a:tailEnd type="none" w="med" len="med"/>
                    </a:lnB>
                    <a:solidFill>
                      <a:srgbClr val="E3ECF6"/>
                    </a:solidFill>
                  </a:tcPr>
                </a:tc>
              </a:tr>
              <a:tr h="379760">
                <a:tc>
                  <a:txBody>
                    <a:bodyPr/>
                    <a:lstStyle/>
                    <a:p>
                      <a:pPr indent="0" marL="0">
                        <a:lnSpc>
                          <a:spcPts val="1786"/>
                        </a:lnSpc>
                        <a:buNone/>
                      </a:pPr>
                      <a:r>
                        <a:rPr lang="en-US" sz="1276" dirty="0">
                          <a:solidFill>
                            <a:srgbClr val="14213D"/>
                          </a:solidFill>
                          <a:latin typeface="Nunito Sans" pitchFamily="34" charset="0"/>
                          <a:ea typeface="Nunito Sans" pitchFamily="34" charset="-122"/>
                          <a:cs typeface="Nunito Sans" pitchFamily="34" charset="-120"/>
                        </a:rPr>
                        <a:t>Asset clustering</a:t>
                      </a:r>
                      <a:endParaRPr lang="en-US" sz="1276" dirty="0">
                        <a:latin typeface="Nunito Sans" charset="0"/>
                        <a:ea typeface="Nunito Sans" charset="0"/>
                        <a:cs typeface="Nunito Sans" charset="0"/>
                      </a:endParaRPr>
                    </a:p>
                  </a:txBody>
                  <a:tcPr marL="56702" marR="56702" marT="56702" marB="56702" anchor="t">
                    <a:lnL w="12700" cap="flat" cmpd="sng" algn="ctr">
                      <a:solidFill>
                        <a:srgbClr val="C4C3BE"/>
                      </a:solidFill>
                      <a:prstDash val="solid"/>
                      <a:round/>
                      <a:headEnd type="none" w="med" len="med"/>
                      <a:tailEnd type="none" w="med" len="med"/>
                    </a:lnL>
                    <a:lnR w="12700" cap="flat" cmpd="sng" algn="ctr">
                      <a:solidFill>
                        <a:srgbClr val="B5BCC4"/>
                      </a:solidFill>
                      <a:prstDash val="solid"/>
                      <a:round/>
                      <a:headEnd type="none" w="med" len="med"/>
                      <a:tailEnd type="none" w="med" len="med"/>
                    </a:lnR>
                    <a:lnT w="12700" cap="flat" cmpd="sng" algn="ctr">
                      <a:solidFill>
                        <a:srgbClr val="B5BCC4"/>
                      </a:solidFill>
                      <a:prstDash val="solid"/>
                      <a:round/>
                      <a:headEnd type="none" w="med" len="med"/>
                      <a:tailEnd type="none" w="med" len="med"/>
                    </a:lnT>
                    <a:lnB w="12700" cap="flat" cmpd="sng" algn="ctr">
                      <a:solidFill>
                        <a:srgbClr val="B5BCC4"/>
                      </a:solidFill>
                      <a:prstDash val="solid"/>
                      <a:round/>
                      <a:headEnd type="none" w="med" len="med"/>
                      <a:tailEnd type="none" w="med" len="med"/>
                    </a:lnB>
                    <a:solidFill>
                      <a:srgbClr val="E3ECF6"/>
                    </a:solidFill>
                  </a:tcPr>
                </a:tc>
                <a:tc>
                  <a:txBody>
                    <a:bodyPr/>
                    <a:lstStyle/>
                    <a:p>
                      <a:pPr indent="0" marL="0">
                        <a:lnSpc>
                          <a:spcPts val="1786"/>
                        </a:lnSpc>
                        <a:buNone/>
                      </a:pPr>
                      <a:r>
                        <a:rPr lang="en-US" sz="1276" dirty="0">
                          <a:solidFill>
                            <a:srgbClr val="14213D"/>
                          </a:solidFill>
                          <a:latin typeface="Nunito Sans" pitchFamily="34" charset="0"/>
                          <a:ea typeface="Nunito Sans" pitchFamily="34" charset="-122"/>
                          <a:cs typeface="Nunito Sans" pitchFamily="34" charset="-120"/>
                        </a:rPr>
                        <a:t>Groups machines that behave alike</a:t>
                      </a:r>
                      <a:endParaRPr lang="en-US" sz="1276" dirty="0">
                        <a:latin typeface="Nunito Sans" charset="0"/>
                        <a:ea typeface="Nunito Sans" charset="0"/>
                        <a:cs typeface="Nunito Sans" charset="0"/>
                      </a:endParaRPr>
                    </a:p>
                  </a:txBody>
                  <a:tcPr marL="56702" marR="56702" marT="56702" marB="56702" anchor="t">
                    <a:lnL w="12700" cap="flat" cmpd="sng" algn="ctr">
                      <a:solidFill>
                        <a:srgbClr val="B5BCC4"/>
                      </a:solidFill>
                      <a:prstDash val="solid"/>
                      <a:round/>
                      <a:headEnd type="none" w="med" len="med"/>
                      <a:tailEnd type="none" w="med" len="med"/>
                    </a:lnL>
                    <a:lnR w="12700" cap="flat" cmpd="sng" algn="ctr">
                      <a:solidFill>
                        <a:srgbClr val="B5BCC4"/>
                      </a:solidFill>
                      <a:prstDash val="solid"/>
                      <a:round/>
                      <a:headEnd type="none" w="med" len="med"/>
                      <a:tailEnd type="none" w="med" len="med"/>
                    </a:lnR>
                    <a:lnT w="12700" cap="flat" cmpd="sng" algn="ctr">
                      <a:solidFill>
                        <a:srgbClr val="B5BCC4"/>
                      </a:solidFill>
                      <a:prstDash val="solid"/>
                      <a:round/>
                      <a:headEnd type="none" w="med" len="med"/>
                      <a:tailEnd type="none" w="med" len="med"/>
                    </a:lnT>
                    <a:lnB w="12700" cap="flat" cmpd="sng" algn="ctr">
                      <a:solidFill>
                        <a:srgbClr val="B5BCC4"/>
                      </a:solidFill>
                      <a:prstDash val="solid"/>
                      <a:round/>
                      <a:headEnd type="none" w="med" len="med"/>
                      <a:tailEnd type="none" w="med" len="med"/>
                    </a:lnB>
                    <a:solidFill>
                      <a:srgbClr val="E3ECF6"/>
                    </a:solidFill>
                  </a:tcPr>
                </a:tc>
                <a:tc>
                  <a:txBody>
                    <a:bodyPr/>
                    <a:lstStyle/>
                    <a:p>
                      <a:pPr indent="0" marL="0">
                        <a:lnSpc>
                          <a:spcPts val="1786"/>
                        </a:lnSpc>
                        <a:buNone/>
                      </a:pPr>
                      <a:r>
                        <a:rPr lang="en-US" sz="1276" dirty="0">
                          <a:solidFill>
                            <a:srgbClr val="14213D"/>
                          </a:solidFill>
                          <a:latin typeface="Nunito Sans" pitchFamily="34" charset="0"/>
                          <a:ea typeface="Nunito Sans" pitchFamily="34" charset="-122"/>
                          <a:cs typeface="Nunito Sans" pitchFamily="34" charset="-120"/>
                        </a:rPr>
                        <a:t>4 segments; one holds 44% of losses</a:t>
                      </a:r>
                      <a:endParaRPr lang="en-US" sz="1276" dirty="0">
                        <a:latin typeface="Nunito Sans" charset="0"/>
                        <a:ea typeface="Nunito Sans" charset="0"/>
                        <a:cs typeface="Nunito Sans" charset="0"/>
                      </a:endParaRPr>
                    </a:p>
                  </a:txBody>
                  <a:tcPr marL="56702" marR="56702" marT="56702" marB="56702" anchor="t">
                    <a:lnL w="12700" cap="flat" cmpd="sng" algn="ctr">
                      <a:solidFill>
                        <a:srgbClr val="B5BCC4"/>
                      </a:solidFill>
                      <a:prstDash val="solid"/>
                      <a:round/>
                      <a:headEnd type="none" w="med" len="med"/>
                      <a:tailEnd type="none" w="med" len="med"/>
                    </a:lnL>
                    <a:lnR w="12700" cap="flat" cmpd="sng" algn="ctr">
                      <a:solidFill>
                        <a:srgbClr val="B5BCC4"/>
                      </a:solidFill>
                      <a:prstDash val="solid"/>
                      <a:round/>
                      <a:headEnd type="none" w="med" len="med"/>
                      <a:tailEnd type="none" w="med" len="med"/>
                    </a:lnR>
                    <a:lnT w="12700" cap="flat" cmpd="sng" algn="ctr">
                      <a:solidFill>
                        <a:srgbClr val="B5BCC4"/>
                      </a:solidFill>
                      <a:prstDash val="solid"/>
                      <a:round/>
                      <a:headEnd type="none" w="med" len="med"/>
                      <a:tailEnd type="none" w="med" len="med"/>
                    </a:lnT>
                    <a:lnB w="12700" cap="flat" cmpd="sng" algn="ctr">
                      <a:solidFill>
                        <a:srgbClr val="B5BCC4"/>
                      </a:solidFill>
                      <a:prstDash val="solid"/>
                      <a:round/>
                      <a:headEnd type="none" w="med" len="med"/>
                      <a:tailEnd type="none" w="med" len="med"/>
                    </a:lnB>
                    <a:solidFill>
                      <a:srgbClr val="E3ECF6"/>
                    </a:solidFill>
                  </a:tcPr>
                </a:tc>
              </a:tr>
              <a:tr h="379760">
                <a:tc>
                  <a:txBody>
                    <a:bodyPr/>
                    <a:lstStyle/>
                    <a:p>
                      <a:pPr indent="0" marL="0">
                        <a:lnSpc>
                          <a:spcPts val="1786"/>
                        </a:lnSpc>
                        <a:buNone/>
                      </a:pPr>
                      <a:r>
                        <a:rPr lang="en-US" sz="1276" dirty="0">
                          <a:solidFill>
                            <a:srgbClr val="14213D"/>
                          </a:solidFill>
                          <a:latin typeface="Nunito Sans" pitchFamily="34" charset="0"/>
                          <a:ea typeface="Nunito Sans" pitchFamily="34" charset="-122"/>
                          <a:cs typeface="Nunito Sans" pitchFamily="34" charset="-120"/>
                        </a:rPr>
                        <a:t>Intervention recommendation</a:t>
                      </a:r>
                      <a:endParaRPr lang="en-US" sz="1276" dirty="0">
                        <a:latin typeface="Nunito Sans" charset="0"/>
                        <a:ea typeface="Nunito Sans" charset="0"/>
                        <a:cs typeface="Nunito Sans" charset="0"/>
                      </a:endParaRPr>
                    </a:p>
                  </a:txBody>
                  <a:tcPr marL="56702" marR="56702" marT="56702" marB="56702" anchor="t">
                    <a:lnL w="12700" cap="flat" cmpd="sng" algn="ctr">
                      <a:solidFill>
                        <a:srgbClr val="C4C3BE"/>
                      </a:solidFill>
                      <a:prstDash val="solid"/>
                      <a:round/>
                      <a:headEnd type="none" w="med" len="med"/>
                      <a:tailEnd type="none" w="med" len="med"/>
                    </a:lnL>
                    <a:lnR w="12700" cap="flat" cmpd="sng" algn="ctr">
                      <a:solidFill>
                        <a:srgbClr val="B5BCC4"/>
                      </a:solidFill>
                      <a:prstDash val="solid"/>
                      <a:round/>
                      <a:headEnd type="none" w="med" len="med"/>
                      <a:tailEnd type="none" w="med" len="med"/>
                    </a:lnR>
                    <a:lnT w="12700" cap="flat" cmpd="sng" algn="ctr">
                      <a:solidFill>
                        <a:srgbClr val="B5BCC4"/>
                      </a:solidFill>
                      <a:prstDash val="solid"/>
                      <a:round/>
                      <a:headEnd type="none" w="med" len="med"/>
                      <a:tailEnd type="none" w="med" len="med"/>
                    </a:lnT>
                    <a:lnB w="12700" cap="flat" cmpd="sng" algn="ctr">
                      <a:solidFill>
                        <a:srgbClr val="B5BCC4"/>
                      </a:solidFill>
                      <a:prstDash val="solid"/>
                      <a:round/>
                      <a:headEnd type="none" w="med" len="med"/>
                      <a:tailEnd type="none" w="med" len="med"/>
                    </a:lnB>
                    <a:solidFill>
                      <a:srgbClr val="E3ECF6"/>
                    </a:solidFill>
                  </a:tcPr>
                </a:tc>
                <a:tc>
                  <a:txBody>
                    <a:bodyPr/>
                    <a:lstStyle/>
                    <a:p>
                      <a:pPr indent="0" marL="0">
                        <a:lnSpc>
                          <a:spcPts val="1786"/>
                        </a:lnSpc>
                        <a:buNone/>
                      </a:pPr>
                      <a:r>
                        <a:rPr lang="en-US" sz="1276" dirty="0">
                          <a:solidFill>
                            <a:srgbClr val="14213D"/>
                          </a:solidFill>
                          <a:latin typeface="Nunito Sans" pitchFamily="34" charset="0"/>
                          <a:ea typeface="Nunito Sans" pitchFamily="34" charset="-122"/>
                          <a:cs typeface="Nunito Sans" pitchFamily="34" charset="-120"/>
                        </a:rPr>
                        <a:t>Ranks jobs by risk × cost × importance</a:t>
                      </a:r>
                      <a:endParaRPr lang="en-US" sz="1276" dirty="0">
                        <a:latin typeface="Nunito Sans" charset="0"/>
                        <a:ea typeface="Nunito Sans" charset="0"/>
                        <a:cs typeface="Nunito Sans" charset="0"/>
                      </a:endParaRPr>
                    </a:p>
                  </a:txBody>
                  <a:tcPr marL="56702" marR="56702" marT="56702" marB="56702" anchor="t">
                    <a:lnL w="12700" cap="flat" cmpd="sng" algn="ctr">
                      <a:solidFill>
                        <a:srgbClr val="B5BCC4"/>
                      </a:solidFill>
                      <a:prstDash val="solid"/>
                      <a:round/>
                      <a:headEnd type="none" w="med" len="med"/>
                      <a:tailEnd type="none" w="med" len="med"/>
                    </a:lnL>
                    <a:lnR w="12700" cap="flat" cmpd="sng" algn="ctr">
                      <a:solidFill>
                        <a:srgbClr val="B5BCC4"/>
                      </a:solidFill>
                      <a:prstDash val="solid"/>
                      <a:round/>
                      <a:headEnd type="none" w="med" len="med"/>
                      <a:tailEnd type="none" w="med" len="med"/>
                    </a:lnR>
                    <a:lnT w="12700" cap="flat" cmpd="sng" algn="ctr">
                      <a:solidFill>
                        <a:srgbClr val="B5BCC4"/>
                      </a:solidFill>
                      <a:prstDash val="solid"/>
                      <a:round/>
                      <a:headEnd type="none" w="med" len="med"/>
                      <a:tailEnd type="none" w="med" len="med"/>
                    </a:lnT>
                    <a:lnB w="12700" cap="flat" cmpd="sng" algn="ctr">
                      <a:solidFill>
                        <a:srgbClr val="B5BCC4"/>
                      </a:solidFill>
                      <a:prstDash val="solid"/>
                      <a:round/>
                      <a:headEnd type="none" w="med" len="med"/>
                      <a:tailEnd type="none" w="med" len="med"/>
                    </a:lnB>
                    <a:solidFill>
                      <a:srgbClr val="E3ECF6"/>
                    </a:solidFill>
                  </a:tcPr>
                </a:tc>
                <a:tc>
                  <a:txBody>
                    <a:bodyPr/>
                    <a:lstStyle/>
                    <a:p>
                      <a:pPr indent="0" marL="0">
                        <a:lnSpc>
                          <a:spcPts val="1786"/>
                        </a:lnSpc>
                        <a:buNone/>
                      </a:pPr>
                      <a:r>
                        <a:rPr lang="en-US" sz="1276" dirty="0">
                          <a:solidFill>
                            <a:srgbClr val="14213D"/>
                          </a:solidFill>
                          <a:latin typeface="Nunito Sans" pitchFamily="34" charset="0"/>
                          <a:ea typeface="Nunito Sans" pitchFamily="34" charset="-122"/>
                          <a:cs typeface="Nunito Sans" pitchFamily="34" charset="-120"/>
                        </a:rPr>
                        <a:t>Ready as a weekly work queue</a:t>
                      </a:r>
                      <a:endParaRPr lang="en-US" sz="1276" dirty="0">
                        <a:latin typeface="Nunito Sans" charset="0"/>
                        <a:ea typeface="Nunito Sans" charset="0"/>
                        <a:cs typeface="Nunito Sans" charset="0"/>
                      </a:endParaRPr>
                    </a:p>
                  </a:txBody>
                  <a:tcPr marL="56702" marR="56702" marT="56702" marB="56702" anchor="t">
                    <a:lnL w="12700" cap="flat" cmpd="sng" algn="ctr">
                      <a:solidFill>
                        <a:srgbClr val="B5BCC4"/>
                      </a:solidFill>
                      <a:prstDash val="solid"/>
                      <a:round/>
                      <a:headEnd type="none" w="med" len="med"/>
                      <a:tailEnd type="none" w="med" len="med"/>
                    </a:lnL>
                    <a:lnR w="12700" cap="flat" cmpd="sng" algn="ctr">
                      <a:solidFill>
                        <a:srgbClr val="B5BCC4"/>
                      </a:solidFill>
                      <a:prstDash val="solid"/>
                      <a:round/>
                      <a:headEnd type="none" w="med" len="med"/>
                      <a:tailEnd type="none" w="med" len="med"/>
                    </a:lnR>
                    <a:lnT w="12700" cap="flat" cmpd="sng" algn="ctr">
                      <a:solidFill>
                        <a:srgbClr val="B5BCC4"/>
                      </a:solidFill>
                      <a:prstDash val="solid"/>
                      <a:round/>
                      <a:headEnd type="none" w="med" len="med"/>
                      <a:tailEnd type="none" w="med" len="med"/>
                    </a:lnT>
                    <a:lnB w="12700" cap="flat" cmpd="sng" algn="ctr">
                      <a:solidFill>
                        <a:srgbClr val="B5BCC4"/>
                      </a:solidFill>
                      <a:prstDash val="solid"/>
                      <a:round/>
                      <a:headEnd type="none" w="med" len="med"/>
                      <a:tailEnd type="none" w="med" len="med"/>
                    </a:lnB>
                    <a:solidFill>
                      <a:srgbClr val="E3ECF6"/>
                    </a:solidFill>
                  </a:tcPr>
                </a:tc>
              </a:tr>
              <a:tr h="606574">
                <a:tc>
                  <a:txBody>
                    <a:bodyPr/>
                    <a:lstStyle/>
                    <a:p>
                      <a:pPr indent="0" marL="0">
                        <a:lnSpc>
                          <a:spcPts val="1786"/>
                        </a:lnSpc>
                        <a:buNone/>
                      </a:pPr>
                      <a:r>
                        <a:rPr lang="en-US" sz="1276" dirty="0">
                          <a:solidFill>
                            <a:srgbClr val="14213D"/>
                          </a:solidFill>
                          <a:latin typeface="Nunito Sans" pitchFamily="34" charset="0"/>
                          <a:ea typeface="Nunito Sans" pitchFamily="34" charset="-122"/>
                          <a:cs typeface="Nunito Sans" pitchFamily="34" charset="-120"/>
                        </a:rPr>
                        <a:t>Downtime and cost estimate</a:t>
                      </a:r>
                      <a:endParaRPr lang="en-US" sz="1276" dirty="0">
                        <a:latin typeface="Nunito Sans" charset="0"/>
                        <a:ea typeface="Nunito Sans" charset="0"/>
                        <a:cs typeface="Nunito Sans" charset="0"/>
                      </a:endParaRPr>
                    </a:p>
                  </a:txBody>
                  <a:tcPr marL="56702" marR="56702" marT="56702" marB="56702"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5BCC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786"/>
                        </a:lnSpc>
                        <a:buNone/>
                      </a:pPr>
                      <a:r>
                        <a:rPr lang="en-US" sz="1276" dirty="0">
                          <a:solidFill>
                            <a:srgbClr val="14213D"/>
                          </a:solidFill>
                          <a:latin typeface="Nunito Sans" pitchFamily="34" charset="0"/>
                          <a:ea typeface="Nunito Sans" pitchFamily="34" charset="-122"/>
                          <a:cs typeface="Nunito Sans" pitchFamily="34" charset="-120"/>
                        </a:rPr>
                        <a:t>Predicts hours and money lost</a:t>
                      </a:r>
                      <a:endParaRPr lang="en-US" sz="1276" dirty="0">
                        <a:latin typeface="Nunito Sans" charset="0"/>
                        <a:ea typeface="Nunito Sans" charset="0"/>
                        <a:cs typeface="Nunito Sans" charset="0"/>
                      </a:endParaRPr>
                    </a:p>
                  </a:txBody>
                  <a:tcPr marL="56702" marR="56702" marT="56702" marB="56702"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5BCC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786"/>
                        </a:lnSpc>
                        <a:buNone/>
                      </a:pPr>
                      <a:r>
                        <a:rPr lang="en-US" sz="1276" dirty="0">
                          <a:solidFill>
                            <a:srgbClr val="14213D"/>
                          </a:solidFill>
                          <a:latin typeface="Nunito Sans" pitchFamily="34" charset="0"/>
                          <a:ea typeface="Nunito Sans" pitchFamily="34" charset="-122"/>
                          <a:cs typeface="Nunito Sans" pitchFamily="34" charset="-120"/>
                        </a:rPr>
                        <a:t>Explains 74% of downtime once breakdowns are logged</a:t>
                      </a:r>
                      <a:endParaRPr lang="en-US" sz="1276" dirty="0">
                        <a:latin typeface="Nunito Sans" charset="0"/>
                        <a:ea typeface="Nunito Sans" charset="0"/>
                        <a:cs typeface="Nunito Sans" charset="0"/>
                      </a:endParaRPr>
                    </a:p>
                  </a:txBody>
                  <a:tcPr marL="56702" marR="56702" marT="56702" marB="56702"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5BCC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606574">
                <a:tc>
                  <a:txBody>
                    <a:bodyPr/>
                    <a:lstStyle/>
                    <a:p>
                      <a:pPr indent="0" marL="0">
                        <a:lnSpc>
                          <a:spcPts val="1786"/>
                        </a:lnSpc>
                        <a:buNone/>
                      </a:pPr>
                      <a:r>
                        <a:rPr lang="en-US" sz="1276" dirty="0">
                          <a:solidFill>
                            <a:srgbClr val="14213D"/>
                          </a:solidFill>
                          <a:latin typeface="Nunito Sans" pitchFamily="34" charset="0"/>
                          <a:ea typeface="Nunito Sans" pitchFamily="34" charset="-122"/>
                          <a:cs typeface="Nunito Sans" pitchFamily="34" charset="-120"/>
                        </a:rPr>
                        <a:t>Repeat-repair and overdue prediction</a:t>
                      </a:r>
                      <a:endParaRPr lang="en-US" sz="1276" dirty="0">
                        <a:latin typeface="Nunito Sans" charset="0"/>
                        <a:ea typeface="Nunito Sans" charset="0"/>
                        <a:cs typeface="Nunito Sans" charset="0"/>
                      </a:endParaRPr>
                    </a:p>
                  </a:txBody>
                  <a:tcPr marL="56702" marR="56702" marT="56702" marB="56702"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786"/>
                        </a:lnSpc>
                        <a:buNone/>
                      </a:pPr>
                      <a:r>
                        <a:rPr lang="en-US" sz="1276" dirty="0">
                          <a:solidFill>
                            <a:srgbClr val="14213D"/>
                          </a:solidFill>
                          <a:latin typeface="Nunito Sans" pitchFamily="34" charset="0"/>
                          <a:ea typeface="Nunito Sans" pitchFamily="34" charset="-122"/>
                          <a:cs typeface="Nunito Sans" pitchFamily="34" charset="-120"/>
                        </a:rPr>
                        <a:t>Warns which jobs will need a second visit or run late</a:t>
                      </a:r>
                      <a:endParaRPr lang="en-US" sz="1276" dirty="0">
                        <a:latin typeface="Nunito Sans" charset="0"/>
                        <a:ea typeface="Nunito Sans" charset="0"/>
                        <a:cs typeface="Nunito Sans" charset="0"/>
                      </a:endParaRPr>
                    </a:p>
                  </a:txBody>
                  <a:tcPr marL="56702" marR="56702" marT="56702" marB="56702"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786"/>
                        </a:lnSpc>
                        <a:buNone/>
                      </a:pPr>
                      <a:r>
                        <a:rPr lang="en-US" sz="1276" dirty="0">
                          <a:solidFill>
                            <a:srgbClr val="14213D"/>
                          </a:solidFill>
                          <a:latin typeface="Nunito Sans" pitchFamily="34" charset="0"/>
                          <a:ea typeface="Nunito Sans" pitchFamily="34" charset="-122"/>
                          <a:cs typeface="Nunito Sans" pitchFamily="34" charset="-120"/>
                        </a:rPr>
                        <a:t>Repeat: fair. Overdue: weak, a planning issue</a:t>
                      </a:r>
                      <a:endParaRPr lang="en-US" sz="1276" dirty="0">
                        <a:latin typeface="Nunito Sans" charset="0"/>
                        <a:ea typeface="Nunito Sans" charset="0"/>
                        <a:cs typeface="Nunito Sans" charset="0"/>
                      </a:endParaRPr>
                    </a:p>
                  </a:txBody>
                  <a:tcPr marL="56702" marR="56702" marT="56702" marB="56702"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79760">
                <a:tc>
                  <a:txBody>
                    <a:bodyPr/>
                    <a:lstStyle/>
                    <a:p>
                      <a:pPr indent="0" marL="0">
                        <a:lnSpc>
                          <a:spcPts val="1786"/>
                        </a:lnSpc>
                        <a:buNone/>
                      </a:pPr>
                      <a:r>
                        <a:rPr lang="en-US" sz="1276" dirty="0">
                          <a:solidFill>
                            <a:srgbClr val="14213D"/>
                          </a:solidFill>
                          <a:latin typeface="Nunito Sans" pitchFamily="34" charset="0"/>
                          <a:ea typeface="Nunito Sans" pitchFamily="34" charset="-122"/>
                          <a:cs typeface="Nunito Sans" pitchFamily="34" charset="-120"/>
                        </a:rPr>
                        <a:t>Anomaly detection</a:t>
                      </a:r>
                      <a:endParaRPr lang="en-US" sz="1276" dirty="0">
                        <a:latin typeface="Nunito Sans" charset="0"/>
                        <a:ea typeface="Nunito Sans" charset="0"/>
                        <a:cs typeface="Nunito Sans" charset="0"/>
                      </a:endParaRPr>
                    </a:p>
                  </a:txBody>
                  <a:tcPr marL="56702" marR="56702" marT="56702" marB="56702"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786"/>
                        </a:lnSpc>
                        <a:buNone/>
                      </a:pPr>
                      <a:r>
                        <a:rPr lang="en-US" sz="1276" dirty="0">
                          <a:solidFill>
                            <a:srgbClr val="14213D"/>
                          </a:solidFill>
                          <a:latin typeface="Nunito Sans" pitchFamily="34" charset="0"/>
                          <a:ea typeface="Nunito Sans" pitchFamily="34" charset="-122"/>
                          <a:cs typeface="Nunito Sans" pitchFamily="34" charset="-120"/>
                        </a:rPr>
                        <a:t>Spots unusual sensor patterns</a:t>
                      </a:r>
                      <a:endParaRPr lang="en-US" sz="1276" dirty="0">
                        <a:latin typeface="Nunito Sans" charset="0"/>
                        <a:ea typeface="Nunito Sans" charset="0"/>
                        <a:cs typeface="Nunito Sans" charset="0"/>
                      </a:endParaRPr>
                    </a:p>
                  </a:txBody>
                  <a:tcPr marL="56702" marR="56702" marT="56702" marB="56702"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786"/>
                        </a:lnSpc>
                        <a:buNone/>
                      </a:pPr>
                      <a:r>
                        <a:rPr lang="en-US" sz="1276" dirty="0">
                          <a:solidFill>
                            <a:srgbClr val="14213D"/>
                          </a:solidFill>
                          <a:latin typeface="Nunito Sans" pitchFamily="34" charset="0"/>
                          <a:ea typeface="Nunito Sans" pitchFamily="34" charset="-122"/>
                          <a:cs typeface="Nunito Sans" pitchFamily="34" charset="-120"/>
                        </a:rPr>
                        <a:t>Useful only when condition and age are added</a:t>
                      </a:r>
                      <a:endParaRPr lang="en-US" sz="1276" dirty="0">
                        <a:latin typeface="Nunito Sans" charset="0"/>
                        <a:ea typeface="Nunito Sans" charset="0"/>
                        <a:cs typeface="Nunito Sans" charset="0"/>
                      </a:endParaRPr>
                    </a:p>
                  </a:txBody>
                  <a:tcPr marL="56702" marR="56702" marT="56702" marB="56702"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606574">
                <a:tc>
                  <a:txBody>
                    <a:bodyPr/>
                    <a:lstStyle/>
                    <a:p>
                      <a:pPr indent="0" marL="0">
                        <a:lnSpc>
                          <a:spcPts val="1786"/>
                        </a:lnSpc>
                        <a:buNone/>
                      </a:pPr>
                      <a:r>
                        <a:rPr lang="en-US" sz="1276" dirty="0">
                          <a:solidFill>
                            <a:srgbClr val="14213D"/>
                          </a:solidFill>
                          <a:latin typeface="Nunito Sans" pitchFamily="34" charset="0"/>
                          <a:ea typeface="Nunito Sans" pitchFamily="34" charset="-122"/>
                          <a:cs typeface="Nunito Sans" pitchFamily="34" charset="-120"/>
                        </a:rPr>
                        <a:t>Remaining-life and trend forecasts</a:t>
                      </a:r>
                      <a:endParaRPr lang="en-US" sz="1276" dirty="0">
                        <a:latin typeface="Nunito Sans" charset="0"/>
                        <a:ea typeface="Nunito Sans" charset="0"/>
                        <a:cs typeface="Nunito Sans" charset="0"/>
                      </a:endParaRPr>
                    </a:p>
                  </a:txBody>
                  <a:tcPr marL="56702" marR="56702" marT="56702" marB="56702"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786"/>
                        </a:lnSpc>
                        <a:buNone/>
                      </a:pPr>
                      <a:r>
                        <a:rPr lang="en-US" sz="1276" dirty="0">
                          <a:solidFill>
                            <a:srgbClr val="14213D"/>
                          </a:solidFill>
                          <a:latin typeface="Nunito Sans" pitchFamily="34" charset="0"/>
                          <a:ea typeface="Nunito Sans" pitchFamily="34" charset="-122"/>
                          <a:cs typeface="Nunito Sans" pitchFamily="34" charset="-120"/>
                        </a:rPr>
                        <a:t>Estimates time to failure; forecasts health and workload</a:t>
                      </a:r>
                      <a:endParaRPr lang="en-US" sz="1276" dirty="0">
                        <a:latin typeface="Nunito Sans" charset="0"/>
                        <a:ea typeface="Nunito Sans" charset="0"/>
                        <a:cs typeface="Nunito Sans" charset="0"/>
                      </a:endParaRPr>
                    </a:p>
                  </a:txBody>
                  <a:tcPr marL="56702" marR="56702" marT="56702" marB="56702"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786"/>
                        </a:lnSpc>
                        <a:buNone/>
                      </a:pPr>
                      <a:r>
                        <a:rPr lang="en-US" sz="1276" dirty="0">
                          <a:solidFill>
                            <a:srgbClr val="14213D"/>
                          </a:solidFill>
                          <a:latin typeface="Nunito Sans" pitchFamily="34" charset="0"/>
                          <a:ea typeface="Nunito Sans" pitchFamily="34" charset="-122"/>
                          <a:cs typeface="Nunito Sans" pitchFamily="34" charset="-120"/>
                        </a:rPr>
                        <a:t>Needs a permanent asset ID; 2024–26 trend is flat</a:t>
                      </a:r>
                      <a:endParaRPr lang="en-US" sz="1276" dirty="0">
                        <a:latin typeface="Nunito Sans" charset="0"/>
                        <a:ea typeface="Nunito Sans" charset="0"/>
                        <a:cs typeface="Nunito Sans" charset="0"/>
                      </a:endParaRPr>
                    </a:p>
                  </a:txBody>
                  <a:tcPr marL="56702" marR="56702" marT="56702" marB="56702"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C0631A"/>
                </a:solidFill>
                <a:latin typeface="Nunito Sans" pitchFamily="34" charset="0"/>
                <a:ea typeface="Nunito Sans" pitchFamily="34" charset="-122"/>
                <a:cs typeface="Nunito Sans" pitchFamily="34" charset="-120"/>
              </a:rPr>
              <a:t>POWER BI DASHBOARDS</a:t>
            </a:r>
            <a:endParaRPr lang="en-US" sz="1400" dirty="0"/>
          </a:p>
        </p:txBody>
      </p:sp>
      <p:sp>
        <p:nvSpPr>
          <p:cNvPr id="3" name="Text 1"/>
          <p:cNvSpPr/>
          <p:nvPr>
            <p:ph type="title"/>
          </p:nvPr>
        </p:nvSpPr>
        <p:spPr>
          <a:xfrm>
            <a:off x="812800" y="129029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4213D"/>
                </a:solidFill>
                <a:latin typeface="Domine" pitchFamily="18" charset="0"/>
                <a:ea typeface="Domine" pitchFamily="18" charset="-122"/>
                <a:cs typeface="Domine" pitchFamily="18" charset="-120"/>
              </a:rPr>
              <a:t>Five dashboards, one for each decision-maker</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40520"/>
          <a:ext cx="10553700" cy="3080445"/>
        </p:xfrm>
        <a:graphic>
          <a:graphicData uri="http://schemas.openxmlformats.org/drawingml/2006/table">
            <a:tbl>
              <a:tblPr/>
              <a:tblGrid>
                <a:gridCol w="2532888"/>
                <a:gridCol w="1688592"/>
                <a:gridCol w="3166110"/>
                <a:gridCol w="3166110"/>
              </a:tblGrid>
              <a:tr h="359321">
                <a:tc>
                  <a:txBody>
                    <a:bodyPr/>
                    <a:lstStyle/>
                    <a:p>
                      <a:pPr indent="0" marL="0">
                        <a:lnSpc>
                          <a:spcPts val="1820"/>
                        </a:lnSpc>
                        <a:buNone/>
                      </a:pPr>
                      <a:r>
                        <a:rPr lang="en-US" sz="1300" b="1" dirty="0">
                          <a:solidFill>
                            <a:srgbClr val="14213D"/>
                          </a:solidFill>
                          <a:latin typeface="Nunito Sans" pitchFamily="34" charset="0"/>
                          <a:ea typeface="Nunito Sans" pitchFamily="34" charset="-122"/>
                          <a:cs typeface="Nunito Sans" pitchFamily="34" charset="-120"/>
                        </a:rPr>
                        <a:t>Dashboard</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indent="0" marL="0">
                        <a:lnSpc>
                          <a:spcPts val="1820"/>
                        </a:lnSpc>
                        <a:buNone/>
                      </a:pPr>
                      <a:r>
                        <a:rPr lang="en-US" sz="1300" b="1" dirty="0">
                          <a:solidFill>
                            <a:srgbClr val="14213D"/>
                          </a:solidFill>
                          <a:latin typeface="Nunito Sans" pitchFamily="34" charset="0"/>
                          <a:ea typeface="Nunito Sans" pitchFamily="34" charset="-122"/>
                          <a:cs typeface="Nunito Sans" pitchFamily="34" charset="-120"/>
                        </a:rPr>
                        <a:t>For</a:t>
                      </a:r>
                      <a:endParaRPr lang="en-US" sz="1300" dirty="0">
                        <a:latin typeface="Nunito Sans" charset="0"/>
                        <a:ea typeface="Nunito Sans" charset="0"/>
                        <a:cs typeface="Nunito Sans" charset="0"/>
                      </a:endParaRPr>
                    </a:p>
                  </a:txBody>
                  <a:tcPr marL="57785" marR="57785" marT="57785" marB="57785" anchor="t">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indent="0" marL="0">
                        <a:lnSpc>
                          <a:spcPts val="1820"/>
                        </a:lnSpc>
                        <a:buNone/>
                      </a:pPr>
                      <a:r>
                        <a:rPr lang="en-US" sz="1300" b="1" dirty="0">
                          <a:solidFill>
                            <a:srgbClr val="14213D"/>
                          </a:solidFill>
                          <a:latin typeface="Nunito Sans" pitchFamily="34" charset="0"/>
                          <a:ea typeface="Nunito Sans" pitchFamily="34" charset="-122"/>
                          <a:cs typeface="Nunito Sans" pitchFamily="34" charset="-120"/>
                        </a:rPr>
                        <a:t>Key measures</a:t>
                      </a:r>
                      <a:endParaRPr lang="en-US" sz="1300" dirty="0">
                        <a:latin typeface="Nunito Sans" charset="0"/>
                        <a:ea typeface="Nunito Sans" charset="0"/>
                        <a:cs typeface="Nunito Sans" charset="0"/>
                      </a:endParaRPr>
                    </a:p>
                  </a:txBody>
                  <a:tcPr marL="57785" marR="57785" marT="57785" marB="57785" anchor="t">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indent="0" marL="0">
                        <a:lnSpc>
                          <a:spcPts val="1820"/>
                        </a:lnSpc>
                        <a:buNone/>
                      </a:pPr>
                      <a:r>
                        <a:rPr lang="en-US" sz="1300" b="1" dirty="0">
                          <a:solidFill>
                            <a:srgbClr val="14213D"/>
                          </a:solidFill>
                          <a:latin typeface="Nunito Sans" pitchFamily="34" charset="0"/>
                          <a:ea typeface="Nunito Sans" pitchFamily="34" charset="-122"/>
                          <a:cs typeface="Nunito Sans" pitchFamily="34" charset="-120"/>
                        </a:rPr>
                        <a:t>Answers</a:t>
                      </a:r>
                      <a:endParaRPr lang="en-US" sz="1300" dirty="0">
                        <a:latin typeface="Nunito Sans" charset="0"/>
                        <a:ea typeface="Nunito Sans" charset="0"/>
                        <a:cs typeface="Nunito Sans" charset="0"/>
                      </a:endParaRPr>
                    </a:p>
                  </a:txBody>
                  <a:tcPr marL="57785" marR="57785" marT="57785" marB="57785" anchor="t">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r>
              <a:tr h="359321">
                <a:tc>
                  <a:txBody>
                    <a:bodyPr/>
                    <a:lstStyle/>
                    <a:p>
                      <a:pPr indent="0" marL="0">
                        <a:lnSpc>
                          <a:spcPts val="1820"/>
                        </a:lnSpc>
                        <a:buNone/>
                      </a:pPr>
                      <a:r>
                        <a:rPr lang="en-US" sz="1300" dirty="0">
                          <a:solidFill>
                            <a:srgbClr val="14213D"/>
                          </a:solidFill>
                          <a:latin typeface="Nunito Sans" pitchFamily="34" charset="0"/>
                          <a:ea typeface="Nunito Sans" pitchFamily="34" charset="-122"/>
                          <a:cs typeface="Nunito Sans" pitchFamily="34" charset="-120"/>
                        </a:rPr>
                        <a:t>1. Fleet health</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Nunito Sans" pitchFamily="34" charset="0"/>
                          <a:ea typeface="Nunito Sans" pitchFamily="34" charset="-122"/>
                          <a:cs typeface="Nunito Sans" pitchFamily="34" charset="-120"/>
                        </a:rPr>
                        <a:t>Executives</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Nunito Sans" pitchFamily="34" charset="0"/>
                          <a:ea typeface="Nunito Sans" pitchFamily="34" charset="-122"/>
                          <a:cs typeface="Nunito Sans" pitchFamily="34" charset="-120"/>
                        </a:rPr>
                        <a:t>Availability, health, risk, utilisation</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Nunito Sans" pitchFamily="34" charset="0"/>
                          <a:ea typeface="Nunito Sans" pitchFamily="34" charset="-122"/>
                          <a:cs typeface="Nunito Sans" pitchFamily="34" charset="-120"/>
                        </a:rPr>
                        <a:t>Where is the fleet weakest?</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590451">
                <a:tc>
                  <a:txBody>
                    <a:bodyPr/>
                    <a:lstStyle/>
                    <a:p>
                      <a:pPr indent="0" marL="0">
                        <a:lnSpc>
                          <a:spcPts val="1820"/>
                        </a:lnSpc>
                        <a:buNone/>
                      </a:pPr>
                      <a:r>
                        <a:rPr lang="en-US" sz="1300" dirty="0">
                          <a:solidFill>
                            <a:srgbClr val="14213D"/>
                          </a:solidFill>
                          <a:latin typeface="Nunito Sans" pitchFamily="34" charset="0"/>
                          <a:ea typeface="Nunito Sans" pitchFamily="34" charset="-122"/>
                          <a:cs typeface="Nunito Sans" pitchFamily="34" charset="-120"/>
                        </a:rPr>
                        <a:t>2. Reliability and failure</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Nunito Sans" pitchFamily="34" charset="0"/>
                          <a:ea typeface="Nunito Sans" pitchFamily="34" charset="-122"/>
                          <a:cs typeface="Nunito Sans" pitchFamily="34" charset="-120"/>
                        </a:rPr>
                        <a:t>Reliability team</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Nunito Sans" pitchFamily="34" charset="0"/>
                          <a:ea typeface="Nunito Sans" pitchFamily="34" charset="-122"/>
                          <a:cs typeface="Nunito Sans" pitchFamily="34" charset="-120"/>
                        </a:rPr>
                        <a:t>Time between breakdowns, repair time, downtime</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Nunito Sans" pitchFamily="34" charset="0"/>
                          <a:ea typeface="Nunito Sans" pitchFamily="34" charset="-122"/>
                          <a:cs typeface="Nunito Sans" pitchFamily="34" charset="-120"/>
                        </a:rPr>
                        <a:t>What fails, where and why?</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590451">
                <a:tc>
                  <a:txBody>
                    <a:bodyPr/>
                    <a:lstStyle/>
                    <a:p>
                      <a:pPr indent="0" marL="0">
                        <a:lnSpc>
                          <a:spcPts val="1820"/>
                        </a:lnSpc>
                        <a:buNone/>
                      </a:pPr>
                      <a:r>
                        <a:rPr lang="en-US" sz="1300" dirty="0">
                          <a:solidFill>
                            <a:srgbClr val="14213D"/>
                          </a:solidFill>
                          <a:latin typeface="Nunito Sans" pitchFamily="34" charset="0"/>
                          <a:ea typeface="Nunito Sans" pitchFamily="34" charset="-122"/>
                          <a:cs typeface="Nunito Sans" pitchFamily="34" charset="-120"/>
                        </a:rPr>
                        <a:t>3. Work-order performance</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Nunito Sans" pitchFamily="34" charset="0"/>
                          <a:ea typeface="Nunito Sans" pitchFamily="34" charset="-122"/>
                          <a:cs typeface="Nunito Sans" pitchFamily="34" charset="-120"/>
                        </a:rPr>
                        <a:t>Maintenance</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Nunito Sans" pitchFamily="34" charset="0"/>
                          <a:ea typeface="Nunito Sans" pitchFamily="34" charset="-122"/>
                          <a:cs typeface="Nunito Sans" pitchFamily="34" charset="-120"/>
                        </a:rPr>
                        <a:t>Backlog, overdue, fixed first time, deadlines</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Nunito Sans" pitchFamily="34" charset="0"/>
                          <a:ea typeface="Nunito Sans" pitchFamily="34" charset="-122"/>
                          <a:cs typeface="Nunito Sans" pitchFamily="34" charset="-120"/>
                        </a:rPr>
                        <a:t>Are we doing the right work on time?</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590451">
                <a:tc>
                  <a:txBody>
                    <a:bodyPr/>
                    <a:lstStyle/>
                    <a:p>
                      <a:pPr indent="0" marL="0">
                        <a:lnSpc>
                          <a:spcPts val="1820"/>
                        </a:lnSpc>
                        <a:buNone/>
                      </a:pPr>
                      <a:r>
                        <a:rPr lang="en-US" sz="1300" dirty="0">
                          <a:solidFill>
                            <a:srgbClr val="14213D"/>
                          </a:solidFill>
                          <a:latin typeface="Nunito Sans" pitchFamily="34" charset="0"/>
                          <a:ea typeface="Nunito Sans" pitchFamily="34" charset="-122"/>
                          <a:cs typeface="Nunito Sans" pitchFamily="34" charset="-120"/>
                        </a:rPr>
                        <a:t>4. Cost and lost output</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Nunito Sans" pitchFamily="34" charset="0"/>
                          <a:ea typeface="Nunito Sans" pitchFamily="34" charset="-122"/>
                          <a:cs typeface="Nunito Sans" pitchFamily="34" charset="-120"/>
                        </a:rPr>
                        <a:t>Finance and operations</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Nunito Sans" pitchFamily="34" charset="0"/>
                          <a:ea typeface="Nunito Sans" pitchFamily="34" charset="-122"/>
                          <a:cs typeface="Nunito Sans" pitchFamily="34" charset="-120"/>
                        </a:rPr>
                        <a:t>Maintenance cost, losses, stockouts, lead time</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Nunito Sans" pitchFamily="34" charset="0"/>
                          <a:ea typeface="Nunito Sans" pitchFamily="34" charset="-122"/>
                          <a:cs typeface="Nunito Sans" pitchFamily="34" charset="-120"/>
                        </a:rPr>
                        <a:t>Where does the money go?</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590451">
                <a:tc>
                  <a:txBody>
                    <a:bodyPr/>
                    <a:lstStyle/>
                    <a:p>
                      <a:pPr indent="0" marL="0">
                        <a:lnSpc>
                          <a:spcPts val="1820"/>
                        </a:lnSpc>
                        <a:buNone/>
                      </a:pPr>
                      <a:r>
                        <a:rPr lang="en-US" sz="1300" dirty="0">
                          <a:solidFill>
                            <a:srgbClr val="14213D"/>
                          </a:solidFill>
                          <a:latin typeface="Nunito Sans" pitchFamily="34" charset="0"/>
                          <a:ea typeface="Nunito Sans" pitchFamily="34" charset="-122"/>
                          <a:cs typeface="Nunito Sans" pitchFamily="34" charset="-120"/>
                        </a:rPr>
                        <a:t>5. Predictive risk</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Nunito Sans" pitchFamily="34" charset="0"/>
                          <a:ea typeface="Nunito Sans" pitchFamily="34" charset="-122"/>
                          <a:cs typeface="Nunito Sans" pitchFamily="34" charset="-120"/>
                        </a:rPr>
                        <a:t>Asset and risk leaders</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Nunito Sans" pitchFamily="34" charset="0"/>
                          <a:ea typeface="Nunito Sans" pitchFamily="34" charset="-122"/>
                          <a:cs typeface="Nunito Sans" pitchFamily="34" charset="-120"/>
                        </a:rPr>
                        <a:t>Failure chance, priority score, health</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Nunito Sans" pitchFamily="34" charset="0"/>
                          <a:ea typeface="Nunito Sans" pitchFamily="34" charset="-122"/>
                          <a:cs typeface="Nunito Sans" pitchFamily="34" charset="-120"/>
                        </a:rPr>
                        <a:t>What should we fix next?</a:t>
                      </a:r>
                      <a:endParaRPr lang="en-US" sz="1300" dirty="0">
                        <a:latin typeface="Nunito Sans" charset="0"/>
                        <a:ea typeface="Nunito Sans" charset="0"/>
                        <a:cs typeface="Nunito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bl>
          </a:graphicData>
        </a:graphic>
      </p:graphicFrame>
      <p:sp>
        <p:nvSpPr>
          <p:cNvPr id="5" name="Text 2"/>
          <p:cNvSpPr/>
          <p:nvPr/>
        </p:nvSpPr>
        <p:spPr>
          <a:xfrm>
            <a:off x="812800" y="5249565"/>
            <a:ext cx="10883392" cy="28317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14213D"/>
                </a:solidFill>
                <a:latin typeface="Nunito Sans" pitchFamily="34" charset="0"/>
                <a:ea typeface="Nunito Sans" pitchFamily="34" charset="-122"/>
                <a:cs typeface="Nunito Sans" pitchFamily="34" charset="-120"/>
              </a:rPr>
              <a:t>All five share filters for date, equipment type, site, importance, strategy, team and risk, and every total ties back to the dataset.</a:t>
            </a:r>
            <a:endParaRPr lang="en-US" sz="1400" dirty="0"/>
          </a:p>
        </p:txBody>
      </p:sp>
      <p:sp>
        <p:nvSpPr>
          <p:cNvPr id="6"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unito Sans" pitchFamily="34" charset="0"/>
                <a:ea typeface="Nunito Sans" pitchFamily="34" charset="-122"/>
                <a:cs typeface="Nunito Sans" pitchFamily="34" charset="-120"/>
              </a:rPr>
              <a:t>Asset key for Power BI: Asset_ID &amp; "-" &amp; Asset_Class (900 unique keys; see appendix)</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F0A35E"/>
                </a:solidFill>
                <a:latin typeface="Nunito Sans" pitchFamily="34" charset="0"/>
                <a:ea typeface="Nunito Sans" pitchFamily="34" charset="-122"/>
                <a:cs typeface="Nunito Sans" pitchFamily="34" charset="-120"/>
              </a:rPr>
              <a:t>CONCLUSION</a:t>
            </a:r>
            <a:endParaRPr lang="en-US" sz="1400" dirty="0"/>
          </a:p>
        </p:txBody>
      </p:sp>
      <p:sp>
        <p:nvSpPr>
          <p:cNvPr id="3" name="Text 1"/>
          <p:cNvSpPr/>
          <p:nvPr>
            <p:ph type="title"/>
          </p:nvPr>
        </p:nvSpPr>
        <p:spPr>
          <a:xfrm>
            <a:off x="812800" y="1264890"/>
            <a:ext cx="9810750" cy="160268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F6F4EE"/>
                </a:solidFill>
                <a:latin typeface="Domine" pitchFamily="18" charset="0"/>
                <a:ea typeface="Domine" pitchFamily="18" charset="-122"/>
                <a:cs typeface="Domine" pitchFamily="18" charset="-120"/>
              </a:rPr>
              <a:t>Predictions only create value when they become timely, funded and accountable work</a:t>
            </a:r>
            <a:endParaRPr lang="en-US" sz="3600" dirty="0"/>
          </a:p>
        </p:txBody>
      </p:sp>
      <p:sp>
        <p:nvSpPr>
          <p:cNvPr id="4" name="Text 2"/>
          <p:cNvSpPr/>
          <p:nvPr/>
        </p:nvSpPr>
        <p:spPr>
          <a:xfrm>
            <a:off x="812800" y="3045371"/>
            <a:ext cx="9156700" cy="61466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C9D3E3"/>
                </a:solidFill>
                <a:latin typeface="Nunito Sans" pitchFamily="34" charset="0"/>
                <a:ea typeface="Nunito Sans" pitchFamily="34" charset="-122"/>
                <a:cs typeface="Nunito Sans" pitchFamily="34" charset="-120"/>
              </a:rPr>
              <a:t>Every AI recommendation is reviewed and approved by a person, tested on data it has not seen, explained in plain reasons and monitored over time.</a:t>
            </a:r>
            <a:endParaRPr lang="en-US" sz="1600" dirty="0"/>
          </a:p>
        </p:txBody>
      </p:sp>
      <p:sp>
        <p:nvSpPr>
          <p:cNvPr id="5" name="Text 3"/>
          <p:cNvSpPr/>
          <p:nvPr/>
        </p:nvSpPr>
        <p:spPr>
          <a:xfrm>
            <a:off x="812800" y="489714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F0A35E"/>
                </a:solidFill>
                <a:latin typeface="Nunito Sans" pitchFamily="34" charset="0"/>
                <a:ea typeface="Nunito Sans" pitchFamily="34" charset="-122"/>
                <a:cs typeface="Nunito Sans" pitchFamily="34" charset="-120"/>
              </a:rPr>
              <a:t>GROUP 9226 · TEAM 3</a:t>
            </a:r>
            <a:endParaRPr lang="en-US" sz="1300" dirty="0"/>
          </a:p>
        </p:txBody>
      </p:sp>
      <p:sp>
        <p:nvSpPr>
          <p:cNvPr id="6" name="Text 4"/>
          <p:cNvSpPr/>
          <p:nvPr/>
        </p:nvSpPr>
        <p:spPr>
          <a:xfrm>
            <a:off x="812800" y="5204470"/>
            <a:ext cx="10883392"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F6F4EE"/>
                </a:solidFill>
                <a:latin typeface="Nunito Sans" pitchFamily="34" charset="0"/>
                <a:ea typeface="Nunito Sans" pitchFamily="34" charset="-122"/>
                <a:cs typeface="Nunito Sans" pitchFamily="34" charset="-120"/>
              </a:rPr>
              <a:t>Ahmed Fawzy Mohamed Rashed · Ahmed Abd Elhakam Abd Elfattaah Zaian · Khaled Abdelnasser Morsi Amer · Malak Philippe Sadek Reiad · Ali Elraey</a:t>
            </a:r>
            <a:endParaRPr lang="en-US" sz="1400" dirty="0"/>
          </a:p>
        </p:txBody>
      </p:sp>
      <p:sp>
        <p:nvSpPr>
          <p:cNvPr id="7" name="Text 5"/>
          <p:cNvSpPr/>
          <p:nvPr/>
        </p:nvSpPr>
        <p:spPr>
          <a:xfrm>
            <a:off x="812800" y="581407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3E3"/>
                </a:solidFill>
                <a:latin typeface="Nunito Sans" pitchFamily="34" charset="0"/>
                <a:ea typeface="Nunito Sans" pitchFamily="34" charset="-122"/>
                <a:cs typeface="Nunito Sans" pitchFamily="34" charset="-120"/>
              </a:rPr>
              <a:t>Data Analytics for AI Business · Graduate School of Business, Arab Academy for Science, Technology and Maritime Transport</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EDEAE1"/>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4A5568"/>
                </a:solidFill>
                <a:latin typeface="Nunito Sans" pitchFamily="34" charset="0"/>
                <a:ea typeface="Nunito Sans" pitchFamily="34" charset="-122"/>
                <a:cs typeface="Nunito Sans" pitchFamily="34" charset="-120"/>
              </a:rPr>
              <a:t>APPENDIX · DATA HOUSEKEEPING</a:t>
            </a:r>
            <a:endParaRPr lang="en-US" sz="1400" dirty="0"/>
          </a:p>
        </p:txBody>
      </p:sp>
      <p:sp>
        <p:nvSpPr>
          <p:cNvPr id="3" name="Text 1"/>
          <p:cNvSpPr/>
          <p:nvPr>
            <p:ph type="title"/>
          </p:nvPr>
        </p:nvSpPr>
        <p:spPr>
          <a:xfrm>
            <a:off x="812800" y="1341090"/>
            <a:ext cx="10883392" cy="90170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4213D"/>
                </a:solidFill>
                <a:latin typeface="Domine" pitchFamily="18" charset="0"/>
                <a:ea typeface="Domine" pitchFamily="18" charset="-122"/>
                <a:cs typeface="Domine" pitchFamily="18" charset="-120"/>
              </a:rPr>
              <a:t>Three data points we handled before building the dashboards</a:t>
            </a:r>
            <a:endParaRPr lang="en-US" sz="3000" dirty="0"/>
          </a:p>
        </p:txBody>
      </p:sp>
      <p:sp>
        <p:nvSpPr>
          <p:cNvPr id="4" name="Shape 2"/>
          <p:cNvSpPr/>
          <p:nvPr/>
        </p:nvSpPr>
        <p:spPr>
          <a:xfrm>
            <a:off x="812800" y="2496790"/>
            <a:ext cx="10566400" cy="1206500"/>
          </a:xfrm>
          <a:prstGeom prst="roundRect">
            <a:avLst>
              <a:gd name="adj" fmla="val 8421"/>
            </a:avLst>
          </a:prstGeom>
          <a:solidFill>
            <a:srgbClr val="F6F4EE"/>
          </a:solidFill>
          <a:ln/>
        </p:spPr>
      </p:sp>
      <p:sp>
        <p:nvSpPr>
          <p:cNvPr id="5" name="Text 3"/>
          <p:cNvSpPr/>
          <p:nvPr/>
        </p:nvSpPr>
        <p:spPr>
          <a:xfrm>
            <a:off x="1092200" y="2699990"/>
            <a:ext cx="558800" cy="52323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C0631A"/>
                </a:solidFill>
                <a:latin typeface="Domine" pitchFamily="18" charset="0"/>
                <a:ea typeface="Domine" pitchFamily="18" charset="-122"/>
                <a:cs typeface="Domine" pitchFamily="18" charset="-120"/>
              </a:rPr>
              <a:t>1</a:t>
            </a:r>
            <a:endParaRPr lang="en-US" sz="2800" dirty="0"/>
          </a:p>
        </p:txBody>
      </p:sp>
      <p:sp>
        <p:nvSpPr>
          <p:cNvPr id="6" name="Text 4"/>
          <p:cNvSpPr/>
          <p:nvPr/>
        </p:nvSpPr>
        <p:spPr>
          <a:xfrm>
            <a:off x="1803400" y="2699990"/>
            <a:ext cx="9575292" cy="8255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Nunito Sans" pitchFamily="34" charset="0"/>
                <a:ea typeface="Nunito Sans" pitchFamily="34" charset="-122"/>
                <a:cs typeface="Nunito Sans" pitchFamily="34" charset="-120"/>
              </a:rPr>
              <a:t>Asset IDs repeat across equipment types,</a:t>
            </a:r>
            <a:r>
              <a:rPr lang="en-US" sz="1500" dirty="0">
                <a:solidFill>
                  <a:srgbClr val="14213D"/>
                </a:solidFill>
                <a:latin typeface="Nunito Sans" pitchFamily="34" charset="0"/>
                <a:ea typeface="Nunito Sans" pitchFamily="34" charset="-122"/>
                <a:cs typeface="Nunito Sans" pitchFamily="34" charset="-120"/>
              </a:rPr>
              <a:t> so we created a combined key: </a:t>
            </a:r>
            <a:r>
              <a:rPr lang="en-US" sz="1500" b="1" dirty="0">
                <a:solidFill>
                  <a:srgbClr val="14213D"/>
                </a:solidFill>
                <a:latin typeface="Nunito Sans" pitchFamily="34" charset="0"/>
                <a:ea typeface="Nunito Sans" pitchFamily="34" charset="-122"/>
                <a:cs typeface="Nunito Sans" pitchFamily="34" charset="-120"/>
              </a:rPr>
              <a:t>Asset_ID + “-” + Asset_Class</a:t>
            </a:r>
            <a:r>
              <a:rPr lang="en-US" sz="1500" dirty="0">
                <a:solidFill>
                  <a:srgbClr val="14213D"/>
                </a:solidFill>
                <a:latin typeface="Nunito Sans" pitchFamily="34" charset="0"/>
                <a:ea typeface="Nunito Sans" pitchFamily="34" charset="-122"/>
                <a:cs typeface="Nunito Sans" pitchFamily="34" charset="-120"/>
              </a:rPr>
              <a:t> (for example AST-001-Industrial Pump). This gives 900 unique keys for the dashboards. A real system would use a permanent asset-register ID to track each machine’s full life.</a:t>
            </a:r>
            <a:endParaRPr lang="en-US" sz="1500" dirty="0"/>
          </a:p>
        </p:txBody>
      </p:sp>
      <p:sp>
        <p:nvSpPr>
          <p:cNvPr id="7" name="Shape 5"/>
          <p:cNvSpPr/>
          <p:nvPr/>
        </p:nvSpPr>
        <p:spPr>
          <a:xfrm>
            <a:off x="812800" y="3855690"/>
            <a:ext cx="10566400" cy="939800"/>
          </a:xfrm>
          <a:prstGeom prst="roundRect">
            <a:avLst>
              <a:gd name="adj" fmla="val 10811"/>
            </a:avLst>
          </a:prstGeom>
          <a:solidFill>
            <a:srgbClr val="F6F4EE"/>
          </a:solidFill>
          <a:ln/>
        </p:spPr>
      </p:sp>
      <p:sp>
        <p:nvSpPr>
          <p:cNvPr id="8" name="Text 6"/>
          <p:cNvSpPr/>
          <p:nvPr/>
        </p:nvSpPr>
        <p:spPr>
          <a:xfrm>
            <a:off x="1092200" y="4058890"/>
            <a:ext cx="558800" cy="52323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C0631A"/>
                </a:solidFill>
                <a:latin typeface="Domine" pitchFamily="18" charset="0"/>
                <a:ea typeface="Domine" pitchFamily="18" charset="-122"/>
                <a:cs typeface="Domine" pitchFamily="18" charset="-120"/>
              </a:rPr>
              <a:t>2</a:t>
            </a:r>
            <a:endParaRPr lang="en-US" sz="2800" dirty="0"/>
          </a:p>
        </p:txBody>
      </p:sp>
      <p:sp>
        <p:nvSpPr>
          <p:cNvPr id="9" name="Text 7"/>
          <p:cNvSpPr/>
          <p:nvPr/>
        </p:nvSpPr>
        <p:spPr>
          <a:xfrm>
            <a:off x="1803400" y="4058890"/>
            <a:ext cx="9575292"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Nunito Sans" pitchFamily="34" charset="0"/>
                <a:ea typeface="Nunito Sans" pitchFamily="34" charset="-122"/>
                <a:cs typeface="Nunito Sans" pitchFamily="34" charset="-120"/>
              </a:rPr>
              <a:t>The health score leaves out failure risk and backlog,</a:t>
            </a:r>
            <a:r>
              <a:rPr lang="en-US" sz="1500" dirty="0">
                <a:solidFill>
                  <a:srgbClr val="14213D"/>
                </a:solidFill>
                <a:latin typeface="Nunito Sans" pitchFamily="34" charset="0"/>
                <a:ea typeface="Nunito Sans" pitchFamily="34" charset="-122"/>
                <a:cs typeface="Nunito Sans" pitchFamily="34" charset="-120"/>
              </a:rPr>
              <a:t> and penalises machines that only had routine service. We recommend re-weighting it.</a:t>
            </a:r>
            <a:endParaRPr lang="en-US" sz="1500" dirty="0"/>
          </a:p>
        </p:txBody>
      </p:sp>
      <p:sp>
        <p:nvSpPr>
          <p:cNvPr id="10" name="Shape 8"/>
          <p:cNvSpPr/>
          <p:nvPr/>
        </p:nvSpPr>
        <p:spPr>
          <a:xfrm>
            <a:off x="812800" y="4947890"/>
            <a:ext cx="10566400" cy="904230"/>
          </a:xfrm>
          <a:prstGeom prst="roundRect">
            <a:avLst>
              <a:gd name="adj" fmla="val 11236"/>
            </a:avLst>
          </a:prstGeom>
          <a:solidFill>
            <a:srgbClr val="F6F4EE"/>
          </a:solidFill>
          <a:ln/>
        </p:spPr>
      </p:sp>
      <p:sp>
        <p:nvSpPr>
          <p:cNvPr id="11" name="Text 9"/>
          <p:cNvSpPr/>
          <p:nvPr/>
        </p:nvSpPr>
        <p:spPr>
          <a:xfrm>
            <a:off x="1092200" y="5151090"/>
            <a:ext cx="558800" cy="52323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C0631A"/>
                </a:solidFill>
                <a:latin typeface="Domine" pitchFamily="18" charset="0"/>
                <a:ea typeface="Domine" pitchFamily="18" charset="-122"/>
                <a:cs typeface="Domine" pitchFamily="18" charset="-120"/>
              </a:rPr>
              <a:t>3</a:t>
            </a:r>
            <a:endParaRPr lang="en-US" sz="2800" dirty="0"/>
          </a:p>
        </p:txBody>
      </p:sp>
      <p:sp>
        <p:nvSpPr>
          <p:cNvPr id="12" name="Text 10"/>
          <p:cNvSpPr/>
          <p:nvPr/>
        </p:nvSpPr>
        <p:spPr>
          <a:xfrm>
            <a:off x="1803400" y="5151090"/>
            <a:ext cx="95758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Nunito Sans" pitchFamily="34" charset="0"/>
                <a:ea typeface="Nunito Sans" pitchFamily="34" charset="-122"/>
                <a:cs typeface="Nunito Sans" pitchFamily="34" charset="-120"/>
              </a:rPr>
              <a:t>$9.2M of maintenance cost sits outside labour and parts.</a:t>
            </a:r>
            <a:r>
              <a:rPr lang="en-US" sz="1500" dirty="0">
                <a:solidFill>
                  <a:srgbClr val="14213D"/>
                </a:solidFill>
                <a:latin typeface="Nunito Sans" pitchFamily="34" charset="0"/>
                <a:ea typeface="Nunito Sans" pitchFamily="34" charset="-122"/>
                <a:cs typeface="Nunito Sans" pitchFamily="34" charset="-120"/>
              </a:rPr>
              <a:t> We report it as “other costs” so totals still match.</a:t>
            </a:r>
            <a:endParaRPr lang="en-US" sz="1500" dirty="0"/>
          </a:p>
        </p:txBody>
      </p:sp>
    </p:spTree>
  </p:cSld>
  <p:clrMapOvr>
    <a:masterClrMapping/>
  </p:clrMapOvr>
</p:sld>
</file>

<file path=ppt/theme/theme1.xml><?xml version="1.0" encoding="utf-8"?>
<a:theme xmlns:a="http://schemas.openxmlformats.org/drawingml/2006/main" name="Asset Reliability — Executive Briefing">
  <a:themeElements>
    <a:clrScheme name="Asset Reliability — Executive Briefing">
      <a:dk1>
        <a:srgbClr val="14213D"/>
      </a:dk1>
      <a:lt1>
        <a:srgbClr val="F6F4EE"/>
      </a:lt1>
      <a:dk2>
        <a:srgbClr val="4D5669"/>
      </a:dk2>
      <a:lt2>
        <a:srgbClr val="DFDFDC"/>
      </a:lt2>
      <a:accent1>
        <a:srgbClr val="C0631A"/>
      </a:accent1>
      <a:accent2>
        <a:srgbClr val="2F6FB0"/>
      </a:accent2>
      <a:accent3>
        <a:srgbClr val="F0A35E"/>
      </a:accent3>
      <a:accent4>
        <a:srgbClr val="D98A4E"/>
      </a:accent4>
      <a:accent5>
        <a:srgbClr val="4A5568"/>
      </a:accent5>
      <a:accent6>
        <a:srgbClr val="6B7280"/>
      </a:accent6>
      <a:hlink>
        <a:srgbClr val="0563C1"/>
      </a:hlink>
      <a:folHlink>
        <a:srgbClr val="954F72"/>
      </a:folHlink>
    </a:clrScheme>
    <a:fontScheme name="Asset Reliability — Executive Briefing">
      <a:majorFont>
        <a:latin typeface="Domin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unito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Asset Reliability — Executive Briefing</dc:title>
  <dc:subject/>
  <dc:creator/>
  <cp:lastModifiedBy/>
  <cp:revision>1</cp:revision>
  <dcterms:created xsi:type="dcterms:W3CDTF">2026-10-18T15:10:45Z</dcterms:created>
  <dcterms:modified xsi:type="dcterms:W3CDTF">2026-10-18T15:10:45Z</dcterms:modified>
</cp:coreProperties>
</file>