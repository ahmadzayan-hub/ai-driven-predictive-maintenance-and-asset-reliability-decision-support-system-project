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f7f012e-4fb1-772b-cfa6-358098629a0c}">
          <p14:sldIdLst>
            <p14:sldId id="256"/>
          </p14:sldIdLst>
        </p14:section>
        <p14:section name="The financial picture" id="{2b9f0c03-7339-b62d-d050-92c13439b91e}">
          <p14:sldIdLst>
            <p14:sldId id="257"/>
            <p14:sldId id="258"/>
            <p14:sldId id="259"/>
          </p14:sldIdLst>
        </p14:section>
        <p14:section name="Where exposure concentrates" id="{e216b534-29ef-119a-46ea-21b29adcf6e6}">
          <p14:sldIdLst>
            <p14:sldId id="260"/>
            <p14:sldId id="261"/>
            <p14:sldId id="262"/>
            <p14:sldId id="263"/>
            <p14:sldId id="264"/>
          </p14:sldIdLst>
        </p14:section>
        <p14:section name="What it is worth" id="{3833af3f-9857-5afb-9da1-fa2e061f2dfe}">
          <p14:sldIdLst>
            <p14:sldId id="265"/>
            <p14:sldId id="266"/>
            <p14:sldId id="267"/>
          </p14:sldIdLst>
        </p14:section>
        <p14:section name="Close" id="{5cd9080f-4196-e94d-83cb-c7b399904d2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Economic exposure $279.3M by component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Economic exposure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29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Parts</c:v>
                  </c:pt>
                  <c:pt idx="1">
                    <c:v>Labor</c:v>
                  </c:pt>
                  <c:pt idx="2">
                    <c:v>Other maint.</c:v>
                  </c:pt>
                  <c:pt idx="3">
                    <c:v>Production loss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26.9</c:v>
                </c:pt>
                <c:pt idx="1">
                  <c:v>14.4</c:v>
                </c:pt>
                <c:pt idx="2">
                  <c:v>9.2</c:v>
                </c:pt>
                <c:pt idx="3">
                  <c:v>228.9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Cost per failure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failure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29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Repair cost</c:v>
                  </c:pt>
                  <c:pt idx="1">
                    <c:v>Lost output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6638</c:v>
                </c:pt>
                <c:pt idx="1">
                  <c:v>30128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Production loss per record by quarter (USD)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per record</c:v>
                </c:pt>
              </c:strCache>
            </c:strRef>
          </c:tx>
          <c:spPr>
            <a:solidFill>
              <a:srgbClr val="C8553D"/>
            </a:solidFill>
            <a:ln w="3175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2024 Q1</c:v>
                  </c:pt>
                  <c:pt idx="1">
                    <c:v>2024 Q2</c:v>
                  </c:pt>
                  <c:pt idx="2">
                    <c:v>2024 Q3</c:v>
                  </c:pt>
                  <c:pt idx="3">
                    <c:v>2024 Q4</c:v>
                  </c:pt>
                  <c:pt idx="4">
                    <c:v>2025 Q1</c:v>
                  </c:pt>
                  <c:pt idx="5">
                    <c:v>2025 Q2</c:v>
                  </c:pt>
                  <c:pt idx="6">
                    <c:v>2025 Q3</c:v>
                  </c:pt>
                  <c:pt idx="7">
                    <c:v>2025 Q4</c:v>
                  </c:pt>
                  <c:pt idx="8">
                    <c:v>2026 Q1</c:v>
                  </c:pt>
                  <c:pt idx="9">
                    <c:v>2026 Q2</c:v>
                  </c:pt>
                  <c:pt idx="10">
                    <c:v>2026 Q3</c:v>
                  </c:pt>
                  <c:pt idx="11">
                    <c:v>2026 Q4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44995</c:v>
                </c:pt>
                <c:pt idx="1">
                  <c:v>46941</c:v>
                </c:pt>
                <c:pt idx="2">
                  <c:v>46355</c:v>
                </c:pt>
                <c:pt idx="3">
                  <c:v>47175</c:v>
                </c:pt>
                <c:pt idx="4">
                  <c:v>44023</c:v>
                </c:pt>
                <c:pt idx="5">
                  <c:v>41478</c:v>
                </c:pt>
                <c:pt idx="6">
                  <c:v>47017</c:v>
                </c:pt>
                <c:pt idx="7">
                  <c:v>49955</c:v>
                </c:pt>
                <c:pt idx="8">
                  <c:v>45263</c:v>
                </c:pt>
                <c:pt idx="9">
                  <c:v>46877</c:v>
                </c:pt>
                <c:pt idx="10">
                  <c:v>41671</c:v>
                </c:pt>
                <c:pt idx="11">
                  <c:v>45871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000"/>
          <c:min val="35000"/>
        </c:scaling>
        <c:delete val="0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Production loss per record by asset class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per record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Railway Signalling</c:v>
                  </c:pt>
                  <c:pt idx="1">
                    <c:v>Industrial Pump</c:v>
                  </c:pt>
                  <c:pt idx="2">
                    <c:v>Heavy Equipment</c:v>
                  </c:pt>
                  <c:pt idx="3">
                    <c:v>Power System</c:v>
                  </c:pt>
                  <c:pt idx="4">
                    <c:v>Biomedical Equipment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55991</c:v>
                </c:pt>
                <c:pt idx="1">
                  <c:v>48777</c:v>
                </c:pt>
                <c:pt idx="2">
                  <c:v>48101</c:v>
                </c:pt>
                <c:pt idx="3">
                  <c:v>40484</c:v>
                </c:pt>
                <c:pt idx="4">
                  <c:v>35714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Production loss per record by criticality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per record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61015</c:v>
                </c:pt>
                <c:pt idx="1">
                  <c:v>41494</c:v>
                </c:pt>
                <c:pt idx="2">
                  <c:v>43559</c:v>
                </c:pt>
                <c:pt idx="3">
                  <c:v>42524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Production loss per record by strategy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per record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Reactive</c:v>
                  </c:pt>
                  <c:pt idx="1">
                    <c:v>Preventive</c:v>
                  </c:pt>
                  <c:pt idx="2">
                    <c:v>Condition Based</c:v>
                  </c:pt>
                  <c:pt idx="3">
                    <c:v>Predictive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62030</c:v>
                </c:pt>
                <c:pt idx="1">
                  <c:v>46658</c:v>
                </c:pt>
                <c:pt idx="2">
                  <c:v>39543</c:v>
                </c:pt>
                <c:pt idx="3">
                  <c:v>40216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Loss and maintenance per record by asset-age band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per record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&lt;4 yrs</c:v>
                  </c:pt>
                  <c:pt idx="1">
                    <c:v>4-8 yrs</c:v>
                  </c:pt>
                  <c:pt idx="2">
                    <c:v>8-12 yrs</c:v>
                  </c:pt>
                  <c:pt idx="3">
                    <c:v>12+ yrs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22802</c:v>
                </c:pt>
                <c:pt idx="1">
                  <c:v>37007</c:v>
                </c:pt>
                <c:pt idx="2">
                  <c:v>52654</c:v>
                </c:pt>
                <c:pt idx="3">
                  <c:v>73182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Maintenance per record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&lt;4 yrs</c:v>
                  </c:pt>
                  <c:pt idx="1">
                    <c:v>4-8 yrs</c:v>
                  </c:pt>
                  <c:pt idx="2">
                    <c:v>8-12 yrs</c:v>
                  </c:pt>
                  <c:pt idx="3">
                    <c:v>12+ yrs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7753</c:v>
                </c:pt>
                <c:pt idx="1">
                  <c:v>9487</c:v>
                </c:pt>
                <c:pt idx="2">
                  <c:v>10723</c:v>
                </c:pt>
                <c:pt idx="3">
                  <c:v>12135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7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bubble3D val="0"/>
            <c:spPr>
              <a:solidFill>
                <a:srgbClr val="D5DCE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Watchlist share of loss</c:v>
                </c:pt>
                <c:pt idx="1">
                  <c:v>Other records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43.6</c:v>
                </c:pt>
                <c:pt idx="1">
                  <c:v>56.4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+mn-lt"/>
              </a:rPr>
              <a:t>Illustrative loss avoided, 36-month basis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avoided</c:v>
                </c:pt>
              </c:strCache>
            </c:strRef>
          </c:tx>
          <c:spPr>
            <a:solidFill>
              <a:srgbClr val="4A7FB5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294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Portfolio downtime −5%</c:v>
                  </c:pt>
                  <c:pt idx="1">
                    <c:v>Critical downtime −10%</c:v>
                  </c:pt>
                  <c:pt idx="2">
                    <c:v>Critical loss/record at other-tier level</c:v>
                  </c:pt>
                  <c:pt idx="3">
                    <c:v>Reactive → predictive (planned h)</c:v>
                  </c:pt>
                  <c:pt idx="4">
                    <c:v>Portfolio downtime −10%</c:v>
                  </c:pt>
                  <c:pt idx="5">
                    <c:v>Portfolio downtime −20%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11.4</c:v>
                </c:pt>
                <c:pt idx="1">
                  <c:v>5.3</c:v>
                </c:pt>
                <c:pt idx="2">
                  <c:v>15.9</c:v>
                </c:pt>
                <c:pt idx="3">
                  <c:v>20.2</c:v>
                </c:pt>
                <c:pt idx="4">
                  <c:v>22.9</c:v>
                </c:pt>
                <c:pt idx="5">
                  <c:v>45.8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Finance where the money goes and how large production loss is against maintenance spend. Every number in this deck matches the Power BI dashboard; figures that appear only in the report are labelled.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Maintenance cost $50.4M, production loss $228.9M, economic exposure $279.3M. Ratio 4.54, shown as 4.5x on the dashboard. Each downtime hour costs $2,513 and that rate is almost the same across classes, so loss is driven by hours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Parts dominate maintenance spend. 18.2% of cost is not itemised (Other maintenance cost on the dashboard). Per failure, lost output is about 4.5 times the repair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sustained trend. The quarterly loss-to-maintenance ratio stays between 4.2 and 5.0. This is the baseline any programme must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Loss per record: Railway 55,991; Pump 48,777; Heavy 48,101; Power 40,484; Biomedical 35,714.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dashboard, critical assets show only the third-largest total loss ($53M) because they are the smallest tier (862 records). Normalised per record and per dollar of maintenance, they are the most exposed. 95% bootstrap interval for the 6.02x ratio: 5.68x to 6.35x.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Reactive 62,030; preventive 46,658; condition based 39,543; predictive 40,216 per record. Reactive and predictive groups have similar mean age and critical share, which strengthens but does not prove the strategy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Loss per record rises 221% from under 4 years to 12+ years; maintenance per record rises 57%. Supports the dashboard decision to pilot condition-based care on ageing, degraded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Parts per dollar of loss: critical 8.96 cents, others 12.58 cents. Watchlist: logistic regression, chronological test, top-decile lift 2.5x.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briefing’s $22M for reactive to predictive uses operating hours; the planned-hour basis gives $20.2M. Agree one basis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1, 4 and 6 need little capital and can start immediately; 2 and 3 need a measured pilot before budget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report-only findings should be added to the Cost &amp; Loss page so the three deliverables tell the same story. DAX for both is in Appendix A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request: approve the two zero-capital actions now (critical-asset priority, data definitions) and fund pilots for condition-based care and the spare-parts uplift. AI assistance (Claude) was used in drafting; the team validated all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6"/>
                </a:solidFill>
              </a:rPr>
              <a:t>Group 9226 · Team 3 · Financial analysis aligned with the Power BI dashboard · Synthetic course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Maintenance spend against the cost of downtime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Cost structure and production-loss exposure, January 2024 – December 2026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Financial analysis aligned with the Team 3 Power BI dashboard · Group 9226 ·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BIG PICTURE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Every $1 of maintenance coincides with $4.54 of lost production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$50.4M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 · dashboard: $50M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3383280" y="17373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$228.9M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Loss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$229M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6217920" y="17373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4.5×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to Maintenance Ratio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4.54 unrounded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905256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$2,513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Cost Rate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÷ downtime hours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548640" y="3657600"/>
            <a:ext cx="11109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21" name="exposure chart" descr=""/>
          <p:cNvGraphicFramePr/>
          <p:nvPr/>
        </p:nvGraphicFramePr>
        <p:xfrm>
          <a:off x="640080" y="3703320"/>
          <a:ext cx="6583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7498080" y="393192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is 82% of economic exposure.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is the smaller cost pool. The controllable lever is the downtime that maintenance fails to prevent, not the maintenance budget line itself.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Enterprise Dataset v1.0, 5,000 records. Dashboard pages: Summary, Scorecard, Cost &amp; Loss.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COST STRUCTURE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failure costs $6,638 to repair but $30,128 in lost output</a:t>
            </a:r>
            <a:endParaRPr lang="en-US" sz="3000" dirty="0"/>
          </a:p>
        </p:txBody>
      </p:sp>
      <p:graphicFrame>
        <p:nvGraphicFramePr>
          <p:cNvPr id="4" name="per failure chart" descr=""/>
          <p:cNvGraphicFramePr/>
          <p:nvPr/>
        </p:nvGraphicFramePr>
        <p:xfrm>
          <a:off x="548640" y="16459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57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002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$26.9M · 53.3%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$14.4M · 28.5%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maintenance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$9.2M · 18.2%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Loss,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Operating Hour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 (downtime per failure)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per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$45,776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Corrective share of spend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502920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avoided failure is worth about $36,800 of economic exposure: the hurdle any preventive or predictive spend must clear.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maintenance spend is incurred on corrective records: the budget behaves as a variable cost of failure.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OVER TIME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exposure is structural: loss per record stays near $45,800 every quarter</a:t>
            </a:r>
            <a:endParaRPr lang="en-US" sz="3000" dirty="0"/>
          </a:p>
        </p:txBody>
      </p:sp>
      <p:graphicFrame>
        <p:nvGraphicFramePr>
          <p:cNvPr id="4" name="quarter chart" descr=""/>
          <p:cNvGraphicFramePr/>
          <p:nvPr/>
        </p:nvGraphicFramePr>
        <p:xfrm>
          <a:off x="548640" y="164592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321040" y="1737360"/>
            <a:ext cx="3337560" cy="4114800"/>
          </a:xfrm>
          <a:prstGeom prst="roundRect">
            <a:avLst>
              <a:gd name="adj" fmla="val 21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92024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record, by year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 $46,367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 $45,611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 $44,920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holds half the records of earlier years, so totals fall but rates do not. Compare years by rate only.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Cost &amp; Loss, “Production loss per record by quarter”. Range $41,478 (2025 Q2) to $49,955 (2025 Q4).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ASSET CLASS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Railway signalling loses $55,991 per record, 57% more than biomedical equipment</a:t>
            </a:r>
            <a:endParaRPr lang="en-US" sz="3000" dirty="0"/>
          </a:p>
        </p:txBody>
      </p:sp>
      <p:graphicFrame>
        <p:nvGraphicFramePr>
          <p:cNvPr id="4" name="class chart" descr=""/>
          <p:cNvGraphicFramePr/>
          <p:nvPr/>
        </p:nvGraphicFramePr>
        <p:xfrm>
          <a:off x="54864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7863840" y="1737360"/>
            <a:ext cx="3794760" cy="4114800"/>
          </a:xfrm>
          <a:prstGeom prst="roundRect">
            <a:avLst>
              <a:gd name="adj" fmla="val 192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920240"/>
            <a:ext cx="33832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spread evenly; loss is not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receives 18.7%–21.2% of maintenance spend.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operating hour: $22.98 (railway) vs $19.56 (biomedical).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equal budget across unequal exposures is the first sign of misallocation.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Summary, “Production loss per record by asset class”; Cost &amp; Loss, “Cost per operating hour by asset class”.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CRITICALITY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Critical assets lose $61,015 per record and take 16.3 hours to restore</a:t>
            </a:r>
            <a:endParaRPr lang="en-US" sz="3000" dirty="0"/>
          </a:p>
        </p:txBody>
      </p:sp>
      <p:graphicFrame>
        <p:nvGraphicFramePr>
          <p:cNvPr id="4" name="criticality chart" descr=""/>
          <p:cNvGraphicFramePr/>
          <p:nvPr/>
        </p:nvGraphicFramePr>
        <p:xfrm>
          <a:off x="548640" y="164592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6675120" y="173736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1874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 h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MTTR, critical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29260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11.0–11.2 h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9235440" y="173736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418320" y="1874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on-target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418320" y="29260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47.8–50.2%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6675120" y="352044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36576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6.02×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4389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÷ maintenance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709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4.23× · report only</a:t>
            </a:r>
            <a:endParaRPr lang="en-US" sz="1100" dirty="0"/>
          </a:p>
        </p:txBody>
      </p:sp>
      <p:sp>
        <p:nvSpPr>
          <p:cNvPr id="17" name="card"/>
          <p:cNvSpPr/>
          <p:nvPr/>
        </p:nvSpPr>
        <p:spPr>
          <a:xfrm>
            <a:off x="9235440" y="352044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18320" y="36576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$2,503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9418320" y="4389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cost rate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418320" y="4709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portfolio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525780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 per hour, longer outages: the excess loss is a restoration problem.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Summary (Decision 1), Work Orders “SLA on-target share by criticality”. Total loss by tier on Cost &amp; Loss: $33M / $80M / $64M / $53M.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MAINTENANCE STRATEGY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Predictive care loses 35% less per record than waiting for failure</a:t>
            </a:r>
            <a:endParaRPr lang="en-US" sz="3000" dirty="0"/>
          </a:p>
        </p:txBody>
      </p:sp>
      <p:graphicFrame>
        <p:nvGraphicFramePr>
          <p:cNvPr id="4" name="strategy chart" descr=""/>
          <p:cNvGraphicFramePr/>
          <p:nvPr/>
        </p:nvGraphicFramePr>
        <p:xfrm>
          <a:off x="548640" y="16459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strategy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349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51560"/>
                <a:gridCol w="1051560"/>
                <a:gridCol w="105156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per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Cond. 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$89,774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$56,935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$54,621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$49,712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$43,041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$37,846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$37,170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$59,504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$45,699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$36,935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$62,325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$44,789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$32,117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$36,356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09360" y="3840480"/>
            <a:ext cx="5349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per record: reactive 2.09 vs predictive 1.34.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× reactive is the most exposed cell: about twice the portfolio mean of $45,776.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total cost per planned hour the gap is 34.1%: the conclusion does not depend on the denominator.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Summary, “Loss per record: criticality × strategy” and “Failures per record by strategy”.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ASSET AGE AND CONDITION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Loss per record triples between new and ageing assets; spend rises only 57%</a:t>
            </a:r>
            <a:endParaRPr lang="en-US" sz="3000" dirty="0"/>
          </a:p>
        </p:txBody>
      </p:sp>
      <p:graphicFrame>
        <p:nvGraphicFramePr>
          <p:cNvPr id="4" name="age chart" descr=""/>
          <p:cNvGraphicFramePr/>
          <p:nvPr/>
        </p:nvGraphicFramePr>
        <p:xfrm>
          <a:off x="548640" y="16459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ag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737360"/>
          <a:ext cx="3977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48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band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Downtime /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&lt;4 yrs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 yrs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yrs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 yrs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680960" y="4023360"/>
            <a:ext cx="3977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shows the same gradient: downtime per record falls from 29.5 h (score below 60) to 8.7 h (90 and above).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Reliability, “Downtime per record by age band” (9.1 / 15.0 / 20.9 / 28.6 h) and “by condition score”.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SPARE PARTS AND PREDICTIVE RISK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Spending is lowest where risk is highest, and the watchlist shows where to aim it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 PER $1 OF LOSS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9.0¢</a:t>
            </a:r>
            <a:pPr indent="0" marL="0">
              <a:buNone/>
            </a:pPr>
            <a:r>
              <a:rPr lang="en-US" sz="2400" b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4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12.6¢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assets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tiers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are rare (84) but coincide with about +17% loss on comparable jobs.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to 12.6¢ costs $1.90M over 36 months and breaks even at 760 avoided hours, 3.6% of critical downtime.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217920" y="173736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WATCHLIST (DASHBOARD: RISK)</a:t>
            </a:r>
            <a:endParaRPr lang="en-US" sz="1200" dirty="0"/>
          </a:p>
        </p:txBody>
      </p:sp>
      <p:graphicFrame>
        <p:nvGraphicFramePr>
          <p:cNvPr id="12" name="watchlist donut" descr=""/>
          <p:cNvGraphicFramePr/>
          <p:nvPr/>
        </p:nvGraphicFramePr>
        <p:xfrm>
          <a:off x="6400800" y="2240280"/>
          <a:ext cx="2377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903720" y="3154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43.6%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869680" y="228600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1,418 records (28.4%) hold 43.6% of production loss.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Critical-watch tier: 52.9% high-loss rate vs 20.3% overall.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AUC 0.73 vs 0.61 baseline; reproduced independently.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48463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ranking aid for directing inspection spend, with human approval: not evidence of savings.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Spare-parts ratios: report only. Watchlist figures: dashboard Risk page.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SCENARIO SIZING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Each 1% of downtime avoided is worth about $2.3M over 36 months</a:t>
            </a:r>
            <a:endParaRPr lang="en-US" sz="3000" dirty="0"/>
          </a:p>
        </p:txBody>
      </p:sp>
      <p:graphicFrame>
        <p:nvGraphicFramePr>
          <p:cNvPr id="4" name="scenario chart" descr=""/>
          <p:cNvGraphicFramePr/>
          <p:nvPr/>
        </p:nvGraphicFramePr>
        <p:xfrm>
          <a:off x="548640" y="164592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138160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920240"/>
            <a:ext cx="3108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downtime hours × $2,513, so value scales with hours avoided.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equivalent of −10% downtime: $9.2M (2024–25 run-rate).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overlap: do not add them. They are scale illustrations, not forecasts.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only. The critical-asset scenario uses the dashboard’s loss-per-record measure ($15.9M, as in the team briefing).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Six actions: four from the dashboard’s decisions, two for Finance</a:t>
            </a:r>
            <a:endParaRPr lang="en-US" sz="3000" dirty="0"/>
          </a:p>
        </p:txBody>
      </p:sp>
      <p:sp>
        <p:nvSpPr>
          <p:cNvPr id="4" name="rec 1"/>
          <p:cNvSpPr/>
          <p:nvPr/>
        </p:nvSpPr>
        <p:spPr>
          <a:xfrm>
            <a:off x="548640" y="16916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rec badge 1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562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critical assets faster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585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priority and protected spares. MTTR 16.3 h, SLA 29.1%.</a:t>
            </a:r>
            <a:endParaRPr lang="en-US" sz="1300" dirty="0"/>
          </a:p>
        </p:txBody>
      </p:sp>
      <p:sp>
        <p:nvSpPr>
          <p:cNvPr id="9" name="rec 2"/>
          <p:cNvSpPr/>
          <p:nvPr/>
        </p:nvSpPr>
        <p:spPr>
          <a:xfrm>
            <a:off x="6172200" y="16916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rec badge 2"/>
          <p:cNvSpPr/>
          <p:nvPr/>
        </p:nvSpPr>
        <p:spPr>
          <a:xfrm>
            <a:off x="6355080" y="2011680"/>
            <a:ext cx="640080" cy="64008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8562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condition-based care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2585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ageing, degraded assets with a matched control group.</a:t>
            </a:r>
            <a:endParaRPr lang="en-US" sz="1300" dirty="0"/>
          </a:p>
        </p:txBody>
      </p:sp>
      <p:sp>
        <p:nvSpPr>
          <p:cNvPr id="14" name="rec 3"/>
          <p:cNvSpPr/>
          <p:nvPr/>
        </p:nvSpPr>
        <p:spPr>
          <a:xfrm>
            <a:off x="548640" y="310896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rec badge 3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2735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the risk watchlist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6758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ranking aid with human approval. 1,418 records hold 43.6% of loss.</a:t>
            </a:r>
            <a:endParaRPr lang="en-US" sz="1300" dirty="0"/>
          </a:p>
        </p:txBody>
      </p:sp>
      <p:sp>
        <p:nvSpPr>
          <p:cNvPr id="19" name="rec 4"/>
          <p:cNvSpPr/>
          <p:nvPr/>
        </p:nvSpPr>
        <p:spPr>
          <a:xfrm>
            <a:off x="6172200" y="310896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rec badge 4"/>
          <p:cNvSpPr/>
          <p:nvPr/>
        </p:nvSpPr>
        <p:spPr>
          <a:xfrm>
            <a:off x="6355080" y="3429000"/>
            <a:ext cx="640080" cy="64008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2735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definitions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6758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 the 18.2% Other maintenance cost before roll-out.</a:t>
            </a:r>
            <a:endParaRPr lang="en-US" sz="1300" dirty="0"/>
          </a:p>
        </p:txBody>
      </p:sp>
      <p:sp>
        <p:nvSpPr>
          <p:cNvPr id="24" name="rec 5"/>
          <p:cNvSpPr/>
          <p:nvPr/>
        </p:nvSpPr>
        <p:spPr>
          <a:xfrm>
            <a:off x="548640" y="45262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rec badge 5"/>
          <p:cNvSpPr/>
          <p:nvPr/>
        </p:nvSpPr>
        <p:spPr>
          <a:xfrm>
            <a:off x="731520" y="484632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6908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against downtime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0932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× $2,513 as the common unit for every proposal.</a:t>
            </a:r>
            <a:endParaRPr lang="en-US" sz="1300" dirty="0"/>
          </a:p>
        </p:txBody>
      </p:sp>
      <p:sp>
        <p:nvSpPr>
          <p:cNvPr id="29" name="rec 6"/>
          <p:cNvSpPr/>
          <p:nvPr/>
        </p:nvSpPr>
        <p:spPr>
          <a:xfrm>
            <a:off x="6172200" y="45262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rec badge 6"/>
          <p:cNvSpPr/>
          <p:nvPr/>
        </p:nvSpPr>
        <p:spPr>
          <a:xfrm>
            <a:off x="6355080" y="484632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6908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on P90 event loss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50932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$120,322 per event, not the $57,006 corrective-record mean.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Coral: dashboard decisions 1–2 · Navy: decisions 3–4 · Teal: Finance additions. Benefits are unvalidated until a pilot confirms them.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RECONCILIATION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Every figure shared with the dashboard matches</a:t>
            </a:r>
            <a:endParaRPr lang="en-US" sz="3000" dirty="0"/>
          </a:p>
        </p:txBody>
      </p:sp>
      <p:graphicFrame>
        <p:nvGraphicFramePr>
          <p:cNvPr id="13" name="reconcili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606040"/>
                <a:gridCol w="2606040"/>
                <a:gridCol w="2240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/ Production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$50.4M / $228.9M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$50M / $229M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(rounding)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to Maintenance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4.54×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Downtime Cost Rate · Cost per Op. Hour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$2,513 · $21.19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$2,513 · $21.19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per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$45,776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$45,776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· MTBF · MTTR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 · 313.3 · 12.0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 · 313.3 · 12.0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MTTR · SLA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 h · 29.1%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 h · 29.1%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per record by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$62,030 … $40,216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$62,030 … $40,216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Watchlist · loss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1,418 · 43.6%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1,418 · 43.6%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(model reproduced)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÷ maint. by criticality · parts per $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6.02× · 9.0¢ vs 12.6¢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only: add to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reconciliation: Financial Analysis Report v2, Appendix C. All figures recomputed independently from the master CSV.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Budget in hours of downtime avoided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Production loss is 4.5× the repair spend and every downtime hour costs $2,513. Direct spend to critical, reactive and ageing assets, and release budget only after a controlled pilot confirms the reduction.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Limits: synthetic data; associations, not causes; scenarios are illustrative and overlapping.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m3 Finance">
  <a:themeElements>
    <a:clrScheme name="Team3 Finance">
      <a:dk1>
        <a:srgbClr val="1B2A41"/>
      </a:dk1>
      <a:lt1>
        <a:srgbClr val="FFFFFF"/>
      </a:lt1>
      <a:dk2>
        <a:srgbClr val="13294B"/>
      </a:dk2>
      <a:lt2>
        <a:srgbClr val="EEF2F7"/>
      </a:lt2>
      <a:accent1>
        <a:srgbClr val="2A9D8F"/>
      </a:accent1>
      <a:accent2>
        <a:srgbClr val="C8553D"/>
      </a:accent2>
      <a:accent3>
        <a:srgbClr val="4A7FB5"/>
      </a:accent3>
      <a:accent4>
        <a:srgbClr val="E9A23B"/>
      </a:accent4>
      <a:accent5>
        <a:srgbClr val="9AA5B1"/>
      </a:accent5>
      <a:accent6>
        <a:srgbClr val="264653"/>
      </a:accent6>
      <a:hlink>
        <a:srgbClr val="2A9D8F"/>
      </a:hlink>
      <a:folHlink>
        <a:srgbClr val="4A7FB5"/>
      </a:folHlink>
    </a:clrScheme>
    <a:fontScheme name="Team3 Finan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Spend against the Cost of Downtime</dc:title>
  <dc:subject>PptxGenJS Presentation</dc:subject>
  <dc:creator>Ali Elraey</dc:creator>
  <cp:lastModifiedBy>Ali Elraey</cp:lastModifiedBy>
  <cp:revision>1</cp:revision>
  <dcterms:created xsi:type="dcterms:W3CDTF">2026-10-20T19:41:50Z</dcterms:created>
  <dcterms:modified xsi:type="dcterms:W3CDTF">2026-10-20T19:41:50Z</dcterms:modified>
</cp:coreProperties>
</file>