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3.xml" ContentType="application/vnd.openxmlformats-officedocument.drawingml.chart+xml"/>
  <Override PartName="/ppt/charts/chart4.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5.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a4043792-68cd-ab67-aa42-27753d17ac25}">
          <p14:sldIdLst>
            <p14:sldId id="256"/>
            <p14:sldId id="257"/>
            <p14:sldId id="258"/>
          </p14:sldIdLst>
        </p14:section>
        <p14:section name="Evidence" id="{d4efaa43-3e39-5c2e-3b17-ef27bd9ffc9a}">
          <p14:sldIdLst>
            <p14:sldId id="259"/>
            <p14:sldId id="260"/>
            <p14:sldId id="261"/>
            <p14:sldId id="262"/>
          </p14:sldIdLst>
        </p14:section>
        <p14:section name="AI evaluation" id="{9cb03ccf-0acf-4a25-4f08-0fc0eede5872}">
          <p14:sldIdLst>
            <p14:sldId id="263"/>
            <p14:sldId id="264"/>
            <p14:sldId id="265"/>
            <p14:sldId id="266"/>
          </p14:sldIdLst>
        </p14:section>
        <p14:section name="Financial value" id="{ff033880-2d3c-f811-3cca-89c0761385cc}">
          <p14:sldIdLst>
            <p14:sldId id="267"/>
            <p14:sldId id="268"/>
          </p14:sldIdLst>
        </p14:section>
        <p14:section name="Recommendation" id="{e08ff2d8-e75e-bef2-7fb8-c05e21374ade}">
          <p14:sldIdLst>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3A5F"/>
                </a:solidFill>
                <a:latin typeface="+mj-lt"/>
              </a:defRPr>
            </a:pPr>
            <a:r>
              <a:rPr sz="1400" b="0" i="0" u="none" strike="noStrike">
                <a:solidFill>
                  <a:srgbClr val="1F3A5F"/>
                </a:solidFill>
                <a:latin typeface="+mj-lt"/>
              </a:rPr>
              <a:t>MTTR (hours to repair)</a:t>
            </a:r>
          </a:p>
        </c:rich>
      </c:tx>
      <c:layout/>
      <c:overlay val="0"/>
    </c:title>
    <c:autoTitleDeleted val="0"/>
    <c:plotArea>
      <c:layout/>
      <c:barChart>
        <c:barDir val="bar"/>
        <c:grouping val="clustered"/>
        <c:varyColors val="0"/>
        <c:ser>
          <c:idx val="0"/>
          <c:order val="0"/>
          <c:tx>
            <c:strRef>
              <c:f>Sheet1!$B$1</c:f>
              <c:strCache>
                <c:ptCount val="1"/>
                <c:pt idx="0">
                  <c:v>MTTR</c:v>
                </c:pt>
              </c:strCache>
            </c:strRef>
          </c:tx>
          <c:spPr>
            <a:solidFill>
              <a:srgbClr val="A23B2A"/>
            </a:solidFill>
            <a:effectLst/>
          </c:spPr>
          <c:invertIfNegative val="0"/>
          <c:dLbls>
            <c:numFmt formatCode="0.0" sourceLinked="0"/>
            <c:txPr>
              <a:bodyPr/>
              <a:lstStyle/>
              <a:p>
                <a:pPr>
                  <a:defRPr b="0" i="0" strike="noStrike" sz="1200" u="none">
                    <a:solidFill>
                      <a:srgbClr val="1A1A1A"/>
                    </a:solidFill>
                    <a:latin typeface="+mn-lt"/>
                  </a:defRPr>
                </a:pPr>
              </a:p>
            </c:txPr>
            <c:showLegendKey val="0"/>
            <c:showVal val="1"/>
            <c:showCatName val="0"/>
            <c:showSerName val="0"/>
            <c:showPercent val="0"/>
            <c:showBubbleSize val="0"/>
            <c:showLeaderLines val="0"/>
          </c:dLbls>
          <c:dPt>
            <c:idx val="0"/>
            <c:invertIfNegative val="0"/>
            <c:bubble3D val="0"/>
            <c:spPr>
              <a:solidFill>
                <a:srgbClr val="A23B2A"/>
              </a:solidFill>
              <a:effectLst/>
            </c:spPr>
          </c:dPt>
          <c:dPt>
            <c:idx val="1"/>
            <c:invertIfNegative val="0"/>
            <c:bubble3D val="0"/>
            <c:spPr>
              <a:solidFill>
                <a:srgbClr val="1F3A5F"/>
              </a:solidFill>
              <a:effectLst/>
            </c:spPr>
          </c:dPt>
          <c:dPt>
            <c:idx val="2"/>
            <c:invertIfNegative val="0"/>
            <c:bubble3D val="0"/>
            <c:spPr>
              <a:solidFill>
                <a:srgbClr val="1F3A5F"/>
              </a:solidFill>
              <a:effectLst/>
            </c:spPr>
          </c:dPt>
          <c:dPt>
            <c:idx val="3"/>
            <c:invertIfNegative val="0"/>
            <c:bubble3D val="0"/>
            <c:spPr>
              <a:solidFill>
                <a:srgbClr val="1F3A5F"/>
              </a:solidFill>
              <a:effectLst/>
            </c:spPr>
          </c:dPt>
          <c:cat>
            <c:multiLvlStrRef>
              <c:f>Sheet1!$A$2:$A$5</c:f>
              <c:multiLvlStrCache>
                <c:ptCount val="4"/>
                <c:lvl>
                  <c:pt idx="0">
                    <c:v>Critical</c:v>
                  </c:pt>
                  <c:pt idx="1">
                    <c:v>High</c:v>
                  </c:pt>
                  <c:pt idx="2">
                    <c:v>Medium</c:v>
                  </c:pt>
                  <c:pt idx="3">
                    <c:v>Low</c:v>
                  </c:pt>
                </c:lvl>
              </c:multiLvlStrCache>
            </c:multiLvlStrRef>
          </c:cat>
          <c:val>
            <c:numRef>
              <c:f>Sheet1!$B$2:$B$5</c:f>
              <c:numCache>
                <c:formatCode>General</c:formatCode>
                <c:ptCount val="4"/>
                <c:pt idx="0">
                  <c:v>16.3</c:v>
                </c:pt>
                <c:pt idx="1">
                  <c:v>11</c:v>
                </c:pt>
                <c:pt idx="2">
                  <c:v>11.2</c:v>
                </c:pt>
                <c:pt idx="3">
                  <c:v>11.1</c:v>
                </c:pt>
              </c:numCache>
            </c:numRef>
          </c:val>
        </c:ser>
        <c:dLbls>
          <c:numFmt formatCode="0.0" sourceLinked="0"/>
          <c:txPr>
            <a:bodyPr/>
            <a:lstStyle/>
            <a:p>
              <a:pPr>
                <a:defRPr b="0" i="0" strike="noStrike" sz="1200" u="none">
                  <a:solidFill>
                    <a:srgbClr val="1A1A1A"/>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404040"/>
                </a:solidFill>
                <a:latin typeface="+mn-lt"/>
              </a:defRPr>
            </a:pPr>
            <a:endParaRPr lang="en-US"/>
          </a:p>
        </c:txPr>
        <c:crossAx val="2094734552"/>
        <c:crosses val="autoZero"/>
        <c:auto val="1"/>
        <c:lblAlgn val="ctr"/>
        <c:noMultiLvlLbl val="1"/>
      </c:catAx>
      <c:valAx>
        <c:axId val="2094734552"/>
        <c:scaling>
          <c:orientation val="minMax"/>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40404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3A5F"/>
                </a:solidFill>
                <a:latin typeface="+mj-lt"/>
              </a:defRPr>
            </a:pPr>
            <a:r>
              <a:rPr sz="1400" b="0" i="0" u="none" strike="noStrike">
                <a:solidFill>
                  <a:srgbClr val="1F3A5F"/>
                </a:solidFill>
                <a:latin typeface="+mj-lt"/>
              </a:rPr>
              <a:t>Jobs meeting service target (%)</a:t>
            </a:r>
          </a:p>
        </c:rich>
      </c:tx>
      <c:layout/>
      <c:overlay val="0"/>
    </c:title>
    <c:autoTitleDeleted val="0"/>
    <c:plotArea>
      <c:layout/>
      <c:barChart>
        <c:barDir val="bar"/>
        <c:grouping val="clustered"/>
        <c:varyColors val="0"/>
        <c:ser>
          <c:idx val="0"/>
          <c:order val="0"/>
          <c:tx>
            <c:strRef>
              <c:f>Sheet1!$B$1</c:f>
              <c:strCache>
                <c:ptCount val="1"/>
                <c:pt idx="0">
                  <c:v>SLA</c:v>
                </c:pt>
              </c:strCache>
            </c:strRef>
          </c:tx>
          <c:spPr>
            <a:solidFill>
              <a:srgbClr val="A23B2A"/>
            </a:solidFill>
            <a:effectLst/>
          </c:spPr>
          <c:invertIfNegative val="0"/>
          <c:dLbls>
            <c:numFmt formatCode="0.0&quot;%&quot;" sourceLinked="0"/>
            <c:txPr>
              <a:bodyPr/>
              <a:lstStyle/>
              <a:p>
                <a:pPr>
                  <a:defRPr b="0" i="0" strike="noStrike" sz="1200" u="none">
                    <a:solidFill>
                      <a:srgbClr val="1A1A1A"/>
                    </a:solidFill>
                    <a:latin typeface="+mn-lt"/>
                  </a:defRPr>
                </a:pPr>
              </a:p>
            </c:txPr>
            <c:showLegendKey val="0"/>
            <c:showVal val="1"/>
            <c:showCatName val="0"/>
            <c:showSerName val="0"/>
            <c:showPercent val="0"/>
            <c:showBubbleSize val="0"/>
            <c:showLeaderLines val="0"/>
          </c:dLbls>
          <c:dPt>
            <c:idx val="0"/>
            <c:invertIfNegative val="0"/>
            <c:bubble3D val="0"/>
            <c:spPr>
              <a:solidFill>
                <a:srgbClr val="A23B2A"/>
              </a:solidFill>
              <a:effectLst/>
            </c:spPr>
          </c:dPt>
          <c:dPt>
            <c:idx val="1"/>
            <c:invertIfNegative val="0"/>
            <c:bubble3D val="0"/>
            <c:spPr>
              <a:solidFill>
                <a:srgbClr val="1F3A5F"/>
              </a:solidFill>
              <a:effectLst/>
            </c:spPr>
          </c:dPt>
          <c:dPt>
            <c:idx val="2"/>
            <c:invertIfNegative val="0"/>
            <c:bubble3D val="0"/>
            <c:spPr>
              <a:solidFill>
                <a:srgbClr val="1F3A5F"/>
              </a:solidFill>
              <a:effectLst/>
            </c:spPr>
          </c:dPt>
          <c:dPt>
            <c:idx val="3"/>
            <c:invertIfNegative val="0"/>
            <c:bubble3D val="0"/>
            <c:spPr>
              <a:solidFill>
                <a:srgbClr val="1F3A5F"/>
              </a:solidFill>
              <a:effectLst/>
            </c:spPr>
          </c:dPt>
          <c:cat>
            <c:multiLvlStrRef>
              <c:f>Sheet1!$A$2:$A$5</c:f>
              <c:multiLvlStrCache>
                <c:ptCount val="4"/>
                <c:lvl>
                  <c:pt idx="0">
                    <c:v>Critical</c:v>
                  </c:pt>
                  <c:pt idx="1">
                    <c:v>High</c:v>
                  </c:pt>
                  <c:pt idx="2">
                    <c:v>Medium</c:v>
                  </c:pt>
                  <c:pt idx="3">
                    <c:v>Low</c:v>
                  </c:pt>
                </c:lvl>
              </c:multiLvlStrCache>
            </c:multiLvlStrRef>
          </c:cat>
          <c:val>
            <c:numRef>
              <c:f>Sheet1!$B$2:$B$5</c:f>
              <c:numCache>
                <c:formatCode>General</c:formatCode>
                <c:ptCount val="4"/>
                <c:pt idx="0">
                  <c:v>29.1</c:v>
                </c:pt>
                <c:pt idx="1">
                  <c:v>49.9</c:v>
                </c:pt>
                <c:pt idx="2">
                  <c:v>50.2</c:v>
                </c:pt>
                <c:pt idx="3">
                  <c:v>47.8</c:v>
                </c:pt>
              </c:numCache>
            </c:numRef>
          </c:val>
        </c:ser>
        <c:dLbls>
          <c:numFmt formatCode="0.0&quot;%&quot;" sourceLinked="0"/>
          <c:txPr>
            <a:bodyPr/>
            <a:lstStyle/>
            <a:p>
              <a:pPr>
                <a:defRPr b="0" i="0" strike="noStrike" sz="1200" u="none">
                  <a:solidFill>
                    <a:srgbClr val="1A1A1A"/>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404040"/>
                </a:solidFill>
                <a:latin typeface="+mn-lt"/>
              </a:defRPr>
            </a:pPr>
            <a:endParaRPr lang="en-US"/>
          </a:p>
        </c:txPr>
        <c:crossAx val="2094734552"/>
        <c:crosses val="autoZero"/>
        <c:auto val="1"/>
        <c:lblAlgn val="ctr"/>
        <c:noMultiLvlLbl val="1"/>
      </c:catAx>
      <c:valAx>
        <c:axId val="2094734552"/>
        <c:scaling>
          <c:orientation val="minMax"/>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40404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3A5F"/>
                </a:solidFill>
                <a:latin typeface="+mj-lt"/>
              </a:defRPr>
            </a:pPr>
            <a:r>
              <a:rPr sz="1400" b="0" i="0" u="none" strike="noStrike">
                <a:solidFill>
                  <a:srgbClr val="1F3A5F"/>
                </a:solidFill>
                <a:latin typeface="+mj-lt"/>
              </a:rPr>
              <a:t>Test-period AUC (0.5 = random)</a:t>
            </a:r>
          </a:p>
        </c:rich>
      </c:tx>
      <c:layout/>
      <c:overlay val="0"/>
    </c:title>
    <c:autoTitleDeleted val="0"/>
    <c:plotArea>
      <c:layout/>
      <c:barChart>
        <c:barDir val="bar"/>
        <c:grouping val="clustered"/>
        <c:varyColors val="0"/>
        <c:ser>
          <c:idx val="0"/>
          <c:order val="0"/>
          <c:tx>
            <c:strRef>
              <c:f>Sheet1!$B$1</c:f>
              <c:strCache>
                <c:ptCount val="1"/>
                <c:pt idx="0">
                  <c:v>AUC</c:v>
                </c:pt>
              </c:strCache>
            </c:strRef>
          </c:tx>
          <c:spPr>
            <a:solidFill>
              <a:srgbClr val="B9C4D2"/>
            </a:solidFill>
            <a:effectLst/>
          </c:spPr>
          <c:invertIfNegative val="0"/>
          <c:dLbls>
            <c:numFmt formatCode="0.00" sourceLinked="0"/>
            <c:txPr>
              <a:bodyPr/>
              <a:lstStyle/>
              <a:p>
                <a:pPr>
                  <a:defRPr b="0" i="0" strike="noStrike" sz="1200" u="none">
                    <a:solidFill>
                      <a:srgbClr val="1A1A1A"/>
                    </a:solidFill>
                    <a:latin typeface="+mn-lt"/>
                  </a:defRPr>
                </a:pPr>
              </a:p>
            </c:txPr>
            <c:showLegendKey val="0"/>
            <c:showVal val="1"/>
            <c:showCatName val="0"/>
            <c:showSerName val="0"/>
            <c:showPercent val="0"/>
            <c:showBubbleSize val="0"/>
            <c:showLeaderLines val="0"/>
          </c:dLbls>
          <c:dPt>
            <c:idx val="0"/>
            <c:invertIfNegative val="0"/>
            <c:bubble3D val="0"/>
            <c:spPr>
              <a:solidFill>
                <a:srgbClr val="B9C4D2"/>
              </a:solidFill>
              <a:effectLst/>
            </c:spPr>
          </c:dPt>
          <c:dPt>
            <c:idx val="1"/>
            <c:invertIfNegative val="0"/>
            <c:bubble3D val="0"/>
            <c:spPr>
              <a:solidFill>
                <a:srgbClr val="7F8C99"/>
              </a:solidFill>
              <a:effectLst/>
            </c:spPr>
          </c:dPt>
          <c:dPt>
            <c:idx val="2"/>
            <c:invertIfNegative val="0"/>
            <c:bubble3D val="0"/>
            <c:spPr>
              <a:solidFill>
                <a:srgbClr val="5D7593"/>
              </a:solidFill>
              <a:effectLst/>
            </c:spPr>
          </c:dPt>
          <c:dPt>
            <c:idx val="3"/>
            <c:invertIfNegative val="0"/>
            <c:bubble3D val="0"/>
            <c:spPr>
              <a:solidFill>
                <a:srgbClr val="1F3A5F"/>
              </a:solidFill>
              <a:effectLst/>
            </c:spPr>
          </c:dPt>
          <c:cat>
            <c:multiLvlStrRef>
              <c:f>Sheet1!$A$2:$A$5</c:f>
              <c:multiLvlStrCache>
                <c:ptCount val="4"/>
                <c:lvl>
                  <c:pt idx="0">
                    <c:v>Coin flip</c:v>
                  </c:pt>
                  <c:pt idx="1">
                    <c:v>Simple rule</c:v>
                  </c:pt>
                  <c:pt idx="2">
                    <c:v>Complex model</c:v>
                  </c:pt>
                  <c:pt idx="3">
                    <c:v>Our model</c:v>
                  </c:pt>
                </c:lvl>
              </c:multiLvlStrCache>
            </c:multiLvlStrRef>
          </c:cat>
          <c:val>
            <c:numRef>
              <c:f>Sheet1!$B$2:$B$5</c:f>
              <c:numCache>
                <c:formatCode>General</c:formatCode>
                <c:ptCount val="4"/>
                <c:pt idx="0">
                  <c:v>0.5</c:v>
                </c:pt>
                <c:pt idx="1">
                  <c:v>0.61</c:v>
                </c:pt>
                <c:pt idx="2">
                  <c:v>0.71</c:v>
                </c:pt>
                <c:pt idx="3">
                  <c:v>0.73</c:v>
                </c:pt>
              </c:numCache>
            </c:numRef>
          </c:val>
        </c:ser>
        <c:dLbls>
          <c:numFmt formatCode="0.00" sourceLinked="0"/>
          <c:txPr>
            <a:bodyPr/>
            <a:lstStyle/>
            <a:p>
              <a:pPr>
                <a:defRPr b="0" i="0" strike="noStrike" sz="1200" u="none">
                  <a:solidFill>
                    <a:srgbClr val="1A1A1A"/>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404040"/>
                </a:solidFill>
                <a:latin typeface="+mn-lt"/>
              </a:defRPr>
            </a:pPr>
            <a:endParaRPr lang="en-US"/>
          </a:p>
        </c:txPr>
        <c:crossAx val="2094734552"/>
        <c:crosses val="autoZero"/>
        <c:auto val="1"/>
        <c:lblAlgn val="ctr"/>
        <c:noMultiLvlLbl val="1"/>
      </c:catAx>
      <c:valAx>
        <c:axId val="2094734552"/>
        <c:scaling>
          <c:orientation val="minMax"/>
          <c:max val="1"/>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40404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3A5F"/>
                </a:solidFill>
                <a:latin typeface="+mj-lt"/>
              </a:defRPr>
            </a:pPr>
            <a:r>
              <a:rPr sz="1400" b="0" i="0" u="none" strike="noStrike">
                <a:solidFill>
                  <a:srgbClr val="1F3A5F"/>
                </a:solidFill>
                <a:latin typeface="+mj-lt"/>
              </a:rPr>
              <a:t>Jobs that became high-loss, by tier (%)</a:t>
            </a:r>
          </a:p>
        </c:rich>
      </c:tx>
      <c:layout/>
      <c:overlay val="0"/>
    </c:title>
    <c:autoTitleDeleted val="0"/>
    <c:plotArea>
      <c:layout/>
      <c:barChart>
        <c:barDir val="col"/>
        <c:grouping val="clustered"/>
        <c:varyColors val="0"/>
        <c:ser>
          <c:idx val="0"/>
          <c:order val="0"/>
          <c:tx>
            <c:strRef>
              <c:f>Sheet1!$B$1</c:f>
              <c:strCache>
                <c:ptCount val="1"/>
                <c:pt idx="0">
                  <c:v>High-loss rate</c:v>
                </c:pt>
              </c:strCache>
            </c:strRef>
          </c:tx>
          <c:spPr>
            <a:solidFill>
              <a:srgbClr val="B9C4D2"/>
            </a:solidFill>
            <a:effectLst/>
          </c:spPr>
          <c:invertIfNegative val="0"/>
          <c:dLbls>
            <c:numFmt formatCode="0.0&quot;%&quot;" sourceLinked="0"/>
            <c:txPr>
              <a:bodyPr/>
              <a:lstStyle/>
              <a:p>
                <a:pPr>
                  <a:defRPr b="0" i="0" strike="noStrike" sz="1200" u="none">
                    <a:solidFill>
                      <a:srgbClr val="1A1A1A"/>
                    </a:solidFill>
                    <a:latin typeface="+mn-lt"/>
                  </a:defRPr>
                </a:pPr>
              </a:p>
            </c:txPr>
            <c:showLegendKey val="0"/>
            <c:showVal val="1"/>
            <c:showCatName val="0"/>
            <c:showSerName val="0"/>
            <c:showPercent val="0"/>
            <c:showBubbleSize val="0"/>
            <c:showLeaderLines val="0"/>
          </c:dLbls>
          <c:dPt>
            <c:idx val="0"/>
            <c:invertIfNegative val="0"/>
            <c:bubble3D val="0"/>
            <c:spPr>
              <a:solidFill>
                <a:srgbClr val="B9C4D2"/>
              </a:solidFill>
              <a:effectLst/>
            </c:spPr>
          </c:dPt>
          <c:dPt>
            <c:idx val="1"/>
            <c:invertIfNegative val="0"/>
            <c:bubble3D val="0"/>
            <c:spPr>
              <a:solidFill>
                <a:srgbClr val="7F8C99"/>
              </a:solidFill>
              <a:effectLst/>
            </c:spPr>
          </c:dPt>
          <c:dPt>
            <c:idx val="2"/>
            <c:invertIfNegative val="0"/>
            <c:bubble3D val="0"/>
            <c:spPr>
              <a:solidFill>
                <a:srgbClr val="C08A2B"/>
              </a:solidFill>
              <a:effectLst/>
            </c:spPr>
          </c:dPt>
          <c:dPt>
            <c:idx val="3"/>
            <c:invertIfNegative val="0"/>
            <c:bubble3D val="0"/>
            <c:spPr>
              <a:solidFill>
                <a:srgbClr val="A23B2A"/>
              </a:solidFill>
              <a:effectLst/>
            </c:spPr>
          </c:dPt>
          <c:cat>
            <c:multiLvlStrRef>
              <c:f>Sheet1!$A$2:$A$5</c:f>
              <c:multiLvlStrCache>
                <c:ptCount val="4"/>
                <c:lvl>
                  <c:pt idx="0">
                    <c:v>Low</c:v>
                  </c:pt>
                  <c:pt idx="1">
                    <c:v>Moderate</c:v>
                  </c:pt>
                  <c:pt idx="2">
                    <c:v>Elevated</c:v>
                  </c:pt>
                  <c:pt idx="3">
                    <c:v>Critical-watch</c:v>
                  </c:pt>
                </c:lvl>
              </c:multiLvlStrCache>
            </c:multiLvlStrRef>
          </c:cat>
          <c:val>
            <c:numRef>
              <c:f>Sheet1!$B$2:$B$5</c:f>
              <c:numCache>
                <c:formatCode>General</c:formatCode>
                <c:ptCount val="4"/>
                <c:pt idx="0">
                  <c:v>5.7</c:v>
                </c:pt>
                <c:pt idx="1">
                  <c:v>18.1</c:v>
                </c:pt>
                <c:pt idx="2">
                  <c:v>34</c:v>
                </c:pt>
                <c:pt idx="3">
                  <c:v>52.9</c:v>
                </c:pt>
              </c:numCache>
            </c:numRef>
          </c:val>
        </c:ser>
        <c:dLbls>
          <c:numFmt formatCode="0.0&quot;%&quot;" sourceLinked="0"/>
          <c:txPr>
            <a:bodyPr/>
            <a:lstStyle/>
            <a:p>
              <a:pPr>
                <a:defRPr b="0" i="0" strike="noStrike" sz="1200" u="none">
                  <a:solidFill>
                    <a:srgbClr val="1A1A1A"/>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04040"/>
                </a:solidFill>
                <a:latin typeface="+mn-lt"/>
              </a:defRPr>
            </a:pPr>
            <a:endParaRPr lang="en-US"/>
          </a:p>
        </c:txPr>
        <c:crossAx val="2094734552"/>
        <c:crosses val="autoZero"/>
        <c:auto val="1"/>
        <c:lblAlgn val="ctr"/>
        <c:noMultiLvlLbl val="1"/>
      </c:catAx>
      <c:valAx>
        <c:axId val="2094734552"/>
        <c:scaling>
          <c:orientation val="minMax"/>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40404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3A5F"/>
                </a:solidFill>
                <a:latin typeface="+mj-lt"/>
              </a:defRPr>
            </a:pPr>
            <a:r>
              <a:rPr sz="1400" b="0" i="0" u="none" strike="noStrike">
                <a:solidFill>
                  <a:srgbClr val="1F3A5F"/>
                </a:solidFill>
                <a:latin typeface="+mj-lt"/>
              </a:rPr>
              <a:t>Net benefit per year by lever (USD M)</a:t>
            </a:r>
          </a:p>
        </c:rich>
      </c:tx>
      <c:layout/>
      <c:overlay val="0"/>
    </c:title>
    <c:autoTitleDeleted val="0"/>
    <c:plotArea>
      <c:layout/>
      <c:barChart>
        <c:barDir val="col"/>
        <c:grouping val="stacked"/>
        <c:varyColors val="0"/>
        <c:ser>
          <c:idx val="0"/>
          <c:order val="0"/>
          <c:tx>
            <c:strRef>
              <c:f>Sheet1!$B$1</c:f>
              <c:strCache>
                <c:ptCount val="1"/>
                <c:pt idx="0">
                  <c:v>Critical repairs + spares</c:v>
                </c:pt>
              </c:strCache>
            </c:strRef>
          </c:tx>
          <c:spPr>
            <a:solidFill>
              <a:srgbClr val="1F3A5F"/>
            </a:solidFill>
            <a:effectLst/>
          </c:spPr>
          <c:invertIfNegative val="0"/>
          <c:dLbls>
            <c:numFmt formatCode="0.0" sourceLinked="0"/>
            <c:txPr>
              <a:bodyPr/>
              <a:lstStyle/>
              <a:p>
                <a:pPr>
                  <a:defRPr b="0" i="0" strike="noStrike" sz="1100" u="none">
                    <a:solidFill>
                      <a:srgbClr val="FFFFFF"/>
                    </a:solidFill>
                    <a:latin typeface="+mn-lt"/>
                  </a:defRPr>
                </a:pPr>
              </a:p>
            </c:txPr>
            <c:dLblPos val="ctr"/>
            <c:showLegendKey val="0"/>
            <c:showVal val="1"/>
            <c:showCatName val="0"/>
            <c:showSerName val="0"/>
            <c:showPercent val="0"/>
            <c:showBubbleSize val="0"/>
            <c:showLeaderLines val="0"/>
          </c:dLbls>
          <c:cat>
            <c:multiLvlStrRef>
              <c:f>Sheet1!$A$2:$A$4</c:f>
              <c:multiLvlStrCache>
                <c:ptCount val="3"/>
                <c:lvl>
                  <c:pt idx="0">
                    <c:v>Conservative</c:v>
                  </c:pt>
                  <c:pt idx="1">
                    <c:v>Expected</c:v>
                  </c:pt>
                  <c:pt idx="2">
                    <c:v>Optimistic</c:v>
                  </c:pt>
                </c:lvl>
              </c:multiLvlStrCache>
            </c:multiLvlStrRef>
          </c:cat>
          <c:val>
            <c:numRef>
              <c:f>Sheet1!$B$2:$B$4</c:f>
              <c:numCache>
                <c:formatCode>General</c:formatCode>
                <c:ptCount val="3"/>
                <c:pt idx="0">
                  <c:v>1.28</c:v>
                </c:pt>
                <c:pt idx="1">
                  <c:v>2.56</c:v>
                </c:pt>
                <c:pt idx="2">
                  <c:v>4.25</c:v>
                </c:pt>
              </c:numCache>
            </c:numRef>
          </c:val>
        </c:ser>
        <c:ser>
          <c:idx val="1"/>
          <c:order val="1"/>
          <c:tx>
            <c:strRef>
              <c:f>Sheet1!$C$1</c:f>
              <c:strCache>
                <c:ptCount val="1"/>
                <c:pt idx="0">
                  <c:v>Reactive → condition-based</c:v>
                </c:pt>
              </c:strCache>
            </c:strRef>
          </c:tx>
          <c:spPr>
            <a:solidFill>
              <a:srgbClr val="7F8C99"/>
            </a:solidFill>
            <a:effectLst/>
          </c:spPr>
          <c:invertIfNegative val="0"/>
          <c:dLbls>
            <c:numFmt formatCode="0.0" sourceLinked="0"/>
            <c:txPr>
              <a:bodyPr/>
              <a:lstStyle/>
              <a:p>
                <a:pPr>
                  <a:defRPr b="0" i="0" strike="noStrike" sz="1100" u="none">
                    <a:solidFill>
                      <a:srgbClr val="FFFFFF"/>
                    </a:solidFill>
                    <a:latin typeface="+mn-lt"/>
                  </a:defRPr>
                </a:pPr>
              </a:p>
            </c:txPr>
            <c:dLblPos val="ctr"/>
            <c:showLegendKey val="0"/>
            <c:showVal val="1"/>
            <c:showCatName val="0"/>
            <c:showSerName val="0"/>
            <c:showPercent val="0"/>
            <c:showBubbleSize val="0"/>
            <c:showLeaderLines val="0"/>
          </c:dLbls>
          <c:cat>
            <c:multiLvlStrRef>
              <c:f>Sheet1!$A$2:$A$4</c:f>
              <c:multiLvlStrCache>
                <c:ptCount val="3"/>
                <c:lvl>
                  <c:pt idx="0">
                    <c:v>Conservative</c:v>
                  </c:pt>
                  <c:pt idx="1">
                    <c:v>Expected</c:v>
                  </c:pt>
                  <c:pt idx="2">
                    <c:v>Optimistic</c:v>
                  </c:pt>
                </c:lvl>
              </c:multiLvlStrCache>
            </c:multiLvlStrRef>
          </c:cat>
          <c:val>
            <c:numRef>
              <c:f>Sheet1!$C$2:$C$4</c:f>
              <c:numCache>
                <c:formatCode>General</c:formatCode>
                <c:ptCount val="3"/>
                <c:pt idx="0">
                  <c:v>0.9</c:v>
                </c:pt>
                <c:pt idx="1">
                  <c:v>2.47</c:v>
                </c:pt>
                <c:pt idx="2">
                  <c:v>4.7</c:v>
                </c:pt>
              </c:numCache>
            </c:numRef>
          </c:val>
        </c:ser>
        <c:ser>
          <c:idx val="2"/>
          <c:order val="2"/>
          <c:tx>
            <c:strRef>
              <c:f>Sheet1!$D$1</c:f>
              <c:strCache>
                <c:ptCount val="1"/>
                <c:pt idx="0">
                  <c:v>Watchlist inspections</c:v>
                </c:pt>
              </c:strCache>
            </c:strRef>
          </c:tx>
          <c:spPr>
            <a:solidFill>
              <a:srgbClr val="C08A2B"/>
            </a:solidFill>
            <a:effectLst/>
          </c:spPr>
          <c:invertIfNegative val="0"/>
          <c:dLbls>
            <c:numFmt formatCode="0.0" sourceLinked="0"/>
            <c:txPr>
              <a:bodyPr/>
              <a:lstStyle/>
              <a:p>
                <a:pPr>
                  <a:defRPr b="0" i="0" strike="noStrike" sz="1100" u="none">
                    <a:solidFill>
                      <a:srgbClr val="FFFFFF"/>
                    </a:solidFill>
                    <a:latin typeface="+mn-lt"/>
                  </a:defRPr>
                </a:pPr>
              </a:p>
            </c:txPr>
            <c:dLblPos val="ctr"/>
            <c:showLegendKey val="0"/>
            <c:showVal val="1"/>
            <c:showCatName val="0"/>
            <c:showSerName val="0"/>
            <c:showPercent val="0"/>
            <c:showBubbleSize val="0"/>
            <c:showLeaderLines val="0"/>
          </c:dLbls>
          <c:cat>
            <c:multiLvlStrRef>
              <c:f>Sheet1!$A$2:$A$4</c:f>
              <c:multiLvlStrCache>
                <c:ptCount val="3"/>
                <c:lvl>
                  <c:pt idx="0">
                    <c:v>Conservative</c:v>
                  </c:pt>
                  <c:pt idx="1">
                    <c:v>Expected</c:v>
                  </c:pt>
                  <c:pt idx="2">
                    <c:v>Optimistic</c:v>
                  </c:pt>
                </c:lvl>
              </c:multiLvlStrCache>
            </c:multiLvlStrRef>
          </c:cat>
          <c:val>
            <c:numRef>
              <c:f>Sheet1!$D$2:$D$4</c:f>
              <c:numCache>
                <c:formatCode>General</c:formatCode>
                <c:ptCount val="3"/>
                <c:pt idx="0">
                  <c:v>0.72</c:v>
                </c:pt>
                <c:pt idx="1">
                  <c:v>1.53</c:v>
                </c:pt>
                <c:pt idx="2">
                  <c:v>2.33</c:v>
                </c:pt>
              </c:numCache>
            </c:numRef>
          </c:val>
        </c:ser>
        <c:dLbls>
          <c:numFmt formatCode="0.0" sourceLinked="0"/>
          <c:txPr>
            <a:bodyPr/>
            <a:lstStyle/>
            <a:p>
              <a:pPr>
                <a:defRPr b="0" i="0" strike="noStrike" sz="1100" u="none">
                  <a:solidFill>
                    <a:srgbClr val="FFFFFF"/>
                  </a:solidFill>
                  <a:latin typeface="+mn-lt"/>
                </a:defRPr>
              </a:pPr>
            </a:p>
          </c:txPr>
          <c:dLblPos val="ctr"/>
          <c:showLegendKey val="0"/>
          <c:showVal val="1"/>
          <c:showCatName val="0"/>
          <c:showSerName val="0"/>
          <c:showPercent val="0"/>
          <c:showBubbleSize val="0"/>
          <c:showLeaderLines val="0"/>
        </c:dLbls>
        <c:gapWidth val="6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04040"/>
                </a:solidFill>
                <a:latin typeface="+mn-lt"/>
              </a:defRPr>
            </a:pPr>
            <a:endParaRPr lang="en-US"/>
          </a:p>
        </c:txPr>
        <c:crossAx val="2094734552"/>
        <c:crosses val="autoZero"/>
        <c:auto val="1"/>
        <c:lblAlgn val="ctr"/>
        <c:noMultiLvlLbl val="1"/>
      </c:catAx>
      <c:valAx>
        <c:axId val="2094734552"/>
        <c:scaling>
          <c:orientation val="minMax"/>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404040"/>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Malak Philippe Sadek Reiad  (0:30)
Good morning. I am Malak, and with me are Ahmed Rashed, Ali, Ahmed Zaian and Khaled. We are Team 3, and our capstone is an AI-driven predictive maintenance and asset reliability decision-support system for a company that runs heavy equipment, railway signalling, medical equipment, pumps and power systems.
ARABIC BRIEF (say at the end of the slide):
صباح الخير. نحن الفريق الثالث، ومشروعنا نظام لدعم قرارات الصيانة التنبؤية.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Malak Philippe Sadek Reiad  (0:40)
The company records completed maintenance work, but cannot see which assets will fail next, what a failure really costs, or which job comes first. So our decision is: where should maintenance, technician and spare-parts effort go to cut downtime and lost production? We turned it into four executive questions, which the briefing answers in order.
ARABIC BRIEF (say at the end of the slide):
القرار: أين نوجّه جهد الصيانة لتقليل التوقف وخسائر الإنتاج؟</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Malak Philippe Sadek Reiad  (0:45)
We started with the decision, then built measures we can trust. The data had no missing values or duplicates, but we found four issues, such as asset codes that are not real assets and an SLA score that overstates performance. We corrected the measures, not the data. Each member owned one area and we met weekly.
I will now hand over to Ahmed Rashed, who built our Power BI dashboard.
ARABIC BRIEF (say at the end of the slide):
تحققنا من البيانات وصححنا المقاييس. والآن أسلّم الكلمة لأحمد راشد.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Ahmed Fawzy Mohamed Rashed  (1:00)
Thank you, Malak. I am Ahmed Rashed, and I will start with the headline from our dashboard.
Over three years the company spent 50.4 million dollars on maintenance but lost 228.9 million dollars of production while equipment was down. That is four and a half dollars lost for every dollar spent, and about 2,513 dollars for every hour of downtime. An average failure costs about 6,600 dollars to repair but 30,100 dollars in lost output, and 92 percent of the maintenance budget is spent after something has already failed. The dashboard strip shows loss per record staying between 41,500 and 50,000 dollars every quarter.
So the useful question is not how much we spend, but how many downtime hours we prevent.
ARABIC BRIEF (say at the end of the slide):
الخسارة الحقيقية في التوقف وليست في الصيانة: خسائر الإنتاج 228.9 مليون دولار مقابل 50.4 مليون للصيانة، وكل ساعة توقف تكلف نحو 2,513 دولارًا.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Ahmed Fawzy Mohamed Rashed  (2:00)
Let me show you how managers can explore this. I built the dashboard in Power BI as one data model with eight pages, shared filters for year, asset class, criticality and strategy, and a drill-through page.
Live demo: on the Summary page, the KPI cards compare any selection with the whole fleet. If I filter to Critical assets, repair time rises to 16.3 hours and only 29 percent meet the service target. The matrix shows that critical assets under reactive maintenance are the most expensive group. Right-clicking Railway Signalling opens the drill-through page with its records ranked by loss. Finally, the Risk page gives planners the model's watchlist. All rates are calculated from totals, and the data is embedded in the file.
The dashboard shows where the loss sits. To explain why, I will hand over to Ali, who will take you through reliability, repair times and spare parts.
ARABIC BRIEF (say at the end of the slide):
لوحة Power BI من ثماني صفحات تنقلنا من الصورة العامة إلى السجل الذي يحتاج إلى إجراء. والآن أسلّم الكلمة لعلي ليشرح الموثوقية وأوقات الإصلاح وقطع الغيار.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Ali Elraey  (1:30)
Thank you, Ahmed. I am Ali, and my part is reliability, measured by MTBF, the average running time between failures, and MTTR, the average time to repair.
By asset class, Railway Signalling is the weakest, with an MTBF of 273 hours, 25 percent below Biomedical Equipment at 362 hours. But the most important finding is about critical assets. We expected them to fail more often, but they do not: their MTBF is 320 hours, the same as the other tiers. The difference is repair time: 16.3 hours per failure against about 11, and only 29 percent of their jobs meet the service target, against about half for the others.
In numbers: 508 critical failures a year, each taking 5.2 hours longer, add about 2,660 hours of downtime, roughly 6.7 million dollars of lost production every year. So for critical assets the lever is faster repair, not fewer failures.
ARABIC BRIEF (say at the end of the slide):
الأصول الحرجة لا تتعطل أكثر من غيرها، لكن إصلاحها يستغرق 16.3 ساعة، ما يضيف نحو 2,660 ساعة توقف و6.7 مليون دولار سنويًا.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Ali Elraey  (1:30)
Two more patterns. First, maintenance strategy. Reactive maintenance, fixing only after failure, loses about 62,000 dollars per record against about 40,000 for condition-based care. Because strategies are not assigned at random, we adjusted for age, condition, criticality and class, and the gap is still 15 to 17 thousand dollars. Reactive records also fail 58 percent more often and cost more to maintain, about 12,300 dollars against 9,400. The worst group is critical assets under reactive care, at almost 90,000 dollars per record. Second, age: assets older than 12 years have three times the downtime of new ones.
From the procurement side, critical assets receive only 9 cents of spare parts for every dollar of loss, against 12.6 cents for the rest. Closing that gap would cost about 0.8 million dollars a year, and it pays for itself if it prevents about 320 hours of critical downtime. These are associations in synthetic data, so we propose trials, not fleet-wide changes.
These patterns raise a natural question: can we see the risky jobs before they fail? For that, I will hand over to Ahmed Zaian, who will explain how we used AI.
ARABIC BRIEF (say at the end of the slide):
الصيانة التفاعلية هي الأعلى تكلفة، والأصول القديمة تتوقف ثلاثة أضعاف، والأصول الحرجة تحصل على أقل نصيب من قطع الغيار. والآن أسلّم الكلمة لأحمد زيان ليشرح استخدامنا للذكاء الاصطناعي.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Ahmed Abd Elhakam Abd Elfattaah Zaian  (1:00)
Thank you, Ali. I am Ahmed Zaian, and my part is automation and the use of AI. We chose methods only where they answer a business question, and we judged each one against a simple baseline.
To make the test fair, we trained on the first 20 months and tested on the last 16 months, which the models never saw. We also used only information a planner has before a job starts; for example, we excluded the supplied health index because it already contains the outcome. We tested four methods: a risk classification, a downtime regression, a clustering of asset profiles and a simple forecast.
ARABIC BRIEF (say at the end of the slide):
اخترنا أساليب الذكاء الاصطناعي لأنها تجيب عن أسئلة عمل، وقارنا كل نموذج بخط أساس بسيط مع تقسيم زمني ومنع تسرب البيانات.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Ahmed Abd Elhakam Abd Elfattaah Zaian  (0:55)
Let me be honest about three of these methods. The downtime regression improved the error only from 11.8 to 10.2 hours, which is not precise enough for single jobs. The clustering found stable groups, with ageing, degraded assets losing about twice as much, but the groups are not very distinct. And for forecasting, a simple long-run average beat the trend model.
As the brief says, a model that adds little value is still a valid finding, and predicting risk is never the same as saving money.
ARABIC BRIEF (say at the end of the slide):
بعض النماذج لم تضف قيمة كبيرة، وهذه نتيجة صحيحة أيضًا؛ والتنبؤ بالمخاطر لا يعني تحقيق وفورات.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Ahmed Abd Elhakam Abd Elfattaah Zaian  (1:05)
To make this analysis repeatable, we also built a working prototype called Asset Reliability, described in a separate appendix. An orchestrator called Hermes runs specialist agents in four groups: data, analytics, assurance and publishing. They check the data, calculate the same KPIs as our dashboard and draft a report. Every figure is calculated, never written by a language model, and nothing is published until a person approves it. The online demo uses sample data; it supports our analysis and does not replace it.
The one method that clearly added value is the risk classification. I will now hand over to Khaled, who built the risk model and the financial case, and who will take us through to our recommendations.
ARABIC BRIEF (say at the end of the slide):
طورنا نموذجًا أوليًا يحوّل التحليل إلى عملية متكررة مع موافقة بشرية قبل النشر. والآن أسلّم الكلمة لخالد ليعرض نموذج المخاطر والجدوى المالية والتوصيات.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Khaled Abdelnasser Morsi Amer  (1:05)
Thank you, Ahmed. I am Khaled. The risk model predicts which jobs will become high-loss events, the top 20 percent of losses. On the unseen period it scores 0.73, where 0.5 is a coin flip, against 0.61 for a simple rule; a more complex model did no better, so we kept the simple, explainable one.
In the highest tier, 53 percent of jobs became high-loss, against 20 percent overall. The watchlist holds 28 percent of records but 44 percent of all loss, about 99.8 million dollars, and the exception queue shows the jobs it flags first: critical, 13 to 18 years old, with low condition scores. About half of the top alerts are false alarms, so a person must approve every change in priority.
ARABIC BRIEF (say at the end of the slide):
نموذج المخاطر يتفوق على القاعدة البسيطة (0.73 مقابل 0.61)، وقائمة المراقبة تحمل 44% من الخسائر، مع موافقة بشرية.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Khaled Abdelnasser Morsi Amer  (0:50)
What is all this worth? I built a financial simulation from the dataset itself. The baseline is a typical year: about 36,500 downtime hours and 92 million dollars of production loss. We simulated three levers: faster critical repairs with extra spare parts, moving reactive work to condition-based care, and inspecting watchlist jobs. All costs come from the data, for example 342 dollars per inspection, and we ran conservative, expected and optimistic scenarios over three years at a 10 percent discount rate.
ARABIC BRIEF (say at the end of the slide):
بنينا محاكاة مالية من البيانات بثلاث روافع وثلاثة سيناريوهات.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Khaled Abdelnasser Morsi Amer  (1:05)
In the expected scenario the three levers avoid about 2,766 downtime hours a year, 7.6 percent of today's downtime. After costs, the net benefit is about 6.6 million dollars a year and the three-year NPV about 16.3 million, with a range of 2.9 to 11.3 million a year. Faster critical repairs is the biggest lever, about 2.6 million net with a three-month payback, and the watchlist costs only 90 thousand dollars of inspections. These are estimates on synthetic data, not achieved savings.
With the evidence and the financial case in place, I will hand back to Malak, who will present our recommendations and the decision we are asking for.
ARABIC BRIEF (say at the end of the slide):
نتجنب نحو 2,766 ساعة توقف سنويًا بصافي منفعة 6.6 مليون دولار. والآن أعيد الكلمة إلى ملاك لعرض التوصيات.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Malak Philippe Sadek Reiad  (0:40)
Thank you, Khaled. Bringing it together, we make six recommendations, each with an owner: speed up critical repairs, trial condition-based care on older assets, trial the watchlist with human approval, fix the data definitions, budget on downtime hours, and set reserves for large events. Recommendations 1, 4 and 6 need little investment and can start immediately; 2 and 3 should begin as controlled trials, with budget released only if downtime falls against a control group.
ARABIC BRIEF (say at the end of the slide):
ست توصيات لكل منها مسؤول ومؤشر أداء.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Malak Philippe Sadek Reiad  (0:25)
Our request today: approve recommendations 1, 4 and 6 now, and fund a six-month controlled trial judged on downtime hours avoided. On behalf of Team 3, thank you; we welcome your questions.
ARABIC BRIEF (say at the end of the slide):
نطلب الموافقة على التوصيات 1 و4 و6 وتمويل تجربة لستة أشهر. شكرًا لكم.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148840"/>
            <a:ext cx="11064240" cy="1463040"/>
          </a:xfrm>
          <a:prstGeom prst="rect">
            <a:avLst/>
          </a:prstGeom>
          <a:noFill/>
          <a:ln/>
        </p:spPr>
        <p:txBody>
          <a:bodyPr wrap="square" rtlCol="0"/>
          <a:lstStyle>
            <a:lvl1pPr algn="l" indent="0" marL="0">
              <a:buNone/>
              <a:defRPr lang="en-US" sz="3600" b="1" dirty="0">
                <a:solidFill>
                  <a:schemeClr val="tx2"/>
                </a:solidFill>
                <a:latin typeface="Cambria" pitchFamily="34" charset="0"/>
                <a:ea typeface="Cambria" pitchFamily="34" charset="-122"/>
                <a:cs typeface="Cambria" pitchFamily="34" charset="-120"/>
              </a:defRPr>
            </a:lvl1pPr>
          </a:lstStyle>
          <a:p>
            <a:pPr algn="l" indent="0" marL="0">
              <a:buNone/>
            </a:pPr>
            <a:endParaRPr lang="en-US" sz="3600" dirty="0"/>
          </a:p>
        </p:txBody>
      </p:sp>
      <p:sp>
        <p:nvSpPr>
          <p:cNvPr id="3" name="Text 0"/>
          <p:cNvSpPr/>
          <p:nvPr>
            <p:ph idx="101" type="body" hasCustomPrompt="1"/>
          </p:nvPr>
        </p:nvSpPr>
        <p:spPr>
          <a:xfrm>
            <a:off x="548640" y="3657600"/>
            <a:ext cx="11064240" cy="457200"/>
          </a:xfrm>
          <a:prstGeom prst="rect">
            <a:avLst/>
          </a:prstGeom>
          <a:noFill/>
          <a:ln/>
        </p:spPr>
        <p:txBody>
          <a:bodyPr wrap="square" rtlCol="0"/>
          <a:lstStyle>
            <a:lvl1pPr algn="l" indent="0" marL="0">
              <a:buNone/>
              <a:defRPr lang="en-US" sz="1800" i="1" dirty="0">
                <a:solidFill>
                  <a:srgbClr val="595959"/>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502920"/>
            <a:ext cx="11064240" cy="868680"/>
          </a:xfrm>
          <a:prstGeom prst="rect">
            <a:avLst/>
          </a:prstGeom>
          <a:noFill/>
          <a:ln/>
        </p:spPr>
        <p:txBody>
          <a:bodyPr wrap="square" rtlCol="0"/>
          <a:lstStyle>
            <a:lvl1pPr algn="l" indent="0" marL="0">
              <a:buNone/>
              <a:defRPr lang="en-US" sz="2600" b="1" dirty="0">
                <a:solidFill>
                  <a:schemeClr val="tx2"/>
                </a:solidFill>
                <a:latin typeface="Cambria" pitchFamily="34" charset="0"/>
                <a:ea typeface="Cambria" pitchFamily="34" charset="-122"/>
                <a:cs typeface="Cambria" pitchFamily="34" charset="-120"/>
              </a:defRPr>
            </a:lvl1pPr>
          </a:lstStyle>
          <a:p>
            <a:pPr algn="l" indent="0" marL="0">
              <a:buNone/>
            </a:pPr>
            <a:endParaRPr lang="en-US" sz="2600" dirty="0"/>
          </a:p>
        </p:txBody>
      </p:sp>
      <p:sp>
        <p:nvSpPr>
          <p:cNvPr id="3" name="Text 0"/>
          <p:cNvSpPr/>
          <p:nvPr/>
        </p:nvSpPr>
        <p:spPr>
          <a:xfrm>
            <a:off x="548640" y="6473952"/>
            <a:ext cx="8229600" cy="228600"/>
          </a:xfrm>
          <a:prstGeom prst="rect">
            <a:avLst/>
          </a:prstGeom>
          <a:noFill/>
          <a:ln/>
        </p:spPr>
        <p:txBody>
          <a:bodyPr wrap="square" lIns="0" tIns="0" rIns="0" bIns="0" rtlCol="0" anchor="ctr"/>
          <a:lstStyle/>
          <a:p>
            <a:pPr indent="0" marL="0">
              <a:buNone/>
            </a:pPr>
            <a:r>
              <a:rPr lang="en-US" sz="900" dirty="0">
                <a:solidFill>
                  <a:srgbClr val="8C8C8C"/>
                </a:solidFill>
              </a:rPr>
              <a:t>Group 9226 · Team 3 · Data Analytics for AI Business · AASTMT GSB</a:t>
            </a:r>
            <a:endParaRPr lang="en-US" sz="900" dirty="0"/>
          </a:p>
        </p:txBody>
      </p:sp>
      <p:sp>
        <p:nvSpPr>
          <p:cNvPr id="25" name="Slide Number Placeholder 0"/>
          <p:cNvSpPr>
            <a:spLocks noGrp="1"/>
          </p:cNvSpPr>
          <p:nvPr>
            <p:ph type="sldNum" sz="quarter" idx="4294967295"/>
          </p:nvPr>
        </p:nvSpPr>
        <p:spPr>
          <a:xfrm>
            <a:off x="11155680" y="647395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C8C8C"/>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7395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C8C8C"/>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image" Target="../media/image-6-1.jpg"/><Relationship Id="rId4" Type="http://schemas.openxmlformats.org/officeDocument/2006/relationships/slideLayout" Target="../slideLayouts/slideLayout3.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image" Target="../media/image-7-2.jpg"/><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10-2.jpg"/><Relationship Id="rId3" Type="http://schemas.openxmlformats.org/officeDocument/2006/relationships/slideLayout" Target="../slideLayouts/slideLayout3.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chart" Target="/ppt/charts/chart4.xml"/><Relationship Id="rId3" Type="http://schemas.openxmlformats.org/officeDocument/2006/relationships/image" Target="../media/image-11-1.jpg"/><Relationship Id="rId4" Type="http://schemas.openxmlformats.org/officeDocument/2006/relationships/slideLayout" Target="../slideLayouts/slideLayout3.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822960"/>
            <a:ext cx="10972800" cy="320040"/>
          </a:xfrm>
          <a:prstGeom prst="rect">
            <a:avLst/>
          </a:prstGeom>
          <a:noFill/>
          <a:ln/>
        </p:spPr>
        <p:txBody>
          <a:bodyPr wrap="square" lIns="0" tIns="0" rIns="0" bIns="0" rtlCol="0" anchor="t"/>
          <a:lstStyle/>
          <a:p>
            <a:pPr indent="0" marL="0">
              <a:buNone/>
            </a:pPr>
            <a:r>
              <a:rPr lang="en-US" sz="1300" b="1" spc="100" kern="0" dirty="0">
                <a:solidFill>
                  <a:srgbClr val="404040"/>
                </a:solidFill>
              </a:rPr>
              <a:t>ARAB ACADEMY FOR SCIENCE, TECHNOLOGY AND MARITIME TRANSPORT</a:t>
            </a:r>
            <a:endParaRPr lang="en-US" sz="1300" dirty="0"/>
          </a:p>
        </p:txBody>
      </p:sp>
      <p:sp>
        <p:nvSpPr>
          <p:cNvPr id="3" name="Text 1"/>
          <p:cNvSpPr txBox="1"/>
          <p:nvPr/>
        </p:nvSpPr>
        <p:spPr>
          <a:xfrm>
            <a:off x="548640" y="1143000"/>
            <a:ext cx="10972800" cy="320040"/>
          </a:xfrm>
          <a:prstGeom prst="rect">
            <a:avLst/>
          </a:prstGeom>
          <a:noFill/>
          <a:ln/>
        </p:spPr>
        <p:txBody>
          <a:bodyPr wrap="square" lIns="0" tIns="0" rIns="0" bIns="0" rtlCol="0" anchor="t"/>
          <a:lstStyle/>
          <a:p>
            <a:pPr indent="0" marL="0">
              <a:buNone/>
            </a:pPr>
            <a:r>
              <a:rPr lang="en-US" sz="1300" dirty="0">
                <a:solidFill>
                  <a:srgbClr val="595959"/>
                </a:solidFill>
              </a:rPr>
              <a:t>Graduate School of Business (GSB), Miami · Data Analytics for AI Business · Group 9226</a:t>
            </a:r>
            <a:endParaRPr lang="en-US" sz="1300" dirty="0"/>
          </a:p>
        </p:txBody>
      </p:sp>
      <p:sp>
        <p:nvSpPr>
          <p:cNvPr id="4" name="Text 0"/>
          <p:cNvSpPr/>
          <p:nvPr>
            <p:ph idx="100" type="title" hasCustomPrompt="1"/>
          </p:nvPr>
        </p:nvSpPr>
        <p:spPr>
          <a:xfrm>
            <a:off x="548640" y="2148840"/>
            <a:ext cx="11064240" cy="1463040"/>
          </a:xfrm>
          <a:prstGeom prst="rect">
            <a:avLst/>
          </a:prstGeom>
          <a:noFill/>
          <a:ln/>
        </p:spPr>
        <p:txBody>
          <a:bodyPr wrap="square" lIns="0" tIns="0" rIns="0" bIns="0" rtlCol="0" anchor="t"/>
          <a:lstStyle/>
          <a:p>
            <a:pPr algn="l" indent="0" marL="0">
              <a:buNone/>
            </a:pPr>
            <a:r>
              <a:rPr lang="en-US" sz="3600" b="1" dirty="0">
                <a:solidFill>
                  <a:schemeClr val="tx2"/>
                </a:solidFill>
                <a:latin typeface="Cambria" pitchFamily="34" charset="0"/>
                <a:ea typeface="Cambria" pitchFamily="34" charset="-122"/>
                <a:cs typeface="Cambria" pitchFamily="34" charset="-120"/>
              </a:rPr>
              <a:t>AI-Driven Predictive Maintenance and Asset Reliability Decision-Support System</a:t>
            </a:r>
            <a:endParaRPr lang="en-US" sz="3600" dirty="0"/>
          </a:p>
        </p:txBody>
      </p:sp>
      <p:sp>
        <p:nvSpPr>
          <p:cNvPr id="5" name="Text 0"/>
          <p:cNvSpPr/>
          <p:nvPr>
            <p:ph idx="101" type="body" hasCustomPrompt="1"/>
          </p:nvPr>
        </p:nvSpPr>
        <p:spPr>
          <a:xfrm>
            <a:off x="548640" y="3657600"/>
            <a:ext cx="11064240" cy="457200"/>
          </a:xfrm>
          <a:prstGeom prst="rect">
            <a:avLst/>
          </a:prstGeom>
          <a:noFill/>
          <a:ln/>
        </p:spPr>
        <p:txBody>
          <a:bodyPr wrap="square" lIns="0" tIns="0" rIns="0" bIns="0" rtlCol="0"/>
          <a:lstStyle/>
          <a:p>
            <a:pPr algn="l" indent="0" marL="0">
              <a:buNone/>
            </a:pPr>
            <a:r>
              <a:rPr lang="en-US" sz="1800" i="1" dirty="0">
                <a:solidFill>
                  <a:srgbClr val="595959"/>
                </a:solidFill>
              </a:rPr>
              <a:t>Executive briefing · Capstone Project · Team 3</a:t>
            </a:r>
            <a:endParaRPr lang="en-US" sz="1800" dirty="0"/>
          </a:p>
        </p:txBody>
      </p:sp>
      <p:sp>
        <p:nvSpPr>
          <p:cNvPr id="6" name="Text 4"/>
          <p:cNvSpPr txBox="1"/>
          <p:nvPr/>
        </p:nvSpPr>
        <p:spPr>
          <a:xfrm>
            <a:off x="548640" y="4754880"/>
            <a:ext cx="11064240" cy="1371600"/>
          </a:xfrm>
          <a:prstGeom prst="rect">
            <a:avLst/>
          </a:prstGeom>
          <a:noFill/>
          <a:ln/>
        </p:spPr>
        <p:txBody>
          <a:bodyPr wrap="square" lIns="0" tIns="0" rIns="0" bIns="0" rtlCol="0" anchor="t"/>
          <a:lstStyle/>
          <a:p>
            <a:pPr indent="0" marL="0">
              <a:buNone/>
            </a:pPr>
            <a:r>
              <a:rPr lang="en-US" sz="1400" b="1" dirty="0">
                <a:solidFill>
                  <a:srgbClr val="1F3A5F"/>
                </a:solidFill>
              </a:rPr>
              <a:t>Team members</a:t>
            </a:r>
            <a:endParaRPr lang="en-US" sz="1400" dirty="0"/>
          </a:p>
          <a:p>
            <a:pPr indent="0" marL="0">
              <a:buNone/>
            </a:pPr>
            <a:r>
              <a:rPr lang="en-US" sz="1400" dirty="0">
                <a:solidFill>
                  <a:schemeClr val="tx1"/>
                </a:solidFill>
              </a:rPr>
              <a:t>Malak Philippe Sadek Reiad · Ahmed Fawzy Mohamed Rashed · Ahmed Abd Elhakam Abd Elfattaah Zaian · Khaled Abdelnasser Morsi Amer · Ali Elraey</a:t>
            </a:r>
            <a:endParaRPr lang="en-US" sz="1400" dirty="0"/>
          </a:p>
          <a:p>
            <a:pPr indent="0" marL="0">
              <a:buNone/>
            </a:pPr>
            <a:r>
              <a:rPr lang="en-US" sz="600" dirty="0">
                <a:solidFill>
                  <a:schemeClr val="tx1"/>
                </a:solidFill>
              </a:rPr>
              <a:t> </a:t>
            </a:r>
            <a:endParaRPr lang="en-US" sz="1400" dirty="0"/>
          </a:p>
          <a:p>
            <a:pPr indent="0" marL="0">
              <a:buNone/>
            </a:pPr>
            <a:r>
              <a:rPr lang="en-US" sz="1400" b="1" dirty="0">
                <a:solidFill>
                  <a:srgbClr val="1F3A5F"/>
                </a:solidFill>
              </a:rPr>
              <a:t>Instructors</a:t>
            </a:r>
            <a:endParaRPr lang="en-US" sz="1400" dirty="0"/>
          </a:p>
          <a:p>
            <a:pPr indent="0" marL="0">
              <a:buNone/>
            </a:pPr>
            <a:r>
              <a:rPr lang="en-US" sz="1400" dirty="0">
                <a:solidFill>
                  <a:schemeClr val="tx1"/>
                </a:solidFill>
              </a:rPr>
              <a:t>Dr. Yasser Aly Yakout Shehata · Dr. Hossam Daoud · October 2026</a:t>
            </a:r>
            <a:endParaRPr lang="en-US" sz="1400" dirty="0"/>
          </a:p>
        </p:txBody>
      </p:sp>
      <p:sp>
        <p:nvSpPr>
          <p:cNvPr id="7" name="presenter name"/>
          <p:cNvSpPr txBox="1"/>
          <p:nvPr/>
        </p:nvSpPr>
        <p:spPr>
          <a:xfrm>
            <a:off x="6949440" y="164592"/>
            <a:ext cx="4690872" cy="274320"/>
          </a:xfrm>
          <a:prstGeom prst="rect">
            <a:avLst/>
          </a:prstGeom>
          <a:noFill/>
          <a:ln/>
        </p:spPr>
        <p:txBody>
          <a:bodyPr wrap="square" lIns="0" tIns="0" rIns="0" bIns="0" rtlCol="0" anchor="ctr"/>
          <a:lstStyle/>
          <a:p>
            <a:pPr algn="r" indent="0" marL="0">
              <a:buNone/>
            </a:pPr>
            <a:r>
              <a:rPr lang="en-US" sz="1100" dirty="0">
                <a:solidFill>
                  <a:srgbClr val="8C8C8C"/>
                </a:solidFill>
              </a:rPr>
              <a:t>Presenter: </a:t>
            </a:r>
            <a:pPr algn="r" indent="0" marL="0">
              <a:buNone/>
            </a:pPr>
            <a:r>
              <a:rPr lang="en-US" sz="1100" b="1" dirty="0">
                <a:solidFill>
                  <a:srgbClr val="1F3A5F"/>
                </a:solidFill>
              </a:rPr>
              <a:t>Malak Philippe Sadek Reiad</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502920"/>
            <a:ext cx="11064240" cy="868680"/>
          </a:xfrm>
          <a:prstGeom prst="rect">
            <a:avLst/>
          </a:prstGeom>
          <a:noFill/>
          <a:ln/>
        </p:spPr>
        <p:txBody>
          <a:bodyPr wrap="square" lIns="0" tIns="0" rIns="0" bIns="0" rtlCol="0" anchor="t"/>
          <a:lstStyle/>
          <a:p>
            <a:pPr algn="l" indent="0" marL="0">
              <a:buNone/>
            </a:pPr>
            <a:r>
              <a:rPr lang="en-US" sz="2600" b="1" dirty="0">
                <a:solidFill>
                  <a:schemeClr val="tx2"/>
                </a:solidFill>
                <a:latin typeface="Cambria" pitchFamily="34" charset="0"/>
                <a:ea typeface="Cambria" pitchFamily="34" charset="-122"/>
                <a:cs typeface="Cambria" pitchFamily="34" charset="-120"/>
              </a:rPr>
              <a:t>The decision we support: where to focus maintenance effort to cut downtime and lost production</a:t>
            </a:r>
            <a:endParaRPr lang="en-US" sz="2600" dirty="0"/>
          </a:p>
        </p:txBody>
      </p:sp>
      <p:sp>
        <p:nvSpPr>
          <p:cNvPr id="3" name="panel"/>
          <p:cNvSpPr/>
          <p:nvPr/>
        </p:nvSpPr>
        <p:spPr>
          <a:xfrm>
            <a:off x="548640" y="1691640"/>
            <a:ext cx="5120640" cy="2011680"/>
          </a:xfrm>
          <a:prstGeom prst="rect">
            <a:avLst/>
          </a:prstGeom>
          <a:solidFill>
            <a:schemeClr val="bg2"/>
          </a:solidFill>
          <a:ln w="12700">
            <a:solidFill>
              <a:schemeClr val="bg2"/>
            </a:solidFill>
            <a:prstDash val="solid"/>
          </a:ln>
        </p:spPr>
      </p:sp>
      <p:sp>
        <p:nvSpPr>
          <p:cNvPr id="4" name="Text 2"/>
          <p:cNvSpPr txBox="1"/>
          <p:nvPr/>
        </p:nvSpPr>
        <p:spPr>
          <a:xfrm>
            <a:off x="822960" y="1828800"/>
            <a:ext cx="4572000" cy="365760"/>
          </a:xfrm>
          <a:prstGeom prst="rect">
            <a:avLst/>
          </a:prstGeom>
          <a:noFill/>
          <a:ln/>
        </p:spPr>
        <p:txBody>
          <a:bodyPr wrap="square" lIns="0" tIns="0" rIns="0" bIns="0" rtlCol="0" anchor="t"/>
          <a:lstStyle/>
          <a:p>
            <a:pPr indent="0" marL="0">
              <a:buNone/>
            </a:pPr>
            <a:r>
              <a:rPr lang="en-US" sz="1600" b="1" dirty="0">
                <a:solidFill>
                  <a:schemeClr val="tx2"/>
                </a:solidFill>
              </a:rPr>
              <a:t>The problem</a:t>
            </a:r>
            <a:endParaRPr lang="en-US" sz="1600" dirty="0"/>
          </a:p>
        </p:txBody>
      </p:sp>
      <p:sp>
        <p:nvSpPr>
          <p:cNvPr id="5" name="Text 3"/>
          <p:cNvSpPr txBox="1"/>
          <p:nvPr/>
        </p:nvSpPr>
        <p:spPr>
          <a:xfrm>
            <a:off x="822960" y="2240280"/>
            <a:ext cx="4572000" cy="1371600"/>
          </a:xfrm>
          <a:prstGeom prst="rect">
            <a:avLst/>
          </a:prstGeom>
          <a:noFill/>
          <a:ln/>
        </p:spPr>
        <p:txBody>
          <a:bodyPr wrap="square" lIns="0" tIns="0" rIns="0" bIns="0" rtlCol="0" anchor="t"/>
          <a:lstStyle/>
          <a:p>
            <a:pPr indent="0" marL="0">
              <a:buNone/>
            </a:pPr>
            <a:r>
              <a:rPr lang="en-US" sz="1500" dirty="0">
                <a:solidFill>
                  <a:schemeClr val="tx1"/>
                </a:solidFill>
              </a:rPr>
              <a:t>The company records completed maintenance work, but cannot see which assets will fail next, what a failure really costs, or which job should come first.</a:t>
            </a:r>
            <a:endParaRPr lang="en-US" sz="1500" dirty="0"/>
          </a:p>
        </p:txBody>
      </p:sp>
      <p:sp>
        <p:nvSpPr>
          <p:cNvPr id="6" name="Text 4"/>
          <p:cNvSpPr txBox="1"/>
          <p:nvPr/>
        </p:nvSpPr>
        <p:spPr>
          <a:xfrm>
            <a:off x="548640" y="3977640"/>
            <a:ext cx="5120640" cy="365760"/>
          </a:xfrm>
          <a:prstGeom prst="rect">
            <a:avLst/>
          </a:prstGeom>
          <a:noFill/>
          <a:ln/>
        </p:spPr>
        <p:txBody>
          <a:bodyPr wrap="square" lIns="0" tIns="0" rIns="0" bIns="0" rtlCol="0" anchor="t"/>
          <a:lstStyle/>
          <a:p>
            <a:pPr indent="0" marL="0">
              <a:buNone/>
            </a:pPr>
            <a:r>
              <a:rPr lang="en-US" sz="1600" b="1" dirty="0">
                <a:solidFill>
                  <a:schemeClr val="tx2"/>
                </a:solidFill>
              </a:rPr>
              <a:t>Our decision domain</a:t>
            </a:r>
            <a:endParaRPr lang="en-US" sz="1600" dirty="0"/>
          </a:p>
        </p:txBody>
      </p:sp>
      <p:sp>
        <p:nvSpPr>
          <p:cNvPr id="7" name="domain"/>
          <p:cNvSpPr/>
          <p:nvPr/>
        </p:nvSpPr>
        <p:spPr>
          <a:xfrm>
            <a:off x="548640" y="4434840"/>
            <a:ext cx="1600200" cy="438912"/>
          </a:xfrm>
          <a:prstGeom prst="rect">
            <a:avLst/>
          </a:prstGeom>
          <a:solidFill>
            <a:srgbClr val="E8EDF3"/>
          </a:solidFill>
          <a:ln w="12700">
            <a:solidFill>
              <a:srgbClr val="E8EDF3"/>
            </a:solidFill>
            <a:prstDash val="solid"/>
          </a:ln>
        </p:spPr>
      </p:sp>
      <p:sp>
        <p:nvSpPr>
          <p:cNvPr id="8" name="Text 6"/>
          <p:cNvSpPr txBox="1"/>
          <p:nvPr/>
        </p:nvSpPr>
        <p:spPr>
          <a:xfrm>
            <a:off x="548640" y="4434840"/>
            <a:ext cx="1600200" cy="438912"/>
          </a:xfrm>
          <a:prstGeom prst="rect">
            <a:avLst/>
          </a:prstGeom>
          <a:noFill/>
          <a:ln/>
        </p:spPr>
        <p:txBody>
          <a:bodyPr wrap="square" lIns="0" tIns="0" rIns="0" bIns="0" rtlCol="0" anchor="ctr"/>
          <a:lstStyle/>
          <a:p>
            <a:pPr algn="ctr" indent="0" marL="0">
              <a:buNone/>
            </a:pPr>
            <a:r>
              <a:rPr lang="en-US" sz="1300" b="1" dirty="0">
                <a:solidFill>
                  <a:srgbClr val="1F3A5F"/>
                </a:solidFill>
              </a:rPr>
              <a:t>Condition</a:t>
            </a:r>
            <a:endParaRPr lang="en-US" sz="1300" dirty="0"/>
          </a:p>
        </p:txBody>
      </p:sp>
      <p:sp>
        <p:nvSpPr>
          <p:cNvPr id="9" name="domain"/>
          <p:cNvSpPr/>
          <p:nvPr/>
        </p:nvSpPr>
        <p:spPr>
          <a:xfrm>
            <a:off x="2286000" y="4434840"/>
            <a:ext cx="1600200" cy="438912"/>
          </a:xfrm>
          <a:prstGeom prst="rect">
            <a:avLst/>
          </a:prstGeom>
          <a:solidFill>
            <a:srgbClr val="E8EDF3"/>
          </a:solidFill>
          <a:ln w="12700">
            <a:solidFill>
              <a:srgbClr val="E8EDF3"/>
            </a:solidFill>
            <a:prstDash val="solid"/>
          </a:ln>
        </p:spPr>
      </p:sp>
      <p:sp>
        <p:nvSpPr>
          <p:cNvPr id="10" name="Text 8"/>
          <p:cNvSpPr txBox="1"/>
          <p:nvPr/>
        </p:nvSpPr>
        <p:spPr>
          <a:xfrm>
            <a:off x="2286000" y="4434840"/>
            <a:ext cx="1600200" cy="438912"/>
          </a:xfrm>
          <a:prstGeom prst="rect">
            <a:avLst/>
          </a:prstGeom>
          <a:noFill/>
          <a:ln/>
        </p:spPr>
        <p:txBody>
          <a:bodyPr wrap="square" lIns="0" tIns="0" rIns="0" bIns="0" rtlCol="0" anchor="ctr"/>
          <a:lstStyle/>
          <a:p>
            <a:pPr algn="ctr" indent="0" marL="0">
              <a:buNone/>
            </a:pPr>
            <a:r>
              <a:rPr lang="en-US" sz="1300" b="1" dirty="0">
                <a:solidFill>
                  <a:srgbClr val="1F3A5F"/>
                </a:solidFill>
              </a:rPr>
              <a:t>Failures</a:t>
            </a:r>
            <a:endParaRPr lang="en-US" sz="1300" dirty="0"/>
          </a:p>
        </p:txBody>
      </p:sp>
      <p:sp>
        <p:nvSpPr>
          <p:cNvPr id="11" name="domain"/>
          <p:cNvSpPr/>
          <p:nvPr/>
        </p:nvSpPr>
        <p:spPr>
          <a:xfrm>
            <a:off x="4023360" y="4434840"/>
            <a:ext cx="1600200" cy="438912"/>
          </a:xfrm>
          <a:prstGeom prst="rect">
            <a:avLst/>
          </a:prstGeom>
          <a:solidFill>
            <a:srgbClr val="E8EDF3"/>
          </a:solidFill>
          <a:ln w="12700">
            <a:solidFill>
              <a:srgbClr val="E8EDF3"/>
            </a:solidFill>
            <a:prstDash val="solid"/>
          </a:ln>
        </p:spPr>
      </p:sp>
      <p:sp>
        <p:nvSpPr>
          <p:cNvPr id="12" name="Text 10"/>
          <p:cNvSpPr txBox="1"/>
          <p:nvPr/>
        </p:nvSpPr>
        <p:spPr>
          <a:xfrm>
            <a:off x="4023360" y="4434840"/>
            <a:ext cx="1600200" cy="438912"/>
          </a:xfrm>
          <a:prstGeom prst="rect">
            <a:avLst/>
          </a:prstGeom>
          <a:noFill/>
          <a:ln/>
        </p:spPr>
        <p:txBody>
          <a:bodyPr wrap="square" lIns="0" tIns="0" rIns="0" bIns="0" rtlCol="0" anchor="ctr"/>
          <a:lstStyle/>
          <a:p>
            <a:pPr algn="ctr" indent="0" marL="0">
              <a:buNone/>
            </a:pPr>
            <a:r>
              <a:rPr lang="en-US" sz="1300" b="1" dirty="0">
                <a:solidFill>
                  <a:srgbClr val="1F3A5F"/>
                </a:solidFill>
              </a:rPr>
              <a:t>Work orders</a:t>
            </a:r>
            <a:endParaRPr lang="en-US" sz="1300" dirty="0"/>
          </a:p>
        </p:txBody>
      </p:sp>
      <p:sp>
        <p:nvSpPr>
          <p:cNvPr id="13" name="domain"/>
          <p:cNvSpPr/>
          <p:nvPr/>
        </p:nvSpPr>
        <p:spPr>
          <a:xfrm>
            <a:off x="548640" y="5001768"/>
            <a:ext cx="1600200" cy="438912"/>
          </a:xfrm>
          <a:prstGeom prst="rect">
            <a:avLst/>
          </a:prstGeom>
          <a:solidFill>
            <a:srgbClr val="E8EDF3"/>
          </a:solidFill>
          <a:ln w="12700">
            <a:solidFill>
              <a:srgbClr val="E8EDF3"/>
            </a:solidFill>
            <a:prstDash val="solid"/>
          </a:ln>
        </p:spPr>
      </p:sp>
      <p:sp>
        <p:nvSpPr>
          <p:cNvPr id="14" name="Text 12"/>
          <p:cNvSpPr txBox="1"/>
          <p:nvPr/>
        </p:nvSpPr>
        <p:spPr>
          <a:xfrm>
            <a:off x="548640" y="5001768"/>
            <a:ext cx="1600200" cy="438912"/>
          </a:xfrm>
          <a:prstGeom prst="rect">
            <a:avLst/>
          </a:prstGeom>
          <a:noFill/>
          <a:ln/>
        </p:spPr>
        <p:txBody>
          <a:bodyPr wrap="square" lIns="0" tIns="0" rIns="0" bIns="0" rtlCol="0" anchor="ctr"/>
          <a:lstStyle/>
          <a:p>
            <a:pPr algn="ctr" indent="0" marL="0">
              <a:buNone/>
            </a:pPr>
            <a:r>
              <a:rPr lang="en-US" sz="1300" b="1" dirty="0">
                <a:solidFill>
                  <a:srgbClr val="1F3A5F"/>
                </a:solidFill>
              </a:rPr>
              <a:t>Downtime</a:t>
            </a:r>
            <a:endParaRPr lang="en-US" sz="1300" dirty="0"/>
          </a:p>
        </p:txBody>
      </p:sp>
      <p:sp>
        <p:nvSpPr>
          <p:cNvPr id="15" name="domain"/>
          <p:cNvSpPr/>
          <p:nvPr/>
        </p:nvSpPr>
        <p:spPr>
          <a:xfrm>
            <a:off x="2286000" y="5001768"/>
            <a:ext cx="1600200" cy="438912"/>
          </a:xfrm>
          <a:prstGeom prst="rect">
            <a:avLst/>
          </a:prstGeom>
          <a:solidFill>
            <a:srgbClr val="E8EDF3"/>
          </a:solidFill>
          <a:ln w="12700">
            <a:solidFill>
              <a:srgbClr val="E8EDF3"/>
            </a:solidFill>
            <a:prstDash val="solid"/>
          </a:ln>
        </p:spPr>
      </p:sp>
      <p:sp>
        <p:nvSpPr>
          <p:cNvPr id="16" name="Text 14"/>
          <p:cNvSpPr txBox="1"/>
          <p:nvPr/>
        </p:nvSpPr>
        <p:spPr>
          <a:xfrm>
            <a:off x="2286000" y="5001768"/>
            <a:ext cx="1600200" cy="438912"/>
          </a:xfrm>
          <a:prstGeom prst="rect">
            <a:avLst/>
          </a:prstGeom>
          <a:noFill/>
          <a:ln/>
        </p:spPr>
        <p:txBody>
          <a:bodyPr wrap="square" lIns="0" tIns="0" rIns="0" bIns="0" rtlCol="0" anchor="ctr"/>
          <a:lstStyle/>
          <a:p>
            <a:pPr algn="ctr" indent="0" marL="0">
              <a:buNone/>
            </a:pPr>
            <a:r>
              <a:rPr lang="en-US" sz="1300" b="1" dirty="0">
                <a:solidFill>
                  <a:srgbClr val="1F3A5F"/>
                </a:solidFill>
              </a:rPr>
              <a:t>Economic impact</a:t>
            </a:r>
            <a:endParaRPr lang="en-US" sz="1300" dirty="0"/>
          </a:p>
        </p:txBody>
      </p:sp>
      <p:sp>
        <p:nvSpPr>
          <p:cNvPr id="17" name="Text 15"/>
          <p:cNvSpPr txBox="1"/>
          <p:nvPr/>
        </p:nvSpPr>
        <p:spPr>
          <a:xfrm>
            <a:off x="6309360" y="1691640"/>
            <a:ext cx="5303520" cy="365760"/>
          </a:xfrm>
          <a:prstGeom prst="rect">
            <a:avLst/>
          </a:prstGeom>
          <a:noFill/>
          <a:ln/>
        </p:spPr>
        <p:txBody>
          <a:bodyPr wrap="square" lIns="0" tIns="0" rIns="0" bIns="0" rtlCol="0" anchor="t"/>
          <a:lstStyle/>
          <a:p>
            <a:pPr indent="0" marL="0">
              <a:buNone/>
            </a:pPr>
            <a:r>
              <a:rPr lang="en-US" sz="1600" b="1" dirty="0">
                <a:solidFill>
                  <a:schemeClr val="tx2"/>
                </a:solidFill>
              </a:rPr>
              <a:t>Four executive questions</a:t>
            </a:r>
            <a:endParaRPr lang="en-US" sz="1600" dirty="0"/>
          </a:p>
        </p:txBody>
      </p:sp>
      <p:sp>
        <p:nvSpPr>
          <p:cNvPr id="18" name="Text 16"/>
          <p:cNvSpPr txBox="1"/>
          <p:nvPr/>
        </p:nvSpPr>
        <p:spPr>
          <a:xfrm>
            <a:off x="6309360" y="2194560"/>
            <a:ext cx="548640" cy="411480"/>
          </a:xfrm>
          <a:prstGeom prst="rect">
            <a:avLst/>
          </a:prstGeom>
          <a:noFill/>
          <a:ln/>
        </p:spPr>
        <p:txBody>
          <a:bodyPr wrap="square" lIns="0" tIns="0" rIns="0" bIns="0" rtlCol="0" anchor="t"/>
          <a:lstStyle/>
          <a:p>
            <a:pPr indent="0" marL="0">
              <a:buNone/>
            </a:pPr>
            <a:r>
              <a:rPr lang="en-US" sz="2000" b="1" dirty="0">
                <a:solidFill>
                  <a:schemeClr val="accent2"/>
                </a:solidFill>
                <a:latin typeface="Cambria" pitchFamily="34" charset="0"/>
                <a:ea typeface="Cambria" pitchFamily="34" charset="-122"/>
                <a:cs typeface="Cambria" pitchFamily="34" charset="-120"/>
              </a:rPr>
              <a:t>Q1</a:t>
            </a:r>
            <a:endParaRPr lang="en-US" sz="2000" dirty="0"/>
          </a:p>
        </p:txBody>
      </p:sp>
      <p:sp>
        <p:nvSpPr>
          <p:cNvPr id="19" name="Text 17"/>
          <p:cNvSpPr txBox="1"/>
          <p:nvPr/>
        </p:nvSpPr>
        <p:spPr>
          <a:xfrm>
            <a:off x="6903720" y="2194560"/>
            <a:ext cx="4709160" cy="502920"/>
          </a:xfrm>
          <a:prstGeom prst="rect">
            <a:avLst/>
          </a:prstGeom>
          <a:noFill/>
          <a:ln/>
        </p:spPr>
        <p:txBody>
          <a:bodyPr wrap="square" lIns="0" tIns="0" rIns="0" bIns="0" rtlCol="0" anchor="t"/>
          <a:lstStyle/>
          <a:p>
            <a:pPr indent="0" marL="0">
              <a:buNone/>
            </a:pPr>
            <a:r>
              <a:rPr lang="en-US" sz="1500" dirty="0">
                <a:solidFill>
                  <a:schemeClr val="tx1"/>
                </a:solidFill>
              </a:rPr>
              <a:t>How large is the cost of downtime compared with maintenance spending?</a:t>
            </a:r>
            <a:endParaRPr lang="en-US" sz="1500" dirty="0"/>
          </a:p>
        </p:txBody>
      </p:sp>
      <p:sp>
        <p:nvSpPr>
          <p:cNvPr id="20" name="Text 18"/>
          <p:cNvSpPr txBox="1"/>
          <p:nvPr/>
        </p:nvSpPr>
        <p:spPr>
          <a:xfrm>
            <a:off x="6903720" y="2697480"/>
            <a:ext cx="4709160" cy="274320"/>
          </a:xfrm>
          <a:prstGeom prst="rect">
            <a:avLst/>
          </a:prstGeom>
          <a:noFill/>
          <a:ln/>
        </p:spPr>
        <p:txBody>
          <a:bodyPr wrap="square" lIns="0" tIns="0" rIns="0" bIns="0" rtlCol="0" anchor="t"/>
          <a:lstStyle/>
          <a:p>
            <a:pPr indent="0" marL="0">
              <a:buNone/>
            </a:pPr>
            <a:r>
              <a:rPr lang="en-US" sz="1200" i="1" dirty="0">
                <a:solidFill>
                  <a:srgbClr val="6B6B6B"/>
                </a:solidFill>
              </a:rPr>
              <a:t>Decision: Budget basis</a:t>
            </a:r>
            <a:endParaRPr lang="en-US" sz="1200" dirty="0"/>
          </a:p>
        </p:txBody>
      </p:sp>
      <p:sp>
        <p:nvSpPr>
          <p:cNvPr id="21" name="Text 19"/>
          <p:cNvSpPr txBox="1"/>
          <p:nvPr/>
        </p:nvSpPr>
        <p:spPr>
          <a:xfrm>
            <a:off x="6309360" y="3136392"/>
            <a:ext cx="548640" cy="411480"/>
          </a:xfrm>
          <a:prstGeom prst="rect">
            <a:avLst/>
          </a:prstGeom>
          <a:noFill/>
          <a:ln/>
        </p:spPr>
        <p:txBody>
          <a:bodyPr wrap="square" lIns="0" tIns="0" rIns="0" bIns="0" rtlCol="0" anchor="t"/>
          <a:lstStyle/>
          <a:p>
            <a:pPr indent="0" marL="0">
              <a:buNone/>
            </a:pPr>
            <a:r>
              <a:rPr lang="en-US" sz="2000" b="1" dirty="0">
                <a:solidFill>
                  <a:schemeClr val="accent2"/>
                </a:solidFill>
                <a:latin typeface="Cambria" pitchFamily="34" charset="0"/>
                <a:ea typeface="Cambria" pitchFamily="34" charset="-122"/>
                <a:cs typeface="Cambria" pitchFamily="34" charset="-120"/>
              </a:rPr>
              <a:t>Q2</a:t>
            </a:r>
            <a:endParaRPr lang="en-US" sz="2000" dirty="0"/>
          </a:p>
        </p:txBody>
      </p:sp>
      <p:sp>
        <p:nvSpPr>
          <p:cNvPr id="22" name="Text 20"/>
          <p:cNvSpPr txBox="1"/>
          <p:nvPr/>
        </p:nvSpPr>
        <p:spPr>
          <a:xfrm>
            <a:off x="6903720" y="3136392"/>
            <a:ext cx="4709160" cy="502920"/>
          </a:xfrm>
          <a:prstGeom prst="rect">
            <a:avLst/>
          </a:prstGeom>
          <a:noFill/>
          <a:ln/>
        </p:spPr>
        <p:txBody>
          <a:bodyPr wrap="square" lIns="0" tIns="0" rIns="0" bIns="0" rtlCol="0" anchor="t"/>
          <a:lstStyle/>
          <a:p>
            <a:pPr indent="0" marL="0">
              <a:buNone/>
            </a:pPr>
            <a:r>
              <a:rPr lang="en-US" sz="1500" dirty="0">
                <a:solidFill>
                  <a:schemeClr val="tx1"/>
                </a:solidFill>
              </a:rPr>
              <a:t>Which assets, criticality levels and strategies concentrate the loss?</a:t>
            </a:r>
            <a:endParaRPr lang="en-US" sz="1500" dirty="0"/>
          </a:p>
        </p:txBody>
      </p:sp>
      <p:sp>
        <p:nvSpPr>
          <p:cNvPr id="23" name="Text 21"/>
          <p:cNvSpPr txBox="1"/>
          <p:nvPr/>
        </p:nvSpPr>
        <p:spPr>
          <a:xfrm>
            <a:off x="6903720" y="3639312"/>
            <a:ext cx="4709160" cy="274320"/>
          </a:xfrm>
          <a:prstGeom prst="rect">
            <a:avLst/>
          </a:prstGeom>
          <a:noFill/>
          <a:ln/>
        </p:spPr>
        <p:txBody>
          <a:bodyPr wrap="square" lIns="0" tIns="0" rIns="0" bIns="0" rtlCol="0" anchor="t"/>
          <a:lstStyle/>
          <a:p>
            <a:pPr indent="0" marL="0">
              <a:buNone/>
            </a:pPr>
            <a:r>
              <a:rPr lang="en-US" sz="1200" i="1" dirty="0">
                <a:solidFill>
                  <a:srgbClr val="6B6B6B"/>
                </a:solidFill>
              </a:rPr>
              <a:t>Decision: Where to focus</a:t>
            </a:r>
            <a:endParaRPr lang="en-US" sz="1200" dirty="0"/>
          </a:p>
        </p:txBody>
      </p:sp>
      <p:sp>
        <p:nvSpPr>
          <p:cNvPr id="24" name="Text 22"/>
          <p:cNvSpPr txBox="1"/>
          <p:nvPr/>
        </p:nvSpPr>
        <p:spPr>
          <a:xfrm>
            <a:off x="6309360" y="4078224"/>
            <a:ext cx="548640" cy="411480"/>
          </a:xfrm>
          <a:prstGeom prst="rect">
            <a:avLst/>
          </a:prstGeom>
          <a:noFill/>
          <a:ln/>
        </p:spPr>
        <p:txBody>
          <a:bodyPr wrap="square" lIns="0" tIns="0" rIns="0" bIns="0" rtlCol="0" anchor="t"/>
          <a:lstStyle/>
          <a:p>
            <a:pPr indent="0" marL="0">
              <a:buNone/>
            </a:pPr>
            <a:r>
              <a:rPr lang="en-US" sz="2000" b="1" dirty="0">
                <a:solidFill>
                  <a:schemeClr val="accent2"/>
                </a:solidFill>
                <a:latin typeface="Cambria" pitchFamily="34" charset="0"/>
                <a:ea typeface="Cambria" pitchFamily="34" charset="-122"/>
                <a:cs typeface="Cambria" pitchFamily="34" charset="-120"/>
              </a:rPr>
              <a:t>Q3</a:t>
            </a:r>
            <a:endParaRPr lang="en-US" sz="2000" dirty="0"/>
          </a:p>
        </p:txBody>
      </p:sp>
      <p:sp>
        <p:nvSpPr>
          <p:cNvPr id="25" name="Text 23"/>
          <p:cNvSpPr txBox="1"/>
          <p:nvPr/>
        </p:nvSpPr>
        <p:spPr>
          <a:xfrm>
            <a:off x="6903720" y="4078224"/>
            <a:ext cx="4709160" cy="502920"/>
          </a:xfrm>
          <a:prstGeom prst="rect">
            <a:avLst/>
          </a:prstGeom>
          <a:noFill/>
          <a:ln/>
        </p:spPr>
        <p:txBody>
          <a:bodyPr wrap="square" lIns="0" tIns="0" rIns="0" bIns="0" rtlCol="0" anchor="t"/>
          <a:lstStyle/>
          <a:p>
            <a:pPr indent="0" marL="0">
              <a:buNone/>
            </a:pPr>
            <a:r>
              <a:rPr lang="en-US" sz="1500" dirty="0">
                <a:solidFill>
                  <a:schemeClr val="tx1"/>
                </a:solidFill>
              </a:rPr>
              <a:t>Which conditions give early warning of failure?</a:t>
            </a:r>
            <a:endParaRPr lang="en-US" sz="1500" dirty="0"/>
          </a:p>
        </p:txBody>
      </p:sp>
      <p:sp>
        <p:nvSpPr>
          <p:cNvPr id="26" name="Text 24"/>
          <p:cNvSpPr txBox="1"/>
          <p:nvPr/>
        </p:nvSpPr>
        <p:spPr>
          <a:xfrm>
            <a:off x="6903720" y="4581144"/>
            <a:ext cx="4709160" cy="274320"/>
          </a:xfrm>
          <a:prstGeom prst="rect">
            <a:avLst/>
          </a:prstGeom>
          <a:noFill/>
          <a:ln/>
        </p:spPr>
        <p:txBody>
          <a:bodyPr wrap="square" lIns="0" tIns="0" rIns="0" bIns="0" rtlCol="0" anchor="t"/>
          <a:lstStyle/>
          <a:p>
            <a:pPr indent="0" marL="0">
              <a:buNone/>
            </a:pPr>
            <a:r>
              <a:rPr lang="en-US" sz="1200" i="1" dirty="0">
                <a:solidFill>
                  <a:srgbClr val="6B6B6B"/>
                </a:solidFill>
              </a:rPr>
              <a:t>Decision: When to inspect</a:t>
            </a:r>
            <a:endParaRPr lang="en-US" sz="1200" dirty="0"/>
          </a:p>
        </p:txBody>
      </p:sp>
      <p:sp>
        <p:nvSpPr>
          <p:cNvPr id="27" name="Text 25"/>
          <p:cNvSpPr txBox="1"/>
          <p:nvPr/>
        </p:nvSpPr>
        <p:spPr>
          <a:xfrm>
            <a:off x="6309360" y="5020056"/>
            <a:ext cx="548640" cy="411480"/>
          </a:xfrm>
          <a:prstGeom prst="rect">
            <a:avLst/>
          </a:prstGeom>
          <a:noFill/>
          <a:ln/>
        </p:spPr>
        <p:txBody>
          <a:bodyPr wrap="square" lIns="0" tIns="0" rIns="0" bIns="0" rtlCol="0" anchor="t"/>
          <a:lstStyle/>
          <a:p>
            <a:pPr indent="0" marL="0">
              <a:buNone/>
            </a:pPr>
            <a:r>
              <a:rPr lang="en-US" sz="2000" b="1" dirty="0">
                <a:solidFill>
                  <a:schemeClr val="accent2"/>
                </a:solidFill>
                <a:latin typeface="Cambria" pitchFamily="34" charset="0"/>
                <a:ea typeface="Cambria" pitchFamily="34" charset="-122"/>
                <a:cs typeface="Cambria" pitchFamily="34" charset="-120"/>
              </a:rPr>
              <a:t>Q4</a:t>
            </a:r>
            <a:endParaRPr lang="en-US" sz="2000" dirty="0"/>
          </a:p>
        </p:txBody>
      </p:sp>
      <p:sp>
        <p:nvSpPr>
          <p:cNvPr id="28" name="Text 26"/>
          <p:cNvSpPr txBox="1"/>
          <p:nvPr/>
        </p:nvSpPr>
        <p:spPr>
          <a:xfrm>
            <a:off x="6903720" y="5020056"/>
            <a:ext cx="4709160" cy="502920"/>
          </a:xfrm>
          <a:prstGeom prst="rect">
            <a:avLst/>
          </a:prstGeom>
          <a:noFill/>
          <a:ln/>
        </p:spPr>
        <p:txBody>
          <a:bodyPr wrap="square" lIns="0" tIns="0" rIns="0" bIns="0" rtlCol="0" anchor="t"/>
          <a:lstStyle/>
          <a:p>
            <a:pPr indent="0" marL="0">
              <a:buNone/>
            </a:pPr>
            <a:r>
              <a:rPr lang="en-US" sz="1500" dirty="0">
                <a:solidFill>
                  <a:schemeClr val="tx1"/>
                </a:solidFill>
              </a:rPr>
              <a:t>Can a model rank risk better than a simple rule?</a:t>
            </a:r>
            <a:endParaRPr lang="en-US" sz="1500" dirty="0"/>
          </a:p>
        </p:txBody>
      </p:sp>
      <p:sp>
        <p:nvSpPr>
          <p:cNvPr id="29" name="Text 27"/>
          <p:cNvSpPr txBox="1"/>
          <p:nvPr/>
        </p:nvSpPr>
        <p:spPr>
          <a:xfrm>
            <a:off x="6903720" y="5522976"/>
            <a:ext cx="4709160" cy="274320"/>
          </a:xfrm>
          <a:prstGeom prst="rect">
            <a:avLst/>
          </a:prstGeom>
          <a:noFill/>
          <a:ln/>
        </p:spPr>
        <p:txBody>
          <a:bodyPr wrap="square" lIns="0" tIns="0" rIns="0" bIns="0" rtlCol="0" anchor="t"/>
          <a:lstStyle/>
          <a:p>
            <a:pPr indent="0" marL="0">
              <a:buNone/>
            </a:pPr>
            <a:r>
              <a:rPr lang="en-US" sz="1200" i="1" dirty="0">
                <a:solidFill>
                  <a:srgbClr val="6B6B6B"/>
                </a:solidFill>
              </a:rPr>
              <a:t>Decision: Whether to use a watchlist</a:t>
            </a:r>
            <a:endParaRPr lang="en-US" sz="1200" dirty="0"/>
          </a:p>
        </p:txBody>
      </p:sp>
      <p:sp>
        <p:nvSpPr>
          <p:cNvPr id="30" name="presenter name"/>
          <p:cNvSpPr txBox="1"/>
          <p:nvPr/>
        </p:nvSpPr>
        <p:spPr>
          <a:xfrm>
            <a:off x="6949440" y="164592"/>
            <a:ext cx="4690872" cy="274320"/>
          </a:xfrm>
          <a:prstGeom prst="rect">
            <a:avLst/>
          </a:prstGeom>
          <a:noFill/>
          <a:ln/>
        </p:spPr>
        <p:txBody>
          <a:bodyPr wrap="square" lIns="0" tIns="0" rIns="0" bIns="0" rtlCol="0" anchor="ctr"/>
          <a:lstStyle/>
          <a:p>
            <a:pPr algn="r" indent="0" marL="0">
              <a:buNone/>
            </a:pPr>
            <a:r>
              <a:rPr lang="en-US" sz="1100" dirty="0">
                <a:solidFill>
                  <a:srgbClr val="8C8C8C"/>
                </a:solidFill>
              </a:rPr>
              <a:t>Presenter: </a:t>
            </a:r>
            <a:pPr algn="r" indent="0" marL="0">
              <a:buNone/>
            </a:pPr>
            <a:r>
              <a:rPr lang="en-US" sz="1100" b="1" dirty="0">
                <a:solidFill>
                  <a:srgbClr val="1F3A5F"/>
                </a:solidFill>
              </a:rPr>
              <a:t>Malak Philippe Sadek Reiad</a:t>
            </a:r>
            <a:endParaRPr lang="en-US" sz="1100" dirty="0"/>
          </a:p>
        </p:txBody>
      </p:sp>
      <p:sp>
        <p:nvSpPr>
          <p:cNvPr id="25" name="Slide Number Placeholder 0"/>
          <p:cNvSpPr>
            <a:spLocks noGrp="1"/>
          </p:cNvSpPr>
          <p:nvPr>
            <p:ph type="sldNum" sz="quarter" idx="4294967295"/>
          </p:nvPr>
        </p:nvSpPr>
        <p:spPr>
          <a:xfrm>
            <a:off x="11155680" y="647395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C8C8C"/>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502920"/>
            <a:ext cx="11064240" cy="868680"/>
          </a:xfrm>
          <a:prstGeom prst="rect">
            <a:avLst/>
          </a:prstGeom>
          <a:noFill/>
          <a:ln/>
        </p:spPr>
        <p:txBody>
          <a:bodyPr wrap="square" lIns="0" tIns="0" rIns="0" bIns="0" rtlCol="0" anchor="t"/>
          <a:lstStyle/>
          <a:p>
            <a:pPr algn="l" indent="0" marL="0">
              <a:buNone/>
            </a:pPr>
            <a:r>
              <a:rPr lang="en-US" sz="2600" b="1" dirty="0">
                <a:solidFill>
                  <a:schemeClr val="tx2"/>
                </a:solidFill>
                <a:latin typeface="Cambria" pitchFamily="34" charset="0"/>
                <a:ea typeface="Cambria" pitchFamily="34" charset="-122"/>
                <a:cs typeface="Cambria" pitchFamily="34" charset="-120"/>
              </a:rPr>
              <a:t>We started with the decision, then built measures we can trust</a:t>
            </a:r>
            <a:endParaRPr lang="en-US" sz="2600" dirty="0"/>
          </a:p>
        </p:txBody>
      </p:sp>
      <p:sp>
        <p:nvSpPr>
          <p:cNvPr id="3" name="panel"/>
          <p:cNvSpPr/>
          <p:nvPr/>
        </p:nvSpPr>
        <p:spPr>
          <a:xfrm>
            <a:off x="548640" y="1691640"/>
            <a:ext cx="2651760" cy="1417320"/>
          </a:xfrm>
          <a:prstGeom prst="rect">
            <a:avLst/>
          </a:prstGeom>
          <a:solidFill>
            <a:schemeClr val="bg2"/>
          </a:solidFill>
          <a:ln w="12700">
            <a:solidFill>
              <a:schemeClr val="bg2"/>
            </a:solidFill>
            <a:prstDash val="solid"/>
          </a:ln>
        </p:spPr>
      </p:sp>
      <p:sp>
        <p:nvSpPr>
          <p:cNvPr id="4" name="Text 2"/>
          <p:cNvSpPr txBox="1"/>
          <p:nvPr/>
        </p:nvSpPr>
        <p:spPr>
          <a:xfrm>
            <a:off x="731520" y="1828800"/>
            <a:ext cx="457200" cy="457200"/>
          </a:xfrm>
          <a:prstGeom prst="rect">
            <a:avLst/>
          </a:prstGeom>
          <a:noFill/>
          <a:ln/>
        </p:spPr>
        <p:txBody>
          <a:bodyPr wrap="square" lIns="0" tIns="0" rIns="0" bIns="0" rtlCol="0" anchor="t"/>
          <a:lstStyle/>
          <a:p>
            <a:pPr indent="0" marL="0">
              <a:buNone/>
            </a:pPr>
            <a:r>
              <a:rPr lang="en-US" sz="2400" b="1" dirty="0">
                <a:solidFill>
                  <a:schemeClr val="accent2"/>
                </a:solidFill>
                <a:latin typeface="Cambria" pitchFamily="34" charset="0"/>
                <a:ea typeface="Cambria" pitchFamily="34" charset="-122"/>
                <a:cs typeface="Cambria" pitchFamily="34" charset="-120"/>
              </a:rPr>
              <a:t>1</a:t>
            </a:r>
            <a:endParaRPr lang="en-US" sz="2400" dirty="0"/>
          </a:p>
        </p:txBody>
      </p:sp>
      <p:sp>
        <p:nvSpPr>
          <p:cNvPr id="5" name="Text 3"/>
          <p:cNvSpPr txBox="1"/>
          <p:nvPr/>
        </p:nvSpPr>
        <p:spPr>
          <a:xfrm>
            <a:off x="1188720" y="1856232"/>
            <a:ext cx="1828800" cy="365760"/>
          </a:xfrm>
          <a:prstGeom prst="rect">
            <a:avLst/>
          </a:prstGeom>
          <a:noFill/>
          <a:ln/>
        </p:spPr>
        <p:txBody>
          <a:bodyPr wrap="square" lIns="0" tIns="0" rIns="0" bIns="0" rtlCol="0" anchor="t"/>
          <a:lstStyle/>
          <a:p>
            <a:pPr indent="0" marL="0">
              <a:buNone/>
            </a:pPr>
            <a:r>
              <a:rPr lang="en-US" sz="1500" b="1" dirty="0">
                <a:solidFill>
                  <a:schemeClr val="tx2"/>
                </a:solidFill>
              </a:rPr>
              <a:t>Questions</a:t>
            </a:r>
            <a:endParaRPr lang="en-US" sz="1500" dirty="0"/>
          </a:p>
        </p:txBody>
      </p:sp>
      <p:sp>
        <p:nvSpPr>
          <p:cNvPr id="6" name="Text 4"/>
          <p:cNvSpPr txBox="1"/>
          <p:nvPr/>
        </p:nvSpPr>
        <p:spPr>
          <a:xfrm>
            <a:off x="1188720" y="2240280"/>
            <a:ext cx="1828800" cy="822960"/>
          </a:xfrm>
          <a:prstGeom prst="rect">
            <a:avLst/>
          </a:prstGeom>
          <a:noFill/>
          <a:ln/>
        </p:spPr>
        <p:txBody>
          <a:bodyPr wrap="square" lIns="0" tIns="0" rIns="0" bIns="0" rtlCol="0" anchor="t"/>
          <a:lstStyle/>
          <a:p>
            <a:pPr indent="0" marL="0">
              <a:buNone/>
            </a:pPr>
            <a:r>
              <a:rPr lang="en-US" sz="1250" dirty="0">
                <a:solidFill>
                  <a:srgbClr val="404040"/>
                </a:solidFill>
              </a:rPr>
              <a:t>Decision, stakeholders and eight business questions</a:t>
            </a:r>
            <a:endParaRPr lang="en-US" sz="1250" dirty="0"/>
          </a:p>
        </p:txBody>
      </p:sp>
      <p:sp>
        <p:nvSpPr>
          <p:cNvPr id="7" name="panel"/>
          <p:cNvSpPr/>
          <p:nvPr/>
        </p:nvSpPr>
        <p:spPr>
          <a:xfrm>
            <a:off x="3355848" y="1691640"/>
            <a:ext cx="2651760" cy="1417320"/>
          </a:xfrm>
          <a:prstGeom prst="rect">
            <a:avLst/>
          </a:prstGeom>
          <a:solidFill>
            <a:schemeClr val="bg2"/>
          </a:solidFill>
          <a:ln w="12700">
            <a:solidFill>
              <a:schemeClr val="bg2"/>
            </a:solidFill>
            <a:prstDash val="solid"/>
          </a:ln>
        </p:spPr>
      </p:sp>
      <p:sp>
        <p:nvSpPr>
          <p:cNvPr id="8" name="Text 6"/>
          <p:cNvSpPr txBox="1"/>
          <p:nvPr/>
        </p:nvSpPr>
        <p:spPr>
          <a:xfrm>
            <a:off x="3538728" y="1828800"/>
            <a:ext cx="457200" cy="457200"/>
          </a:xfrm>
          <a:prstGeom prst="rect">
            <a:avLst/>
          </a:prstGeom>
          <a:noFill/>
          <a:ln/>
        </p:spPr>
        <p:txBody>
          <a:bodyPr wrap="square" lIns="0" tIns="0" rIns="0" bIns="0" rtlCol="0" anchor="t"/>
          <a:lstStyle/>
          <a:p>
            <a:pPr indent="0" marL="0">
              <a:buNone/>
            </a:pPr>
            <a:r>
              <a:rPr lang="en-US" sz="2400" b="1" dirty="0">
                <a:solidFill>
                  <a:schemeClr val="accent2"/>
                </a:solidFill>
                <a:latin typeface="Cambria" pitchFamily="34" charset="0"/>
                <a:ea typeface="Cambria" pitchFamily="34" charset="-122"/>
                <a:cs typeface="Cambria" pitchFamily="34" charset="-120"/>
              </a:rPr>
              <a:t>2</a:t>
            </a:r>
            <a:endParaRPr lang="en-US" sz="2400" dirty="0"/>
          </a:p>
        </p:txBody>
      </p:sp>
      <p:sp>
        <p:nvSpPr>
          <p:cNvPr id="9" name="Text 7"/>
          <p:cNvSpPr txBox="1"/>
          <p:nvPr/>
        </p:nvSpPr>
        <p:spPr>
          <a:xfrm>
            <a:off x="3995928" y="1856232"/>
            <a:ext cx="1828800" cy="365760"/>
          </a:xfrm>
          <a:prstGeom prst="rect">
            <a:avLst/>
          </a:prstGeom>
          <a:noFill/>
          <a:ln/>
        </p:spPr>
        <p:txBody>
          <a:bodyPr wrap="square" lIns="0" tIns="0" rIns="0" bIns="0" rtlCol="0" anchor="t"/>
          <a:lstStyle/>
          <a:p>
            <a:pPr indent="0" marL="0">
              <a:buNone/>
            </a:pPr>
            <a:r>
              <a:rPr lang="en-US" sz="1500" b="1" dirty="0">
                <a:solidFill>
                  <a:schemeClr val="tx2"/>
                </a:solidFill>
              </a:rPr>
              <a:t>Trusted measures</a:t>
            </a:r>
            <a:endParaRPr lang="en-US" sz="1500" dirty="0"/>
          </a:p>
        </p:txBody>
      </p:sp>
      <p:sp>
        <p:nvSpPr>
          <p:cNvPr id="10" name="Text 8"/>
          <p:cNvSpPr txBox="1"/>
          <p:nvPr/>
        </p:nvSpPr>
        <p:spPr>
          <a:xfrm>
            <a:off x="3995928" y="2240280"/>
            <a:ext cx="1828800" cy="822960"/>
          </a:xfrm>
          <a:prstGeom prst="rect">
            <a:avLst/>
          </a:prstGeom>
          <a:noFill/>
          <a:ln/>
        </p:spPr>
        <p:txBody>
          <a:bodyPr wrap="square" lIns="0" tIns="0" rIns="0" bIns="0" rtlCol="0" anchor="t"/>
          <a:lstStyle/>
          <a:p>
            <a:pPr indent="0" marL="0">
              <a:buNone/>
            </a:pPr>
            <a:r>
              <a:rPr lang="en-US" sz="1250" dirty="0">
                <a:solidFill>
                  <a:srgbClr val="404040"/>
                </a:solidFill>
              </a:rPr>
              <a:t>Data checks; every KPI calculated from totals</a:t>
            </a:r>
            <a:endParaRPr lang="en-US" sz="1250" dirty="0"/>
          </a:p>
        </p:txBody>
      </p:sp>
      <p:sp>
        <p:nvSpPr>
          <p:cNvPr id="11" name="panel"/>
          <p:cNvSpPr/>
          <p:nvPr/>
        </p:nvSpPr>
        <p:spPr>
          <a:xfrm>
            <a:off x="6163056" y="1691640"/>
            <a:ext cx="2651760" cy="1417320"/>
          </a:xfrm>
          <a:prstGeom prst="rect">
            <a:avLst/>
          </a:prstGeom>
          <a:solidFill>
            <a:schemeClr val="bg2"/>
          </a:solidFill>
          <a:ln w="12700">
            <a:solidFill>
              <a:schemeClr val="bg2"/>
            </a:solidFill>
            <a:prstDash val="solid"/>
          </a:ln>
        </p:spPr>
      </p:sp>
      <p:sp>
        <p:nvSpPr>
          <p:cNvPr id="12" name="Text 10"/>
          <p:cNvSpPr txBox="1"/>
          <p:nvPr/>
        </p:nvSpPr>
        <p:spPr>
          <a:xfrm>
            <a:off x="6345936" y="1828800"/>
            <a:ext cx="457200" cy="457200"/>
          </a:xfrm>
          <a:prstGeom prst="rect">
            <a:avLst/>
          </a:prstGeom>
          <a:noFill/>
          <a:ln/>
        </p:spPr>
        <p:txBody>
          <a:bodyPr wrap="square" lIns="0" tIns="0" rIns="0" bIns="0" rtlCol="0" anchor="t"/>
          <a:lstStyle/>
          <a:p>
            <a:pPr indent="0" marL="0">
              <a:buNone/>
            </a:pPr>
            <a:r>
              <a:rPr lang="en-US" sz="2400" b="1" dirty="0">
                <a:solidFill>
                  <a:schemeClr val="accent2"/>
                </a:solidFill>
                <a:latin typeface="Cambria" pitchFamily="34" charset="0"/>
                <a:ea typeface="Cambria" pitchFamily="34" charset="-122"/>
                <a:cs typeface="Cambria" pitchFamily="34" charset="-120"/>
              </a:rPr>
              <a:t>3</a:t>
            </a:r>
            <a:endParaRPr lang="en-US" sz="2400" dirty="0"/>
          </a:p>
        </p:txBody>
      </p:sp>
      <p:sp>
        <p:nvSpPr>
          <p:cNvPr id="13" name="Text 11"/>
          <p:cNvSpPr txBox="1"/>
          <p:nvPr/>
        </p:nvSpPr>
        <p:spPr>
          <a:xfrm>
            <a:off x="6803136" y="1856232"/>
            <a:ext cx="1828800" cy="365760"/>
          </a:xfrm>
          <a:prstGeom prst="rect">
            <a:avLst/>
          </a:prstGeom>
          <a:noFill/>
          <a:ln/>
        </p:spPr>
        <p:txBody>
          <a:bodyPr wrap="square" lIns="0" tIns="0" rIns="0" bIns="0" rtlCol="0" anchor="t"/>
          <a:lstStyle/>
          <a:p>
            <a:pPr indent="0" marL="0">
              <a:buNone/>
            </a:pPr>
            <a:r>
              <a:rPr lang="en-US" sz="1500" b="1" dirty="0">
                <a:solidFill>
                  <a:schemeClr val="tx2"/>
                </a:solidFill>
              </a:rPr>
              <a:t>Performance</a:t>
            </a:r>
            <a:endParaRPr lang="en-US" sz="1500" dirty="0"/>
          </a:p>
        </p:txBody>
      </p:sp>
      <p:sp>
        <p:nvSpPr>
          <p:cNvPr id="14" name="Text 12"/>
          <p:cNvSpPr txBox="1"/>
          <p:nvPr/>
        </p:nvSpPr>
        <p:spPr>
          <a:xfrm>
            <a:off x="6803136" y="2240280"/>
            <a:ext cx="1828800" cy="822960"/>
          </a:xfrm>
          <a:prstGeom prst="rect">
            <a:avLst/>
          </a:prstGeom>
          <a:noFill/>
          <a:ln/>
        </p:spPr>
        <p:txBody>
          <a:bodyPr wrap="square" lIns="0" tIns="0" rIns="0" bIns="0" rtlCol="0" anchor="t"/>
          <a:lstStyle/>
          <a:p>
            <a:pPr indent="0" marL="0">
              <a:buNone/>
            </a:pPr>
            <a:r>
              <a:rPr lang="en-US" sz="1250" dirty="0">
                <a:solidFill>
                  <a:srgbClr val="404040"/>
                </a:solidFill>
              </a:rPr>
              <a:t>EDA and the Power BI dashboard</a:t>
            </a:r>
            <a:endParaRPr lang="en-US" sz="1250" dirty="0"/>
          </a:p>
        </p:txBody>
      </p:sp>
      <p:sp>
        <p:nvSpPr>
          <p:cNvPr id="15" name="panel"/>
          <p:cNvSpPr/>
          <p:nvPr/>
        </p:nvSpPr>
        <p:spPr>
          <a:xfrm>
            <a:off x="8970264" y="1691640"/>
            <a:ext cx="2651760" cy="1417320"/>
          </a:xfrm>
          <a:prstGeom prst="rect">
            <a:avLst/>
          </a:prstGeom>
          <a:solidFill>
            <a:schemeClr val="bg2"/>
          </a:solidFill>
          <a:ln w="12700">
            <a:solidFill>
              <a:schemeClr val="bg2"/>
            </a:solidFill>
            <a:prstDash val="solid"/>
          </a:ln>
        </p:spPr>
      </p:sp>
      <p:sp>
        <p:nvSpPr>
          <p:cNvPr id="16" name="Text 14"/>
          <p:cNvSpPr txBox="1"/>
          <p:nvPr/>
        </p:nvSpPr>
        <p:spPr>
          <a:xfrm>
            <a:off x="9153144" y="1828800"/>
            <a:ext cx="457200" cy="457200"/>
          </a:xfrm>
          <a:prstGeom prst="rect">
            <a:avLst/>
          </a:prstGeom>
          <a:noFill/>
          <a:ln/>
        </p:spPr>
        <p:txBody>
          <a:bodyPr wrap="square" lIns="0" tIns="0" rIns="0" bIns="0" rtlCol="0" anchor="t"/>
          <a:lstStyle/>
          <a:p>
            <a:pPr indent="0" marL="0">
              <a:buNone/>
            </a:pPr>
            <a:r>
              <a:rPr lang="en-US" sz="2400" b="1" dirty="0">
                <a:solidFill>
                  <a:schemeClr val="accent2"/>
                </a:solidFill>
                <a:latin typeface="Cambria" pitchFamily="34" charset="0"/>
                <a:ea typeface="Cambria" pitchFamily="34" charset="-122"/>
                <a:cs typeface="Cambria" pitchFamily="34" charset="-120"/>
              </a:rPr>
              <a:t>4</a:t>
            </a:r>
            <a:endParaRPr lang="en-US" sz="2400" dirty="0"/>
          </a:p>
        </p:txBody>
      </p:sp>
      <p:sp>
        <p:nvSpPr>
          <p:cNvPr id="17" name="Text 15"/>
          <p:cNvSpPr txBox="1"/>
          <p:nvPr/>
        </p:nvSpPr>
        <p:spPr>
          <a:xfrm>
            <a:off x="9610344" y="1856232"/>
            <a:ext cx="1828800" cy="365760"/>
          </a:xfrm>
          <a:prstGeom prst="rect">
            <a:avLst/>
          </a:prstGeom>
          <a:noFill/>
          <a:ln/>
        </p:spPr>
        <p:txBody>
          <a:bodyPr wrap="square" lIns="0" tIns="0" rIns="0" bIns="0" rtlCol="0" anchor="t"/>
          <a:lstStyle/>
          <a:p>
            <a:pPr indent="0" marL="0">
              <a:buNone/>
            </a:pPr>
            <a:r>
              <a:rPr lang="en-US" sz="1500" b="1" dirty="0">
                <a:solidFill>
                  <a:schemeClr val="tx2"/>
                </a:solidFill>
              </a:rPr>
              <a:t>AI</a:t>
            </a:r>
            <a:endParaRPr lang="en-US" sz="1500" dirty="0"/>
          </a:p>
        </p:txBody>
      </p:sp>
      <p:sp>
        <p:nvSpPr>
          <p:cNvPr id="18" name="Text 16"/>
          <p:cNvSpPr txBox="1"/>
          <p:nvPr/>
        </p:nvSpPr>
        <p:spPr>
          <a:xfrm>
            <a:off x="9610344" y="2240280"/>
            <a:ext cx="1828800" cy="822960"/>
          </a:xfrm>
          <a:prstGeom prst="rect">
            <a:avLst/>
          </a:prstGeom>
          <a:noFill/>
          <a:ln/>
        </p:spPr>
        <p:txBody>
          <a:bodyPr wrap="square" lIns="0" tIns="0" rIns="0" bIns="0" rtlCol="0" anchor="t"/>
          <a:lstStyle/>
          <a:p>
            <a:pPr indent="0" marL="0">
              <a:buNone/>
            </a:pPr>
            <a:r>
              <a:rPr lang="en-US" sz="1250" dirty="0">
                <a:solidFill>
                  <a:srgbClr val="404040"/>
                </a:solidFill>
              </a:rPr>
              <a:t>Four methods, each against a simple baseline</a:t>
            </a:r>
            <a:endParaRPr lang="en-US" sz="1250" dirty="0"/>
          </a:p>
        </p:txBody>
      </p:sp>
      <p:sp>
        <p:nvSpPr>
          <p:cNvPr id="19" name="Text 17"/>
          <p:cNvSpPr txBox="1"/>
          <p:nvPr/>
        </p:nvSpPr>
        <p:spPr>
          <a:xfrm>
            <a:off x="548640" y="3429000"/>
            <a:ext cx="3566160" cy="365760"/>
          </a:xfrm>
          <a:prstGeom prst="rect">
            <a:avLst/>
          </a:prstGeom>
          <a:noFill/>
          <a:ln/>
        </p:spPr>
        <p:txBody>
          <a:bodyPr wrap="square" lIns="0" tIns="0" rIns="0" bIns="0" rtlCol="0" anchor="t"/>
          <a:lstStyle/>
          <a:p>
            <a:pPr indent="0" marL="0">
              <a:buNone/>
            </a:pPr>
            <a:r>
              <a:rPr lang="en-US" sz="1500" b="1" dirty="0">
                <a:solidFill>
                  <a:schemeClr val="tx2"/>
                </a:solidFill>
              </a:rPr>
              <a:t>Data checks passed</a:t>
            </a:r>
            <a:endParaRPr lang="en-US" sz="1500" dirty="0"/>
          </a:p>
        </p:txBody>
      </p:sp>
      <p:sp>
        <p:nvSpPr>
          <p:cNvPr id="20" name="Text 18"/>
          <p:cNvSpPr txBox="1"/>
          <p:nvPr/>
        </p:nvSpPr>
        <p:spPr>
          <a:xfrm>
            <a:off x="548640" y="3840480"/>
            <a:ext cx="3566160" cy="2103120"/>
          </a:xfrm>
          <a:prstGeom prst="rect">
            <a:avLst/>
          </a:prstGeom>
          <a:noFill/>
          <a:ln/>
        </p:spPr>
        <p:txBody>
          <a:bodyPr wrap="square" lIns="0" tIns="0" rIns="0" bIns="0" rtlCol="0" anchor="t"/>
          <a:lstStyle/>
          <a:p>
            <a:pPr marL="190500" indent="-190500">
              <a:spcAft>
                <a:spcPts val="900"/>
              </a:spcAft>
              <a:buSzPct val="100000"/>
              <a:buChar char="•"/>
            </a:pPr>
            <a:r>
              <a:rPr lang="en-US" sz="1400" dirty="0">
                <a:solidFill>
                  <a:schemeClr val="tx1"/>
                </a:solidFill>
              </a:rPr>
              <a:t>5,000 records, 60 variables</a:t>
            </a:r>
            <a:endParaRPr lang="en-US" sz="1400" dirty="0"/>
          </a:p>
          <a:p>
            <a:pPr marL="190500" indent="-190500">
              <a:spcAft>
                <a:spcPts val="900"/>
              </a:spcAft>
              <a:buSzPct val="100000"/>
              <a:buChar char="•"/>
            </a:pPr>
            <a:r>
              <a:rPr lang="en-US" sz="1400" dirty="0">
                <a:solidFill>
                  <a:schemeClr val="tx1"/>
                </a:solidFill>
              </a:rPr>
              <a:t>No missing values or duplicates</a:t>
            </a:r>
            <a:endParaRPr lang="en-US" sz="1400" dirty="0"/>
          </a:p>
          <a:p>
            <a:pPr marL="190500" indent="-190500">
              <a:spcAft>
                <a:spcPts val="900"/>
              </a:spcAft>
              <a:buSzPct val="100000"/>
              <a:buChar char="•"/>
            </a:pPr>
            <a:r>
              <a:rPr lang="en-US" sz="1400" dirty="0">
                <a:solidFill>
                  <a:schemeClr val="tx1"/>
                </a:solidFill>
              </a:rPr>
              <a:t>Availability, MTBF and work-order rules hold</a:t>
            </a:r>
            <a:endParaRPr lang="en-US" sz="1400" dirty="0"/>
          </a:p>
          <a:p>
            <a:pPr marL="190500" indent="-190500">
              <a:spcAft>
                <a:spcPts val="900"/>
              </a:spcAft>
              <a:buSzPct val="100000"/>
              <a:buChar char="•"/>
            </a:pPr>
            <a:r>
              <a:rPr lang="en-US" sz="1400" dirty="0">
                <a:solidFill>
                  <a:schemeClr val="tx1"/>
                </a:solidFill>
              </a:rPr>
              <a:t>Totals match the workbook</a:t>
            </a:r>
            <a:endParaRPr lang="en-US" sz="1400" dirty="0"/>
          </a:p>
        </p:txBody>
      </p:sp>
      <p:sp>
        <p:nvSpPr>
          <p:cNvPr id="21" name="Text 19"/>
          <p:cNvSpPr txBox="1"/>
          <p:nvPr/>
        </p:nvSpPr>
        <p:spPr>
          <a:xfrm>
            <a:off x="4343400" y="3429000"/>
            <a:ext cx="3657600" cy="365760"/>
          </a:xfrm>
          <a:prstGeom prst="rect">
            <a:avLst/>
          </a:prstGeom>
          <a:noFill/>
          <a:ln/>
        </p:spPr>
        <p:txBody>
          <a:bodyPr wrap="square" lIns="0" tIns="0" rIns="0" bIns="0" rtlCol="0" anchor="t"/>
          <a:lstStyle/>
          <a:p>
            <a:pPr indent="0" marL="0">
              <a:buNone/>
            </a:pPr>
            <a:r>
              <a:rPr lang="en-US" sz="1500" b="1" dirty="0">
                <a:solidFill>
                  <a:schemeClr val="accent2"/>
                </a:solidFill>
              </a:rPr>
              <a:t>Issues we found and fixed</a:t>
            </a:r>
            <a:endParaRPr lang="en-US" sz="1500" dirty="0"/>
          </a:p>
        </p:txBody>
      </p:sp>
      <p:sp>
        <p:nvSpPr>
          <p:cNvPr id="22" name="Text 20"/>
          <p:cNvSpPr txBox="1"/>
          <p:nvPr/>
        </p:nvSpPr>
        <p:spPr>
          <a:xfrm>
            <a:off x="4343400" y="3840480"/>
            <a:ext cx="3657600" cy="2103120"/>
          </a:xfrm>
          <a:prstGeom prst="rect">
            <a:avLst/>
          </a:prstGeom>
          <a:noFill/>
          <a:ln/>
        </p:spPr>
        <p:txBody>
          <a:bodyPr wrap="square" lIns="0" tIns="0" rIns="0" bIns="0" rtlCol="0" anchor="t"/>
          <a:lstStyle/>
          <a:p>
            <a:pPr marL="190500" indent="-190500">
              <a:spcAft>
                <a:spcPts val="900"/>
              </a:spcAft>
              <a:buSzPct val="100000"/>
              <a:buChar char="•"/>
            </a:pPr>
            <a:r>
              <a:rPr lang="en-US" sz="1400" dirty="0">
                <a:solidFill>
                  <a:schemeClr val="tx1"/>
                </a:solidFill>
              </a:rPr>
              <a:t>Asset codes are not real assets</a:t>
            </a:r>
            <a:endParaRPr lang="en-US" sz="1400" dirty="0"/>
          </a:p>
          <a:p>
            <a:pPr marL="190500" indent="-190500">
              <a:spcAft>
                <a:spcPts val="900"/>
              </a:spcAft>
              <a:buSzPct val="100000"/>
              <a:buChar char="•"/>
            </a:pPr>
            <a:r>
              <a:rPr lang="en-US" sz="1400" dirty="0">
                <a:solidFill>
                  <a:schemeClr val="tx1"/>
                </a:solidFill>
              </a:rPr>
              <a:t>Stored MTTR column is wrong</a:t>
            </a:r>
            <a:endParaRPr lang="en-US" sz="1400" dirty="0"/>
          </a:p>
          <a:p>
            <a:pPr marL="190500" indent="-190500">
              <a:spcAft>
                <a:spcPts val="900"/>
              </a:spcAft>
              <a:buSzPct val="100000"/>
              <a:buChar char="•"/>
            </a:pPr>
            <a:r>
              <a:rPr lang="en-US" sz="1400" dirty="0">
                <a:solidFill>
                  <a:schemeClr val="tx1"/>
                </a:solidFill>
              </a:rPr>
              <a:t>SLA score 75.8% vs 46.1% actually met</a:t>
            </a:r>
            <a:endParaRPr lang="en-US" sz="1400" dirty="0"/>
          </a:p>
          <a:p>
            <a:pPr marL="190500" indent="-190500">
              <a:spcAft>
                <a:spcPts val="900"/>
              </a:spcAft>
              <a:buSzPct val="100000"/>
              <a:buChar char="•"/>
            </a:pPr>
            <a:r>
              <a:rPr lang="en-US" sz="1400" dirty="0">
                <a:solidFill>
                  <a:schemeClr val="tx1"/>
                </a:solidFill>
              </a:rPr>
              <a:t>18% of maintenance cost unexplained</a:t>
            </a:r>
            <a:endParaRPr lang="en-US" sz="1400" dirty="0"/>
          </a:p>
        </p:txBody>
      </p:sp>
      <p:sp>
        <p:nvSpPr>
          <p:cNvPr id="23" name="Text 21"/>
          <p:cNvSpPr txBox="1"/>
          <p:nvPr/>
        </p:nvSpPr>
        <p:spPr>
          <a:xfrm>
            <a:off x="8183880" y="3429000"/>
            <a:ext cx="3474720" cy="365760"/>
          </a:xfrm>
          <a:prstGeom prst="rect">
            <a:avLst/>
          </a:prstGeom>
          <a:noFill/>
          <a:ln/>
        </p:spPr>
        <p:txBody>
          <a:bodyPr wrap="square" lIns="0" tIns="0" rIns="0" bIns="0" rtlCol="0" anchor="t"/>
          <a:lstStyle/>
          <a:p>
            <a:pPr indent="0" marL="0">
              <a:buNone/>
            </a:pPr>
            <a:r>
              <a:rPr lang="en-US" sz="1500" b="1" dirty="0">
                <a:solidFill>
                  <a:schemeClr val="tx2"/>
                </a:solidFill>
              </a:rPr>
              <a:t>How we managed the project</a:t>
            </a:r>
            <a:endParaRPr lang="en-US" sz="1500" dirty="0"/>
          </a:p>
        </p:txBody>
      </p:sp>
      <p:sp>
        <p:nvSpPr>
          <p:cNvPr id="24" name="Text 22"/>
          <p:cNvSpPr txBox="1"/>
          <p:nvPr/>
        </p:nvSpPr>
        <p:spPr>
          <a:xfrm>
            <a:off x="8183880" y="3840480"/>
            <a:ext cx="3474720" cy="2103120"/>
          </a:xfrm>
          <a:prstGeom prst="rect">
            <a:avLst/>
          </a:prstGeom>
          <a:noFill/>
          <a:ln/>
        </p:spPr>
        <p:txBody>
          <a:bodyPr wrap="square" lIns="0" tIns="0" rIns="0" bIns="0" rtlCol="0" anchor="t"/>
          <a:lstStyle/>
          <a:p>
            <a:pPr marL="190500" indent="-190500">
              <a:spcAft>
                <a:spcPts val="900"/>
              </a:spcAft>
              <a:buSzPct val="100000"/>
              <a:buChar char="•"/>
            </a:pPr>
            <a:r>
              <a:rPr lang="en-US" sz="1400" dirty="0">
                <a:solidFill>
                  <a:schemeClr val="tx1"/>
                </a:solidFill>
              </a:rPr>
              <a:t>One owner per work area</a:t>
            </a:r>
            <a:endParaRPr lang="en-US" sz="1400" dirty="0"/>
          </a:p>
          <a:p>
            <a:pPr marL="190500" indent="-190500">
              <a:spcAft>
                <a:spcPts val="900"/>
              </a:spcAft>
              <a:buSzPct val="100000"/>
              <a:buChar char="•"/>
            </a:pPr>
            <a:r>
              <a:rPr lang="en-US" sz="1400" dirty="0">
                <a:solidFill>
                  <a:schemeClr val="tx1"/>
                </a:solidFill>
              </a:rPr>
              <a:t>Weekly integration meeting</a:t>
            </a:r>
            <a:endParaRPr lang="en-US" sz="1400" dirty="0"/>
          </a:p>
          <a:p>
            <a:pPr marL="190500" indent="-190500">
              <a:spcAft>
                <a:spcPts val="900"/>
              </a:spcAft>
              <a:buSzPct val="100000"/>
              <a:buChar char="•"/>
            </a:pPr>
            <a:r>
              <a:rPr lang="en-US" sz="1400" dirty="0">
                <a:solidFill>
                  <a:schemeClr val="tx1"/>
                </a:solidFill>
              </a:rPr>
              <a:t>One shared set of KPI definitions</a:t>
            </a:r>
            <a:endParaRPr lang="en-US" sz="1400" dirty="0"/>
          </a:p>
          <a:p>
            <a:pPr marL="190500" indent="-190500">
              <a:spcAft>
                <a:spcPts val="900"/>
              </a:spcAft>
              <a:buSzPct val="100000"/>
              <a:buChar char="•"/>
            </a:pPr>
            <a:r>
              <a:rPr lang="en-US" sz="1400" dirty="0">
                <a:solidFill>
                  <a:schemeClr val="tx1"/>
                </a:solidFill>
              </a:rPr>
              <a:t>Final cross-check of all three files</a:t>
            </a:r>
            <a:endParaRPr lang="en-US" sz="1400" dirty="0"/>
          </a:p>
        </p:txBody>
      </p:sp>
      <p:sp>
        <p:nvSpPr>
          <p:cNvPr id="25" name="presenter name"/>
          <p:cNvSpPr txBox="1"/>
          <p:nvPr/>
        </p:nvSpPr>
        <p:spPr>
          <a:xfrm>
            <a:off x="6949440" y="164592"/>
            <a:ext cx="4690872" cy="274320"/>
          </a:xfrm>
          <a:prstGeom prst="rect">
            <a:avLst/>
          </a:prstGeom>
          <a:noFill/>
          <a:ln/>
        </p:spPr>
        <p:txBody>
          <a:bodyPr wrap="square" lIns="0" tIns="0" rIns="0" bIns="0" rtlCol="0" anchor="ctr"/>
          <a:lstStyle/>
          <a:p>
            <a:pPr algn="r" indent="0" marL="0">
              <a:buNone/>
            </a:pPr>
            <a:r>
              <a:rPr lang="en-US" sz="1100" dirty="0">
                <a:solidFill>
                  <a:srgbClr val="8C8C8C"/>
                </a:solidFill>
              </a:rPr>
              <a:t>Presenter: </a:t>
            </a:r>
            <a:pPr algn="r" indent="0" marL="0">
              <a:buNone/>
            </a:pPr>
            <a:r>
              <a:rPr lang="en-US" sz="1100" b="1" dirty="0">
                <a:solidFill>
                  <a:srgbClr val="1F3A5F"/>
                </a:solidFill>
              </a:rPr>
              <a:t>Malak Philippe Sadek Reiad</a:t>
            </a:r>
            <a:endParaRPr lang="en-US" sz="1100" dirty="0"/>
          </a:p>
        </p:txBody>
      </p:sp>
      <p:sp>
        <p:nvSpPr>
          <p:cNvPr id="25" name="Slide Number Placeholder 0"/>
          <p:cNvSpPr>
            <a:spLocks noGrp="1"/>
          </p:cNvSpPr>
          <p:nvPr>
            <p:ph type="sldNum" sz="quarter" idx="4294967295"/>
          </p:nvPr>
        </p:nvSpPr>
        <p:spPr>
          <a:xfrm>
            <a:off x="11155680" y="647395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C8C8C"/>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502920"/>
            <a:ext cx="11064240" cy="868680"/>
          </a:xfrm>
          <a:prstGeom prst="rect">
            <a:avLst/>
          </a:prstGeom>
          <a:noFill/>
          <a:ln/>
        </p:spPr>
        <p:txBody>
          <a:bodyPr wrap="square" lIns="0" tIns="0" rIns="0" bIns="0" rtlCol="0" anchor="t"/>
          <a:lstStyle/>
          <a:p>
            <a:pPr algn="l" indent="0" marL="0">
              <a:buNone/>
            </a:pPr>
            <a:r>
              <a:rPr lang="en-US" sz="2600" b="1" dirty="0">
                <a:solidFill>
                  <a:schemeClr val="tx2"/>
                </a:solidFill>
                <a:latin typeface="Cambria" pitchFamily="34" charset="0"/>
                <a:ea typeface="Cambria" pitchFamily="34" charset="-122"/>
                <a:cs typeface="Cambria" pitchFamily="34" charset="-120"/>
              </a:rPr>
              <a:t>Downtime, not maintenance, is the real cost: $4.50 lost for every $1 spent</a:t>
            </a:r>
            <a:endParaRPr lang="en-US" sz="2600" dirty="0"/>
          </a:p>
        </p:txBody>
      </p:sp>
      <p:sp>
        <p:nvSpPr>
          <p:cNvPr id="3" name="stat Production loss, 2024–2026"/>
          <p:cNvSpPr/>
          <p:nvPr/>
        </p:nvSpPr>
        <p:spPr>
          <a:xfrm>
            <a:off x="548640" y="1554480"/>
            <a:ext cx="2606040" cy="1234440"/>
          </a:xfrm>
          <a:prstGeom prst="rect">
            <a:avLst/>
          </a:prstGeom>
          <a:solidFill>
            <a:schemeClr val="bg2"/>
          </a:solidFill>
          <a:ln w="12700">
            <a:solidFill>
              <a:schemeClr val="bg2"/>
            </a:solidFill>
            <a:prstDash val="solid"/>
          </a:ln>
        </p:spPr>
      </p:sp>
      <p:sp>
        <p:nvSpPr>
          <p:cNvPr id="4" name="Text 2"/>
          <p:cNvSpPr txBox="1"/>
          <p:nvPr/>
        </p:nvSpPr>
        <p:spPr>
          <a:xfrm>
            <a:off x="749808" y="1691640"/>
            <a:ext cx="2240280" cy="594360"/>
          </a:xfrm>
          <a:prstGeom prst="rect">
            <a:avLst/>
          </a:prstGeom>
          <a:noFill/>
          <a:ln/>
        </p:spPr>
        <p:txBody>
          <a:bodyPr wrap="square" lIns="0" tIns="0" rIns="0" bIns="0" rtlCol="0" anchor="t"/>
          <a:lstStyle/>
          <a:p>
            <a:pPr indent="0" marL="0">
              <a:buNone/>
            </a:pPr>
            <a:r>
              <a:rPr lang="en-US" sz="3000" b="1" dirty="0">
                <a:solidFill>
                  <a:schemeClr val="accent2"/>
                </a:solidFill>
                <a:latin typeface="Cambria" pitchFamily="34" charset="0"/>
                <a:ea typeface="Cambria" pitchFamily="34" charset="-122"/>
                <a:cs typeface="Cambria" pitchFamily="34" charset="-120"/>
              </a:rPr>
              <a:t>$228.9M</a:t>
            </a:r>
            <a:endParaRPr lang="en-US" sz="3000" dirty="0"/>
          </a:p>
        </p:txBody>
      </p:sp>
      <p:sp>
        <p:nvSpPr>
          <p:cNvPr id="5" name="Text 3"/>
          <p:cNvSpPr txBox="1"/>
          <p:nvPr/>
        </p:nvSpPr>
        <p:spPr>
          <a:xfrm>
            <a:off x="749808" y="2304288"/>
            <a:ext cx="2240280" cy="411480"/>
          </a:xfrm>
          <a:prstGeom prst="rect">
            <a:avLst/>
          </a:prstGeom>
          <a:noFill/>
          <a:ln/>
        </p:spPr>
        <p:txBody>
          <a:bodyPr wrap="square" lIns="0" tIns="0" rIns="0" bIns="0" rtlCol="0" anchor="t"/>
          <a:lstStyle/>
          <a:p>
            <a:pPr indent="0" marL="0">
              <a:buNone/>
            </a:pPr>
            <a:r>
              <a:rPr lang="en-US" sz="1300" dirty="0">
                <a:solidFill>
                  <a:srgbClr val="404040"/>
                </a:solidFill>
              </a:rPr>
              <a:t>Production loss, 2024–2026</a:t>
            </a:r>
            <a:endParaRPr lang="en-US" sz="1300" dirty="0"/>
          </a:p>
        </p:txBody>
      </p:sp>
      <p:sp>
        <p:nvSpPr>
          <p:cNvPr id="6" name="stat Maintenance cost"/>
          <p:cNvSpPr/>
          <p:nvPr/>
        </p:nvSpPr>
        <p:spPr>
          <a:xfrm>
            <a:off x="3364992" y="1554480"/>
            <a:ext cx="2606040" cy="1234440"/>
          </a:xfrm>
          <a:prstGeom prst="rect">
            <a:avLst/>
          </a:prstGeom>
          <a:solidFill>
            <a:schemeClr val="bg2"/>
          </a:solidFill>
          <a:ln w="12700">
            <a:solidFill>
              <a:schemeClr val="bg2"/>
            </a:solidFill>
            <a:prstDash val="solid"/>
          </a:ln>
        </p:spPr>
      </p:sp>
      <p:sp>
        <p:nvSpPr>
          <p:cNvPr id="7" name="Text 5"/>
          <p:cNvSpPr txBox="1"/>
          <p:nvPr/>
        </p:nvSpPr>
        <p:spPr>
          <a:xfrm>
            <a:off x="3566160" y="1691640"/>
            <a:ext cx="2240280" cy="594360"/>
          </a:xfrm>
          <a:prstGeom prst="rect">
            <a:avLst/>
          </a:prstGeom>
          <a:noFill/>
          <a:ln/>
        </p:spPr>
        <p:txBody>
          <a:bodyPr wrap="square" lIns="0" tIns="0" rIns="0" bIns="0" rtlCol="0" anchor="t"/>
          <a:lstStyle/>
          <a:p>
            <a:pPr indent="0" marL="0">
              <a:buNone/>
            </a:pPr>
            <a:r>
              <a:rPr lang="en-US" sz="3000" b="1" dirty="0">
                <a:solidFill>
                  <a:schemeClr val="tx2"/>
                </a:solidFill>
                <a:latin typeface="Cambria" pitchFamily="34" charset="0"/>
                <a:ea typeface="Cambria" pitchFamily="34" charset="-122"/>
                <a:cs typeface="Cambria" pitchFamily="34" charset="-120"/>
              </a:rPr>
              <a:t>$50.4M</a:t>
            </a:r>
            <a:endParaRPr lang="en-US" sz="3000" dirty="0"/>
          </a:p>
        </p:txBody>
      </p:sp>
      <p:sp>
        <p:nvSpPr>
          <p:cNvPr id="8" name="Text 6"/>
          <p:cNvSpPr txBox="1"/>
          <p:nvPr/>
        </p:nvSpPr>
        <p:spPr>
          <a:xfrm>
            <a:off x="3566160" y="2304288"/>
            <a:ext cx="2240280" cy="411480"/>
          </a:xfrm>
          <a:prstGeom prst="rect">
            <a:avLst/>
          </a:prstGeom>
          <a:noFill/>
          <a:ln/>
        </p:spPr>
        <p:txBody>
          <a:bodyPr wrap="square" lIns="0" tIns="0" rIns="0" bIns="0" rtlCol="0" anchor="t"/>
          <a:lstStyle/>
          <a:p>
            <a:pPr indent="0" marL="0">
              <a:buNone/>
            </a:pPr>
            <a:r>
              <a:rPr lang="en-US" sz="1300" dirty="0">
                <a:solidFill>
                  <a:srgbClr val="404040"/>
                </a:solidFill>
              </a:rPr>
              <a:t>Maintenance cost</a:t>
            </a:r>
            <a:endParaRPr lang="en-US" sz="1300" dirty="0"/>
          </a:p>
        </p:txBody>
      </p:sp>
      <p:sp>
        <p:nvSpPr>
          <p:cNvPr id="9" name="stat Cost of one downtime hour"/>
          <p:cNvSpPr/>
          <p:nvPr/>
        </p:nvSpPr>
        <p:spPr>
          <a:xfrm>
            <a:off x="6181344" y="1554480"/>
            <a:ext cx="2606040" cy="1234440"/>
          </a:xfrm>
          <a:prstGeom prst="rect">
            <a:avLst/>
          </a:prstGeom>
          <a:solidFill>
            <a:schemeClr val="bg2"/>
          </a:solidFill>
          <a:ln w="12700">
            <a:solidFill>
              <a:schemeClr val="bg2"/>
            </a:solidFill>
            <a:prstDash val="solid"/>
          </a:ln>
        </p:spPr>
      </p:sp>
      <p:sp>
        <p:nvSpPr>
          <p:cNvPr id="10" name="Text 8"/>
          <p:cNvSpPr txBox="1"/>
          <p:nvPr/>
        </p:nvSpPr>
        <p:spPr>
          <a:xfrm>
            <a:off x="6382512" y="1691640"/>
            <a:ext cx="2240280" cy="594360"/>
          </a:xfrm>
          <a:prstGeom prst="rect">
            <a:avLst/>
          </a:prstGeom>
          <a:noFill/>
          <a:ln/>
        </p:spPr>
        <p:txBody>
          <a:bodyPr wrap="square" lIns="0" tIns="0" rIns="0" bIns="0" rtlCol="0" anchor="t"/>
          <a:lstStyle/>
          <a:p>
            <a:pPr indent="0" marL="0">
              <a:buNone/>
            </a:pPr>
            <a:r>
              <a:rPr lang="en-US" sz="3000" b="1" dirty="0">
                <a:solidFill>
                  <a:schemeClr val="accent2"/>
                </a:solidFill>
                <a:latin typeface="Cambria" pitchFamily="34" charset="0"/>
                <a:ea typeface="Cambria" pitchFamily="34" charset="-122"/>
                <a:cs typeface="Cambria" pitchFamily="34" charset="-120"/>
              </a:rPr>
              <a:t>$2,513</a:t>
            </a:r>
            <a:endParaRPr lang="en-US" sz="3000" dirty="0"/>
          </a:p>
        </p:txBody>
      </p:sp>
      <p:sp>
        <p:nvSpPr>
          <p:cNvPr id="11" name="Text 9"/>
          <p:cNvSpPr txBox="1"/>
          <p:nvPr/>
        </p:nvSpPr>
        <p:spPr>
          <a:xfrm>
            <a:off x="6382512" y="2304288"/>
            <a:ext cx="2240280" cy="411480"/>
          </a:xfrm>
          <a:prstGeom prst="rect">
            <a:avLst/>
          </a:prstGeom>
          <a:noFill/>
          <a:ln/>
        </p:spPr>
        <p:txBody>
          <a:bodyPr wrap="square" lIns="0" tIns="0" rIns="0" bIns="0" rtlCol="0" anchor="t"/>
          <a:lstStyle/>
          <a:p>
            <a:pPr indent="0" marL="0">
              <a:buNone/>
            </a:pPr>
            <a:r>
              <a:rPr lang="en-US" sz="1300" dirty="0">
                <a:solidFill>
                  <a:srgbClr val="404040"/>
                </a:solidFill>
              </a:rPr>
              <a:t>Cost of one downtime hour</a:t>
            </a:r>
            <a:endParaRPr lang="en-US" sz="1300" dirty="0"/>
          </a:p>
        </p:txBody>
      </p:sp>
      <p:sp>
        <p:nvSpPr>
          <p:cNvPr id="12" name="stat MTBF, despite 97% availability"/>
          <p:cNvSpPr/>
          <p:nvPr/>
        </p:nvSpPr>
        <p:spPr>
          <a:xfrm>
            <a:off x="8997696" y="1554480"/>
            <a:ext cx="2615184" cy="1234440"/>
          </a:xfrm>
          <a:prstGeom prst="rect">
            <a:avLst/>
          </a:prstGeom>
          <a:solidFill>
            <a:schemeClr val="bg2"/>
          </a:solidFill>
          <a:ln w="12700">
            <a:solidFill>
              <a:schemeClr val="bg2"/>
            </a:solidFill>
            <a:prstDash val="solid"/>
          </a:ln>
        </p:spPr>
      </p:sp>
      <p:sp>
        <p:nvSpPr>
          <p:cNvPr id="13" name="Text 11"/>
          <p:cNvSpPr txBox="1"/>
          <p:nvPr/>
        </p:nvSpPr>
        <p:spPr>
          <a:xfrm>
            <a:off x="9198864" y="1691640"/>
            <a:ext cx="2249424" cy="594360"/>
          </a:xfrm>
          <a:prstGeom prst="rect">
            <a:avLst/>
          </a:prstGeom>
          <a:noFill/>
          <a:ln/>
        </p:spPr>
        <p:txBody>
          <a:bodyPr wrap="square" lIns="0" tIns="0" rIns="0" bIns="0" rtlCol="0" anchor="t"/>
          <a:lstStyle/>
          <a:p>
            <a:pPr indent="0" marL="0">
              <a:buNone/>
            </a:pPr>
            <a:r>
              <a:rPr lang="en-US" sz="3000" b="1" dirty="0">
                <a:solidFill>
                  <a:schemeClr val="tx2"/>
                </a:solidFill>
                <a:latin typeface="Cambria" pitchFamily="34" charset="0"/>
                <a:ea typeface="Cambria" pitchFamily="34" charset="-122"/>
                <a:cs typeface="Cambria" pitchFamily="34" charset="-120"/>
              </a:rPr>
              <a:t>313 h</a:t>
            </a:r>
            <a:endParaRPr lang="en-US" sz="3000" dirty="0"/>
          </a:p>
        </p:txBody>
      </p:sp>
      <p:sp>
        <p:nvSpPr>
          <p:cNvPr id="14" name="Text 12"/>
          <p:cNvSpPr txBox="1"/>
          <p:nvPr/>
        </p:nvSpPr>
        <p:spPr>
          <a:xfrm>
            <a:off x="9198864" y="2304288"/>
            <a:ext cx="2249424" cy="411480"/>
          </a:xfrm>
          <a:prstGeom prst="rect">
            <a:avLst/>
          </a:prstGeom>
          <a:noFill/>
          <a:ln/>
        </p:spPr>
        <p:txBody>
          <a:bodyPr wrap="square" lIns="0" tIns="0" rIns="0" bIns="0" rtlCol="0" anchor="t"/>
          <a:lstStyle/>
          <a:p>
            <a:pPr indent="0" marL="0">
              <a:buNone/>
            </a:pPr>
            <a:r>
              <a:rPr lang="en-US" sz="1300" dirty="0">
                <a:solidFill>
                  <a:srgbClr val="404040"/>
                </a:solidFill>
              </a:rPr>
              <a:t>MTBF, despite 97% availability</a:t>
            </a:r>
            <a:endParaRPr lang="en-US" sz="1300" dirty="0"/>
          </a:p>
        </p:txBody>
      </p:sp>
      <p:sp>
        <p:nvSpPr>
          <p:cNvPr id="15" name="frame"/>
          <p:cNvSpPr/>
          <p:nvPr/>
        </p:nvSpPr>
        <p:spPr>
          <a:xfrm>
            <a:off x="530352" y="2926080"/>
            <a:ext cx="11100816" cy="1674860"/>
          </a:xfrm>
          <a:prstGeom prst="rect">
            <a:avLst/>
          </a:prstGeom>
          <a:solidFill>
            <a:srgbClr val="C9CED6"/>
          </a:solidFill>
          <a:ln w="12700">
            <a:solidFill>
              <a:srgbClr val="C9CED6"/>
            </a:solidFill>
            <a:prstDash val="solid"/>
          </a:ln>
        </p:spPr>
      </p:sp>
      <p:pic>
        <p:nvPicPr>
          <p:cNvPr id="16" name="screenshot" descr="dash/c_cost_charts.jpg">    </p:cNvPr>
          <p:cNvPicPr>
            <a:picLocks noChangeAspect="1"/>
          </p:cNvPicPr>
          <p:nvPr/>
        </p:nvPicPr>
        <p:blipFill>
          <a:blip r:embed="rId1"/>
          <a:stretch>
            <a:fillRect/>
          </a:stretch>
        </p:blipFill>
        <p:spPr>
          <a:xfrm>
            <a:off x="548640" y="2944368"/>
            <a:ext cx="11064240" cy="1638284"/>
          </a:xfrm>
          <a:prstGeom prst="rect">
            <a:avLst/>
          </a:prstGeom>
        </p:spPr>
      </p:pic>
      <p:sp>
        <p:nvSpPr>
          <p:cNvPr id="17" name="Text 14"/>
          <p:cNvSpPr txBox="1"/>
          <p:nvPr/>
        </p:nvSpPr>
        <p:spPr>
          <a:xfrm>
            <a:off x="548640" y="4608576"/>
            <a:ext cx="11064240" cy="256032"/>
          </a:xfrm>
          <a:prstGeom prst="rect">
            <a:avLst/>
          </a:prstGeom>
          <a:noFill/>
          <a:ln/>
        </p:spPr>
        <p:txBody>
          <a:bodyPr wrap="square" lIns="0" tIns="0" rIns="0" bIns="0" rtlCol="0" anchor="t"/>
          <a:lstStyle/>
          <a:p>
            <a:pPr indent="0" marL="0">
              <a:buNone/>
            </a:pPr>
            <a:r>
              <a:rPr lang="en-US" sz="1050" i="1" dirty="0">
                <a:solidFill>
                  <a:srgbClr val="6B6B6B"/>
                </a:solidFill>
              </a:rPr>
              <a:t>Dashboard, Cost &amp; Loss page: maintenance cost components, production loss by criticality, and loss per record by quarter</a:t>
            </a:r>
            <a:endParaRPr lang="en-US" sz="1050" dirty="0"/>
          </a:p>
        </p:txBody>
      </p:sp>
      <p:sp>
        <p:nvSpPr>
          <p:cNvPr id="18" name="insight"/>
          <p:cNvSpPr/>
          <p:nvPr/>
        </p:nvSpPr>
        <p:spPr>
          <a:xfrm>
            <a:off x="548640" y="4956048"/>
            <a:ext cx="3566160" cy="1115568"/>
          </a:xfrm>
          <a:prstGeom prst="rect">
            <a:avLst/>
          </a:prstGeom>
          <a:solidFill>
            <a:schemeClr val="bg2"/>
          </a:solidFill>
          <a:ln w="12700">
            <a:solidFill>
              <a:schemeClr val="bg2"/>
            </a:solidFill>
            <a:prstDash val="solid"/>
          </a:ln>
        </p:spPr>
      </p:sp>
      <p:sp>
        <p:nvSpPr>
          <p:cNvPr id="19" name="Text 16"/>
          <p:cNvSpPr txBox="1"/>
          <p:nvPr/>
        </p:nvSpPr>
        <p:spPr>
          <a:xfrm>
            <a:off x="731520" y="5065776"/>
            <a:ext cx="3246120" cy="502920"/>
          </a:xfrm>
          <a:prstGeom prst="rect">
            <a:avLst/>
          </a:prstGeom>
          <a:noFill/>
          <a:ln/>
        </p:spPr>
        <p:txBody>
          <a:bodyPr wrap="square" lIns="0" tIns="0" rIns="0" bIns="0" rtlCol="0" anchor="t"/>
          <a:lstStyle/>
          <a:p>
            <a:pPr indent="0" marL="0">
              <a:buNone/>
            </a:pPr>
            <a:r>
              <a:rPr lang="en-US" sz="2200" b="1" dirty="0">
                <a:solidFill>
                  <a:schemeClr val="accent2"/>
                </a:solidFill>
                <a:latin typeface="Cambria" pitchFamily="34" charset="0"/>
                <a:ea typeface="Cambria" pitchFamily="34" charset="-122"/>
                <a:cs typeface="Cambria" pitchFamily="34" charset="-120"/>
              </a:rPr>
              <a:t>$6,638 vs $30,128</a:t>
            </a:r>
            <a:endParaRPr lang="en-US" sz="2200" dirty="0"/>
          </a:p>
        </p:txBody>
      </p:sp>
      <p:sp>
        <p:nvSpPr>
          <p:cNvPr id="20" name="Text 17"/>
          <p:cNvSpPr txBox="1"/>
          <p:nvPr/>
        </p:nvSpPr>
        <p:spPr>
          <a:xfrm>
            <a:off x="731520" y="5577840"/>
            <a:ext cx="3246120" cy="429768"/>
          </a:xfrm>
          <a:prstGeom prst="rect">
            <a:avLst/>
          </a:prstGeom>
          <a:noFill/>
          <a:ln/>
        </p:spPr>
        <p:txBody>
          <a:bodyPr wrap="square" lIns="0" tIns="0" rIns="0" bIns="0" rtlCol="0" anchor="t"/>
          <a:lstStyle/>
          <a:p>
            <a:pPr indent="0" marL="0">
              <a:buNone/>
            </a:pPr>
            <a:r>
              <a:rPr lang="en-US" sz="1250" dirty="0">
                <a:solidFill>
                  <a:srgbClr val="333333"/>
                </a:solidFill>
              </a:rPr>
              <a:t>Repair cost vs lost output for an average failure</a:t>
            </a:r>
            <a:endParaRPr lang="en-US" sz="1250" dirty="0"/>
          </a:p>
        </p:txBody>
      </p:sp>
      <p:sp>
        <p:nvSpPr>
          <p:cNvPr id="21" name="insight"/>
          <p:cNvSpPr/>
          <p:nvPr/>
        </p:nvSpPr>
        <p:spPr>
          <a:xfrm>
            <a:off x="4297680" y="4956048"/>
            <a:ext cx="3566160" cy="1115568"/>
          </a:xfrm>
          <a:prstGeom prst="rect">
            <a:avLst/>
          </a:prstGeom>
          <a:solidFill>
            <a:schemeClr val="bg2"/>
          </a:solidFill>
          <a:ln w="12700">
            <a:solidFill>
              <a:schemeClr val="bg2"/>
            </a:solidFill>
            <a:prstDash val="solid"/>
          </a:ln>
        </p:spPr>
      </p:sp>
      <p:sp>
        <p:nvSpPr>
          <p:cNvPr id="22" name="Text 19"/>
          <p:cNvSpPr txBox="1"/>
          <p:nvPr/>
        </p:nvSpPr>
        <p:spPr>
          <a:xfrm>
            <a:off x="4480560" y="5065776"/>
            <a:ext cx="3246120" cy="502920"/>
          </a:xfrm>
          <a:prstGeom prst="rect">
            <a:avLst/>
          </a:prstGeom>
          <a:noFill/>
          <a:ln/>
        </p:spPr>
        <p:txBody>
          <a:bodyPr wrap="square" lIns="0" tIns="0" rIns="0" bIns="0" rtlCol="0" anchor="t"/>
          <a:lstStyle/>
          <a:p>
            <a:pPr indent="0" marL="0">
              <a:buNone/>
            </a:pPr>
            <a:r>
              <a:rPr lang="en-US" sz="2200" b="1" dirty="0">
                <a:solidFill>
                  <a:schemeClr val="tx2"/>
                </a:solidFill>
                <a:latin typeface="Cambria" pitchFamily="34" charset="0"/>
                <a:ea typeface="Cambria" pitchFamily="34" charset="-122"/>
                <a:cs typeface="Cambria" pitchFamily="34" charset="-120"/>
              </a:rPr>
              <a:t>92%</a:t>
            </a:r>
            <a:endParaRPr lang="en-US" sz="2200" dirty="0"/>
          </a:p>
        </p:txBody>
      </p:sp>
      <p:sp>
        <p:nvSpPr>
          <p:cNvPr id="23" name="Text 20"/>
          <p:cNvSpPr txBox="1"/>
          <p:nvPr/>
        </p:nvSpPr>
        <p:spPr>
          <a:xfrm>
            <a:off x="4480560" y="5577840"/>
            <a:ext cx="3246120" cy="429768"/>
          </a:xfrm>
          <a:prstGeom prst="rect">
            <a:avLst/>
          </a:prstGeom>
          <a:noFill/>
          <a:ln/>
        </p:spPr>
        <p:txBody>
          <a:bodyPr wrap="square" lIns="0" tIns="0" rIns="0" bIns="0" rtlCol="0" anchor="t"/>
          <a:lstStyle/>
          <a:p>
            <a:pPr indent="0" marL="0">
              <a:buNone/>
            </a:pPr>
            <a:r>
              <a:rPr lang="en-US" sz="1250" dirty="0">
                <a:solidFill>
                  <a:srgbClr val="333333"/>
                </a:solidFill>
              </a:rPr>
              <a:t>of maintenance money is spent after a failure (corrective work)</a:t>
            </a:r>
            <a:endParaRPr lang="en-US" sz="1250" dirty="0"/>
          </a:p>
        </p:txBody>
      </p:sp>
      <p:sp>
        <p:nvSpPr>
          <p:cNvPr id="24" name="insight"/>
          <p:cNvSpPr/>
          <p:nvPr/>
        </p:nvSpPr>
        <p:spPr>
          <a:xfrm>
            <a:off x="8046720" y="4956048"/>
            <a:ext cx="3566160" cy="1115568"/>
          </a:xfrm>
          <a:prstGeom prst="rect">
            <a:avLst/>
          </a:prstGeom>
          <a:solidFill>
            <a:schemeClr val="bg2"/>
          </a:solidFill>
          <a:ln w="12700">
            <a:solidFill>
              <a:schemeClr val="bg2"/>
            </a:solidFill>
            <a:prstDash val="solid"/>
          </a:ln>
        </p:spPr>
      </p:sp>
      <p:sp>
        <p:nvSpPr>
          <p:cNvPr id="25" name="Text 22"/>
          <p:cNvSpPr txBox="1"/>
          <p:nvPr/>
        </p:nvSpPr>
        <p:spPr>
          <a:xfrm>
            <a:off x="8229600" y="5065776"/>
            <a:ext cx="3246120" cy="502920"/>
          </a:xfrm>
          <a:prstGeom prst="rect">
            <a:avLst/>
          </a:prstGeom>
          <a:noFill/>
          <a:ln/>
        </p:spPr>
        <p:txBody>
          <a:bodyPr wrap="square" lIns="0" tIns="0" rIns="0" bIns="0" rtlCol="0" anchor="t"/>
          <a:lstStyle/>
          <a:p>
            <a:pPr indent="0" marL="0">
              <a:buNone/>
            </a:pPr>
            <a:r>
              <a:rPr lang="en-US" sz="2200" b="1" dirty="0">
                <a:solidFill>
                  <a:schemeClr val="tx2"/>
                </a:solidFill>
                <a:latin typeface="Cambria" pitchFamily="34" charset="0"/>
                <a:ea typeface="Cambria" pitchFamily="34" charset="-122"/>
                <a:cs typeface="Cambria" pitchFamily="34" charset="-120"/>
              </a:rPr>
              <a:t>$41.5K–$50.0K</a:t>
            </a:r>
            <a:endParaRPr lang="en-US" sz="2200" dirty="0"/>
          </a:p>
        </p:txBody>
      </p:sp>
      <p:sp>
        <p:nvSpPr>
          <p:cNvPr id="26" name="Text 23"/>
          <p:cNvSpPr txBox="1"/>
          <p:nvPr/>
        </p:nvSpPr>
        <p:spPr>
          <a:xfrm>
            <a:off x="8229600" y="5577840"/>
            <a:ext cx="3246120" cy="429768"/>
          </a:xfrm>
          <a:prstGeom prst="rect">
            <a:avLst/>
          </a:prstGeom>
          <a:noFill/>
          <a:ln/>
        </p:spPr>
        <p:txBody>
          <a:bodyPr wrap="square" lIns="0" tIns="0" rIns="0" bIns="0" rtlCol="0" anchor="t"/>
          <a:lstStyle/>
          <a:p>
            <a:pPr indent="0" marL="0">
              <a:buNone/>
            </a:pPr>
            <a:r>
              <a:rPr lang="en-US" sz="1250" dirty="0">
                <a:solidFill>
                  <a:srgbClr val="333333"/>
                </a:solidFill>
              </a:rPr>
              <a:t>Loss per record in every quarter: a stable baseline to beat</a:t>
            </a:r>
            <a:endParaRPr lang="en-US" sz="1250" dirty="0"/>
          </a:p>
        </p:txBody>
      </p:sp>
      <p:sp>
        <p:nvSpPr>
          <p:cNvPr id="27" name="presenter name"/>
          <p:cNvSpPr txBox="1"/>
          <p:nvPr/>
        </p:nvSpPr>
        <p:spPr>
          <a:xfrm>
            <a:off x="6949440" y="164592"/>
            <a:ext cx="4690872" cy="274320"/>
          </a:xfrm>
          <a:prstGeom prst="rect">
            <a:avLst/>
          </a:prstGeom>
          <a:noFill/>
          <a:ln/>
        </p:spPr>
        <p:txBody>
          <a:bodyPr wrap="square" lIns="0" tIns="0" rIns="0" bIns="0" rtlCol="0" anchor="ctr"/>
          <a:lstStyle/>
          <a:p>
            <a:pPr algn="r" indent="0" marL="0">
              <a:buNone/>
            </a:pPr>
            <a:r>
              <a:rPr lang="en-US" sz="1100" dirty="0">
                <a:solidFill>
                  <a:srgbClr val="8C8C8C"/>
                </a:solidFill>
              </a:rPr>
              <a:t>Presenter: </a:t>
            </a:r>
            <a:pPr algn="r" indent="0" marL="0">
              <a:buNone/>
            </a:pPr>
            <a:r>
              <a:rPr lang="en-US" sz="1100" b="1" dirty="0">
                <a:solidFill>
                  <a:srgbClr val="1F3A5F"/>
                </a:solidFill>
              </a:rPr>
              <a:t>Ahmed Fawzy Mohamed Rashed</a:t>
            </a:r>
            <a:endParaRPr lang="en-US" sz="1100" dirty="0"/>
          </a:p>
        </p:txBody>
      </p:sp>
      <p:sp>
        <p:nvSpPr>
          <p:cNvPr id="25" name="Slide Number Placeholder 0"/>
          <p:cNvSpPr>
            <a:spLocks noGrp="1"/>
          </p:cNvSpPr>
          <p:nvPr>
            <p:ph type="sldNum" sz="quarter" idx="4294967295"/>
          </p:nvPr>
        </p:nvSpPr>
        <p:spPr>
          <a:xfrm>
            <a:off x="11155680" y="647395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C8C8C"/>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502920"/>
            <a:ext cx="11064240" cy="868680"/>
          </a:xfrm>
          <a:prstGeom prst="rect">
            <a:avLst/>
          </a:prstGeom>
          <a:noFill/>
          <a:ln/>
        </p:spPr>
        <p:txBody>
          <a:bodyPr wrap="square" lIns="0" tIns="0" rIns="0" bIns="0" rtlCol="0" anchor="t"/>
          <a:lstStyle/>
          <a:p>
            <a:pPr algn="l" indent="0" marL="0">
              <a:buNone/>
            </a:pPr>
            <a:r>
              <a:rPr lang="en-US" sz="2600" b="1" dirty="0">
                <a:solidFill>
                  <a:schemeClr val="tx2"/>
                </a:solidFill>
                <a:latin typeface="Cambria" pitchFamily="34" charset="0"/>
                <a:ea typeface="Cambria" pitchFamily="34" charset="-122"/>
                <a:cs typeface="Cambria" pitchFamily="34" charset="-120"/>
              </a:rPr>
              <a:t>Our Power BI dashboard takes managers from the big picture to the record that needs action</a:t>
            </a:r>
            <a:endParaRPr lang="en-US" sz="2600" dirty="0"/>
          </a:p>
        </p:txBody>
      </p:sp>
      <p:sp>
        <p:nvSpPr>
          <p:cNvPr id="3" name="frame"/>
          <p:cNvSpPr/>
          <p:nvPr/>
        </p:nvSpPr>
        <p:spPr>
          <a:xfrm>
            <a:off x="530352" y="1581912"/>
            <a:ext cx="7077456" cy="4053738"/>
          </a:xfrm>
          <a:prstGeom prst="rect">
            <a:avLst/>
          </a:prstGeom>
          <a:solidFill>
            <a:srgbClr val="C9CED6"/>
          </a:solidFill>
          <a:ln w="12700">
            <a:solidFill>
              <a:srgbClr val="C9CED6"/>
            </a:solidFill>
            <a:prstDash val="solid"/>
          </a:ln>
        </p:spPr>
      </p:sp>
      <p:pic>
        <p:nvPicPr>
          <p:cNvPr id="4" name="screenshot" descr="dash/d1.jpg">    </p:cNvPr>
          <p:cNvPicPr>
            <a:picLocks noChangeAspect="1"/>
          </p:cNvPicPr>
          <p:nvPr/>
        </p:nvPicPr>
        <p:blipFill>
          <a:blip r:embed="rId1"/>
          <a:stretch>
            <a:fillRect/>
          </a:stretch>
        </p:blipFill>
        <p:spPr>
          <a:xfrm>
            <a:off x="548640" y="1600200"/>
            <a:ext cx="7040880" cy="4017162"/>
          </a:xfrm>
          <a:prstGeom prst="rect">
            <a:avLst/>
          </a:prstGeom>
        </p:spPr>
      </p:pic>
      <p:sp>
        <p:nvSpPr>
          <p:cNvPr id="5" name="Text 2"/>
          <p:cNvSpPr txBox="1"/>
          <p:nvPr/>
        </p:nvSpPr>
        <p:spPr>
          <a:xfrm>
            <a:off x="7909560" y="1600200"/>
            <a:ext cx="3749040" cy="365760"/>
          </a:xfrm>
          <a:prstGeom prst="rect">
            <a:avLst/>
          </a:prstGeom>
          <a:noFill/>
          <a:ln/>
        </p:spPr>
        <p:txBody>
          <a:bodyPr wrap="square" lIns="0" tIns="0" rIns="0" bIns="0" rtlCol="0" anchor="t"/>
          <a:lstStyle/>
          <a:p>
            <a:pPr indent="0" marL="0">
              <a:buNone/>
            </a:pPr>
            <a:r>
              <a:rPr lang="en-US" sz="1600" b="1" dirty="0">
                <a:solidFill>
                  <a:schemeClr val="tx2"/>
                </a:solidFill>
              </a:rPr>
              <a:t>Eight pages, one data model</a:t>
            </a:r>
            <a:endParaRPr lang="en-US" sz="1600" dirty="0"/>
          </a:p>
        </p:txBody>
      </p:sp>
      <p:sp>
        <p:nvSpPr>
          <p:cNvPr id="6" name="Text 3"/>
          <p:cNvSpPr txBox="1"/>
          <p:nvPr/>
        </p:nvSpPr>
        <p:spPr>
          <a:xfrm>
            <a:off x="7909560" y="2011680"/>
            <a:ext cx="3749040" cy="2103120"/>
          </a:xfrm>
          <a:prstGeom prst="rect">
            <a:avLst/>
          </a:prstGeom>
          <a:noFill/>
          <a:ln/>
        </p:spPr>
        <p:txBody>
          <a:bodyPr wrap="square" lIns="0" tIns="0" rIns="0" bIns="0" rtlCol="0" anchor="t"/>
          <a:lstStyle/>
          <a:p>
            <a:pPr marL="190500" indent="-190500">
              <a:spcAft>
                <a:spcPts val="900"/>
              </a:spcAft>
              <a:buSzPct val="100000"/>
              <a:buChar char="•"/>
            </a:pPr>
            <a:r>
              <a:rPr lang="en-US" sz="1400" dirty="0">
                <a:solidFill>
                  <a:schemeClr val="tx1"/>
                </a:solidFill>
              </a:rPr>
              <a:t>Summary and KPI Scorecard</a:t>
            </a:r>
            <a:endParaRPr lang="en-US" sz="1400" dirty="0"/>
          </a:p>
          <a:p>
            <a:pPr marL="190500" indent="-190500">
              <a:spcAft>
                <a:spcPts val="900"/>
              </a:spcAft>
              <a:buSzPct val="100000"/>
              <a:buChar char="•"/>
            </a:pPr>
            <a:r>
              <a:rPr lang="en-US" sz="1400" dirty="0">
                <a:solidFill>
                  <a:schemeClr val="tx1"/>
                </a:solidFill>
              </a:rPr>
              <a:t>Reliability · Work Orders · Cost &amp; Loss</a:t>
            </a:r>
            <a:endParaRPr lang="en-US" sz="1400" dirty="0"/>
          </a:p>
          <a:p>
            <a:pPr marL="190500" indent="-190500">
              <a:spcAft>
                <a:spcPts val="900"/>
              </a:spcAft>
              <a:buSzPct val="100000"/>
              <a:buChar char="•"/>
            </a:pPr>
            <a:r>
              <a:rPr lang="en-US" sz="1400" dirty="0">
                <a:solidFill>
                  <a:schemeClr val="tx1"/>
                </a:solidFill>
              </a:rPr>
              <a:t>Risk: model watchlist and exception list</a:t>
            </a:r>
            <a:endParaRPr lang="en-US" sz="1400" dirty="0"/>
          </a:p>
          <a:p>
            <a:pPr marL="190500" indent="-190500">
              <a:spcAft>
                <a:spcPts val="900"/>
              </a:spcAft>
              <a:buSzPct val="100000"/>
              <a:buChar char="•"/>
            </a:pPr>
            <a:r>
              <a:rPr lang="en-US" sz="1400" dirty="0">
                <a:solidFill>
                  <a:schemeClr val="tx1"/>
                </a:solidFill>
              </a:rPr>
              <a:t>Method: definitions and data notes</a:t>
            </a:r>
            <a:endParaRPr lang="en-US" sz="1400" dirty="0"/>
          </a:p>
          <a:p>
            <a:pPr marL="190500" indent="-190500">
              <a:spcAft>
                <a:spcPts val="900"/>
              </a:spcAft>
              <a:buSzPct val="100000"/>
              <a:buChar char="•"/>
            </a:pPr>
            <a:r>
              <a:rPr lang="en-US" sz="1400" dirty="0">
                <a:solidFill>
                  <a:schemeClr val="tx1"/>
                </a:solidFill>
              </a:rPr>
              <a:t>Drill-through to one asset class</a:t>
            </a:r>
            <a:endParaRPr lang="en-US" sz="1400" dirty="0"/>
          </a:p>
        </p:txBody>
      </p:sp>
      <p:sp>
        <p:nvSpPr>
          <p:cNvPr id="7" name="Text 4"/>
          <p:cNvSpPr txBox="1"/>
          <p:nvPr/>
        </p:nvSpPr>
        <p:spPr>
          <a:xfrm>
            <a:off x="7909560" y="4160520"/>
            <a:ext cx="3749040" cy="365760"/>
          </a:xfrm>
          <a:prstGeom prst="rect">
            <a:avLst/>
          </a:prstGeom>
          <a:noFill/>
          <a:ln/>
        </p:spPr>
        <p:txBody>
          <a:bodyPr wrap="square" lIns="0" tIns="0" rIns="0" bIns="0" rtlCol="0" anchor="t"/>
          <a:lstStyle/>
          <a:p>
            <a:pPr indent="0" marL="0">
              <a:buNone/>
            </a:pPr>
            <a:r>
              <a:rPr lang="en-US" sz="1600" b="1" dirty="0">
                <a:solidFill>
                  <a:schemeClr val="accent2"/>
                </a:solidFill>
              </a:rPr>
              <a:t>Live demo path</a:t>
            </a:r>
            <a:endParaRPr lang="en-US" sz="1600" dirty="0"/>
          </a:p>
        </p:txBody>
      </p:sp>
      <p:sp>
        <p:nvSpPr>
          <p:cNvPr id="8" name="Text 5"/>
          <p:cNvSpPr txBox="1"/>
          <p:nvPr/>
        </p:nvSpPr>
        <p:spPr>
          <a:xfrm>
            <a:off x="7909560" y="4572000"/>
            <a:ext cx="3749040" cy="1463040"/>
          </a:xfrm>
          <a:prstGeom prst="rect">
            <a:avLst/>
          </a:prstGeom>
          <a:noFill/>
          <a:ln/>
        </p:spPr>
        <p:txBody>
          <a:bodyPr wrap="square" lIns="0" tIns="0" rIns="0" bIns="0" rtlCol="0" anchor="t"/>
          <a:lstStyle/>
          <a:p>
            <a:pPr marL="190500" indent="-190500">
              <a:spcAft>
                <a:spcPts val="900"/>
              </a:spcAft>
              <a:buSzPct val="100000"/>
              <a:buChar char="•"/>
            </a:pPr>
            <a:r>
              <a:rPr lang="en-US" sz="1400" dirty="0">
                <a:solidFill>
                  <a:schemeClr val="tx1"/>
                </a:solidFill>
              </a:rPr>
              <a:t>Filter Criticality = Critical</a:t>
            </a:r>
            <a:endParaRPr lang="en-US" sz="1400" dirty="0"/>
          </a:p>
          <a:p>
            <a:pPr marL="190500" indent="-190500">
              <a:spcAft>
                <a:spcPts val="900"/>
              </a:spcAft>
              <a:buSzPct val="100000"/>
              <a:buChar char="•"/>
            </a:pPr>
            <a:r>
              <a:rPr lang="en-US" sz="1400" dirty="0">
                <a:solidFill>
                  <a:schemeClr val="tx1"/>
                </a:solidFill>
              </a:rPr>
              <a:t>Read the criticality × strategy matrix</a:t>
            </a:r>
            <a:endParaRPr lang="en-US" sz="1400" dirty="0"/>
          </a:p>
          <a:p>
            <a:pPr marL="190500" indent="-190500">
              <a:spcAft>
                <a:spcPts val="900"/>
              </a:spcAft>
              <a:buSzPct val="100000"/>
              <a:buChar char="•"/>
            </a:pPr>
            <a:r>
              <a:rPr lang="en-US" sz="1400" dirty="0">
                <a:solidFill>
                  <a:schemeClr val="tx1"/>
                </a:solidFill>
              </a:rPr>
              <a:t>Drill through Railway Signalling</a:t>
            </a:r>
            <a:endParaRPr lang="en-US" sz="1400" dirty="0"/>
          </a:p>
          <a:p>
            <a:pPr marL="190500" indent="-190500">
              <a:spcAft>
                <a:spcPts val="900"/>
              </a:spcAft>
              <a:buSzPct val="100000"/>
              <a:buChar char="•"/>
            </a:pPr>
            <a:r>
              <a:rPr lang="en-US" sz="1400" dirty="0">
                <a:solidFill>
                  <a:schemeClr val="tx1"/>
                </a:solidFill>
              </a:rPr>
              <a:t>Open the Risk page</a:t>
            </a:r>
            <a:endParaRPr lang="en-US" sz="1400" dirty="0"/>
          </a:p>
        </p:txBody>
      </p:sp>
      <p:sp>
        <p:nvSpPr>
          <p:cNvPr id="9" name="Text 6"/>
          <p:cNvSpPr txBox="1"/>
          <p:nvPr/>
        </p:nvSpPr>
        <p:spPr>
          <a:xfrm>
            <a:off x="548640" y="6126480"/>
            <a:ext cx="11064240" cy="256032"/>
          </a:xfrm>
          <a:prstGeom prst="rect">
            <a:avLst/>
          </a:prstGeom>
          <a:noFill/>
          <a:ln/>
        </p:spPr>
        <p:txBody>
          <a:bodyPr wrap="square" lIns="0" tIns="0" rIns="0" bIns="0" rtlCol="0" anchor="t"/>
          <a:lstStyle/>
          <a:p>
            <a:pPr indent="0" marL="0">
              <a:buNone/>
            </a:pPr>
            <a:r>
              <a:rPr lang="en-US" sz="1000" i="1" dirty="0">
                <a:solidFill>
                  <a:srgbClr val="7A7A7A"/>
                </a:solidFill>
              </a:rPr>
              <a:t>Filters for year, asset class, criticality and strategy on every page. Data is embedded in the PBIX file.</a:t>
            </a:r>
            <a:endParaRPr lang="en-US" sz="1000" dirty="0"/>
          </a:p>
        </p:txBody>
      </p:sp>
      <p:sp>
        <p:nvSpPr>
          <p:cNvPr id="10" name="presenter name"/>
          <p:cNvSpPr txBox="1"/>
          <p:nvPr/>
        </p:nvSpPr>
        <p:spPr>
          <a:xfrm>
            <a:off x="6949440" y="164592"/>
            <a:ext cx="4690872" cy="274320"/>
          </a:xfrm>
          <a:prstGeom prst="rect">
            <a:avLst/>
          </a:prstGeom>
          <a:noFill/>
          <a:ln/>
        </p:spPr>
        <p:txBody>
          <a:bodyPr wrap="square" lIns="0" tIns="0" rIns="0" bIns="0" rtlCol="0" anchor="ctr"/>
          <a:lstStyle/>
          <a:p>
            <a:pPr algn="r" indent="0" marL="0">
              <a:buNone/>
            </a:pPr>
            <a:r>
              <a:rPr lang="en-US" sz="1100" dirty="0">
                <a:solidFill>
                  <a:srgbClr val="8C8C8C"/>
                </a:solidFill>
              </a:rPr>
              <a:t>Presenter: </a:t>
            </a:r>
            <a:pPr algn="r" indent="0" marL="0">
              <a:buNone/>
            </a:pPr>
            <a:r>
              <a:rPr lang="en-US" sz="1100" b="1" dirty="0">
                <a:solidFill>
                  <a:srgbClr val="1F3A5F"/>
                </a:solidFill>
              </a:rPr>
              <a:t>Ahmed Fawzy Mohamed Rashed</a:t>
            </a:r>
            <a:endParaRPr lang="en-US" sz="1100" dirty="0"/>
          </a:p>
        </p:txBody>
      </p:sp>
      <p:sp>
        <p:nvSpPr>
          <p:cNvPr id="25" name="Slide Number Placeholder 0"/>
          <p:cNvSpPr>
            <a:spLocks noGrp="1"/>
          </p:cNvSpPr>
          <p:nvPr>
            <p:ph type="sldNum" sz="quarter" idx="4294967295"/>
          </p:nvPr>
        </p:nvSpPr>
        <p:spPr>
          <a:xfrm>
            <a:off x="11155680" y="647395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C8C8C"/>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502920"/>
            <a:ext cx="11064240" cy="868680"/>
          </a:xfrm>
          <a:prstGeom prst="rect">
            <a:avLst/>
          </a:prstGeom>
          <a:noFill/>
          <a:ln/>
        </p:spPr>
        <p:txBody>
          <a:bodyPr wrap="square" lIns="0" tIns="0" rIns="0" bIns="0" rtlCol="0" anchor="t"/>
          <a:lstStyle/>
          <a:p>
            <a:pPr algn="l" indent="0" marL="0">
              <a:buNone/>
            </a:pPr>
            <a:r>
              <a:rPr lang="en-US" sz="2600" b="1" dirty="0">
                <a:solidFill>
                  <a:schemeClr val="tx2"/>
                </a:solidFill>
                <a:latin typeface="Cambria" pitchFamily="34" charset="0"/>
                <a:ea typeface="Cambria" pitchFamily="34" charset="-122"/>
                <a:cs typeface="Cambria" pitchFamily="34" charset="-120"/>
              </a:rPr>
              <a:t>Critical assets do not fail more often, but take 16.3 hours to repair</a:t>
            </a:r>
            <a:endParaRPr lang="en-US" sz="2600" dirty="0"/>
          </a:p>
        </p:txBody>
      </p:sp>
      <p:graphicFrame>
        <p:nvGraphicFramePr>
          <p:cNvPr id="3" name="Chart 0" descr=""/>
          <p:cNvGraphicFramePr/>
          <p:nvPr/>
        </p:nvGraphicFramePr>
        <p:xfrm>
          <a:off x="548640" y="1508760"/>
          <a:ext cx="2743200" cy="2651760"/>
        </p:xfrm>
        <a:graphic xmlns:a="http://schemas.openxmlformats.org/drawingml/2006/main">
          <a:graphicData uri="http://schemas.openxmlformats.org/drawingml/2006/chart">
            <c:chart xmlns:c="http://schemas.openxmlformats.org/drawingml/2006/chart" r:id="rId1"/>
          </a:graphicData>
        </a:graphic>
      </p:graphicFrame>
      <p:graphicFrame>
        <p:nvGraphicFramePr>
          <p:cNvPr id="4" name="Chart 1" descr=""/>
          <p:cNvGraphicFramePr/>
          <p:nvPr/>
        </p:nvGraphicFramePr>
        <p:xfrm>
          <a:off x="3383280" y="1508760"/>
          <a:ext cx="2743200" cy="2651760"/>
        </p:xfrm>
        <a:graphic xmlns:a="http://schemas.openxmlformats.org/drawingml/2006/main">
          <a:graphicData uri="http://schemas.openxmlformats.org/drawingml/2006/chart">
            <c:chart xmlns:c="http://schemas.openxmlformats.org/drawingml/2006/chart" r:id="rId2"/>
          </a:graphicData>
        </a:graphic>
      </p:graphicFrame>
      <p:sp>
        <p:nvSpPr>
          <p:cNvPr id="5" name="frame"/>
          <p:cNvSpPr/>
          <p:nvPr/>
        </p:nvSpPr>
        <p:spPr>
          <a:xfrm>
            <a:off x="6428232" y="1554480"/>
            <a:ext cx="5202936" cy="2341231"/>
          </a:xfrm>
          <a:prstGeom prst="rect">
            <a:avLst/>
          </a:prstGeom>
          <a:solidFill>
            <a:srgbClr val="C9CED6"/>
          </a:solidFill>
          <a:ln w="12700">
            <a:solidFill>
              <a:srgbClr val="C9CED6"/>
            </a:solidFill>
            <a:prstDash val="solid"/>
          </a:ln>
        </p:spPr>
      </p:sp>
      <p:pic>
        <p:nvPicPr>
          <p:cNvPr id="6" name="screenshot" descr="dash/c_rel_mbtf_class.jpg">    </p:cNvPr>
          <p:cNvPicPr>
            <a:picLocks noChangeAspect="1"/>
          </p:cNvPicPr>
          <p:nvPr/>
        </p:nvPicPr>
        <p:blipFill>
          <a:blip r:embed="rId3"/>
          <a:stretch>
            <a:fillRect/>
          </a:stretch>
        </p:blipFill>
        <p:spPr>
          <a:xfrm>
            <a:off x="6446520" y="1572768"/>
            <a:ext cx="5166360" cy="2304655"/>
          </a:xfrm>
          <a:prstGeom prst="rect">
            <a:avLst/>
          </a:prstGeom>
        </p:spPr>
      </p:pic>
      <p:sp>
        <p:nvSpPr>
          <p:cNvPr id="7" name="Text 2"/>
          <p:cNvSpPr txBox="1"/>
          <p:nvPr/>
        </p:nvSpPr>
        <p:spPr>
          <a:xfrm>
            <a:off x="6446520" y="3931920"/>
            <a:ext cx="5166360" cy="256032"/>
          </a:xfrm>
          <a:prstGeom prst="rect">
            <a:avLst/>
          </a:prstGeom>
          <a:noFill/>
          <a:ln/>
        </p:spPr>
        <p:txBody>
          <a:bodyPr wrap="square" lIns="0" tIns="0" rIns="0" bIns="0" rtlCol="0" anchor="t"/>
          <a:lstStyle/>
          <a:p>
            <a:pPr indent="0" marL="0">
              <a:buNone/>
            </a:pPr>
            <a:r>
              <a:rPr lang="en-US" sz="1050" i="1" dirty="0">
                <a:solidFill>
                  <a:srgbClr val="6B6B6B"/>
                </a:solidFill>
              </a:rPr>
              <a:t>Dashboard, Reliability page: MTBF by asset class</a:t>
            </a:r>
            <a:endParaRPr lang="en-US" sz="1050" dirty="0"/>
          </a:p>
        </p:txBody>
      </p:sp>
      <p:sp>
        <p:nvSpPr>
          <p:cNvPr id="8" name="insight"/>
          <p:cNvSpPr/>
          <p:nvPr/>
        </p:nvSpPr>
        <p:spPr>
          <a:xfrm>
            <a:off x="548640" y="4343400"/>
            <a:ext cx="2651760" cy="1691640"/>
          </a:xfrm>
          <a:prstGeom prst="rect">
            <a:avLst/>
          </a:prstGeom>
          <a:solidFill>
            <a:schemeClr val="bg2"/>
          </a:solidFill>
          <a:ln w="12700">
            <a:solidFill>
              <a:schemeClr val="bg2"/>
            </a:solidFill>
            <a:prstDash val="solid"/>
          </a:ln>
        </p:spPr>
      </p:sp>
      <p:sp>
        <p:nvSpPr>
          <p:cNvPr id="9" name="Text 4"/>
          <p:cNvSpPr txBox="1"/>
          <p:nvPr/>
        </p:nvSpPr>
        <p:spPr>
          <a:xfrm>
            <a:off x="731520" y="4453128"/>
            <a:ext cx="2331720" cy="502920"/>
          </a:xfrm>
          <a:prstGeom prst="rect">
            <a:avLst/>
          </a:prstGeom>
          <a:noFill/>
          <a:ln/>
        </p:spPr>
        <p:txBody>
          <a:bodyPr wrap="square" lIns="0" tIns="0" rIns="0" bIns="0" rtlCol="0" anchor="t"/>
          <a:lstStyle/>
          <a:p>
            <a:pPr indent="0" marL="0">
              <a:buNone/>
            </a:pPr>
            <a:r>
              <a:rPr lang="en-US" sz="2200" b="1" dirty="0">
                <a:solidFill>
                  <a:schemeClr val="tx2"/>
                </a:solidFill>
                <a:latin typeface="Cambria" pitchFamily="34" charset="0"/>
                <a:ea typeface="Cambria" pitchFamily="34" charset="-122"/>
                <a:cs typeface="Cambria" pitchFamily="34" charset="-120"/>
              </a:rPr>
              <a:t>320 h</a:t>
            </a:r>
            <a:endParaRPr lang="en-US" sz="2200" dirty="0"/>
          </a:p>
        </p:txBody>
      </p:sp>
      <p:sp>
        <p:nvSpPr>
          <p:cNvPr id="10" name="Text 5"/>
          <p:cNvSpPr txBox="1"/>
          <p:nvPr/>
        </p:nvSpPr>
        <p:spPr>
          <a:xfrm>
            <a:off x="731520" y="4965192"/>
            <a:ext cx="2331720" cy="1005840"/>
          </a:xfrm>
          <a:prstGeom prst="rect">
            <a:avLst/>
          </a:prstGeom>
          <a:noFill/>
          <a:ln/>
        </p:spPr>
        <p:txBody>
          <a:bodyPr wrap="square" lIns="0" tIns="0" rIns="0" bIns="0" rtlCol="0" anchor="t"/>
          <a:lstStyle/>
          <a:p>
            <a:pPr indent="0" marL="0">
              <a:buNone/>
            </a:pPr>
            <a:r>
              <a:rPr lang="en-US" sz="1250" dirty="0">
                <a:solidFill>
                  <a:srgbClr val="333333"/>
                </a:solidFill>
              </a:rPr>
              <a:t>MTBF of critical assets: the same as other tiers (307–317 h)</a:t>
            </a:r>
            <a:endParaRPr lang="en-US" sz="1250" dirty="0"/>
          </a:p>
        </p:txBody>
      </p:sp>
      <p:sp>
        <p:nvSpPr>
          <p:cNvPr id="11" name="insight"/>
          <p:cNvSpPr/>
          <p:nvPr/>
        </p:nvSpPr>
        <p:spPr>
          <a:xfrm>
            <a:off x="3355848" y="4343400"/>
            <a:ext cx="2651760" cy="1691640"/>
          </a:xfrm>
          <a:prstGeom prst="rect">
            <a:avLst/>
          </a:prstGeom>
          <a:solidFill>
            <a:schemeClr val="bg2"/>
          </a:solidFill>
          <a:ln w="12700">
            <a:solidFill>
              <a:schemeClr val="bg2"/>
            </a:solidFill>
            <a:prstDash val="solid"/>
          </a:ln>
        </p:spPr>
      </p:sp>
      <p:sp>
        <p:nvSpPr>
          <p:cNvPr id="12" name="Text 7"/>
          <p:cNvSpPr txBox="1"/>
          <p:nvPr/>
        </p:nvSpPr>
        <p:spPr>
          <a:xfrm>
            <a:off x="3538728" y="4453128"/>
            <a:ext cx="2331720" cy="502920"/>
          </a:xfrm>
          <a:prstGeom prst="rect">
            <a:avLst/>
          </a:prstGeom>
          <a:noFill/>
          <a:ln/>
        </p:spPr>
        <p:txBody>
          <a:bodyPr wrap="square" lIns="0" tIns="0" rIns="0" bIns="0" rtlCol="0" anchor="t"/>
          <a:lstStyle/>
          <a:p>
            <a:pPr indent="0" marL="0">
              <a:buNone/>
            </a:pPr>
            <a:r>
              <a:rPr lang="en-US" sz="2200" b="1" dirty="0">
                <a:solidFill>
                  <a:schemeClr val="accent2"/>
                </a:solidFill>
                <a:latin typeface="Cambria" pitchFamily="34" charset="0"/>
                <a:ea typeface="Cambria" pitchFamily="34" charset="-122"/>
                <a:cs typeface="Cambria" pitchFamily="34" charset="-120"/>
              </a:rPr>
              <a:t>+5.2 h</a:t>
            </a:r>
            <a:endParaRPr lang="en-US" sz="2200" dirty="0"/>
          </a:p>
        </p:txBody>
      </p:sp>
      <p:sp>
        <p:nvSpPr>
          <p:cNvPr id="13" name="Text 8"/>
          <p:cNvSpPr txBox="1"/>
          <p:nvPr/>
        </p:nvSpPr>
        <p:spPr>
          <a:xfrm>
            <a:off x="3538728" y="4965192"/>
            <a:ext cx="2331720" cy="1005840"/>
          </a:xfrm>
          <a:prstGeom prst="rect">
            <a:avLst/>
          </a:prstGeom>
          <a:noFill/>
          <a:ln/>
        </p:spPr>
        <p:txBody>
          <a:bodyPr wrap="square" lIns="0" tIns="0" rIns="0" bIns="0" rtlCol="0" anchor="t"/>
          <a:lstStyle/>
          <a:p>
            <a:pPr indent="0" marL="0">
              <a:buNone/>
            </a:pPr>
            <a:r>
              <a:rPr lang="en-US" sz="1250" dirty="0">
                <a:solidFill>
                  <a:srgbClr val="333333"/>
                </a:solidFill>
              </a:rPr>
              <a:t>longer repair per critical failure than other tiers (16.3 vs 11.1 h)</a:t>
            </a:r>
            <a:endParaRPr lang="en-US" sz="1250" dirty="0"/>
          </a:p>
        </p:txBody>
      </p:sp>
      <p:sp>
        <p:nvSpPr>
          <p:cNvPr id="14" name="insight"/>
          <p:cNvSpPr/>
          <p:nvPr/>
        </p:nvSpPr>
        <p:spPr>
          <a:xfrm>
            <a:off x="6163056" y="4343400"/>
            <a:ext cx="2651760" cy="1691640"/>
          </a:xfrm>
          <a:prstGeom prst="rect">
            <a:avLst/>
          </a:prstGeom>
          <a:solidFill>
            <a:schemeClr val="bg2"/>
          </a:solidFill>
          <a:ln w="12700">
            <a:solidFill>
              <a:schemeClr val="bg2"/>
            </a:solidFill>
            <a:prstDash val="solid"/>
          </a:ln>
        </p:spPr>
      </p:sp>
      <p:sp>
        <p:nvSpPr>
          <p:cNvPr id="15" name="Text 10"/>
          <p:cNvSpPr txBox="1"/>
          <p:nvPr/>
        </p:nvSpPr>
        <p:spPr>
          <a:xfrm>
            <a:off x="6345936" y="4453128"/>
            <a:ext cx="2331720" cy="502920"/>
          </a:xfrm>
          <a:prstGeom prst="rect">
            <a:avLst/>
          </a:prstGeom>
          <a:noFill/>
          <a:ln/>
        </p:spPr>
        <p:txBody>
          <a:bodyPr wrap="square" lIns="0" tIns="0" rIns="0" bIns="0" rtlCol="0" anchor="t"/>
          <a:lstStyle/>
          <a:p>
            <a:pPr indent="0" marL="0">
              <a:buNone/>
            </a:pPr>
            <a:r>
              <a:rPr lang="en-US" sz="2200" b="1" dirty="0">
                <a:solidFill>
                  <a:schemeClr val="accent2"/>
                </a:solidFill>
                <a:latin typeface="Cambria" pitchFamily="34" charset="0"/>
                <a:ea typeface="Cambria" pitchFamily="34" charset="-122"/>
                <a:cs typeface="Cambria" pitchFamily="34" charset="-120"/>
              </a:rPr>
              <a:t>≈2,660 h/yr</a:t>
            </a:r>
            <a:endParaRPr lang="en-US" sz="2200" dirty="0"/>
          </a:p>
        </p:txBody>
      </p:sp>
      <p:sp>
        <p:nvSpPr>
          <p:cNvPr id="16" name="Text 11"/>
          <p:cNvSpPr txBox="1"/>
          <p:nvPr/>
        </p:nvSpPr>
        <p:spPr>
          <a:xfrm>
            <a:off x="6345936" y="4965192"/>
            <a:ext cx="2331720" cy="1005840"/>
          </a:xfrm>
          <a:prstGeom prst="rect">
            <a:avLst/>
          </a:prstGeom>
          <a:noFill/>
          <a:ln/>
        </p:spPr>
        <p:txBody>
          <a:bodyPr wrap="square" lIns="0" tIns="0" rIns="0" bIns="0" rtlCol="0" anchor="t"/>
          <a:lstStyle/>
          <a:p>
            <a:pPr indent="0" marL="0">
              <a:buNone/>
            </a:pPr>
            <a:r>
              <a:rPr lang="en-US" sz="1250" dirty="0">
                <a:solidFill>
                  <a:srgbClr val="333333"/>
                </a:solidFill>
              </a:rPr>
              <a:t>extra critical downtime: 508 failures a year × 5.2 h</a:t>
            </a:r>
            <a:endParaRPr lang="en-US" sz="1250" dirty="0"/>
          </a:p>
        </p:txBody>
      </p:sp>
      <p:sp>
        <p:nvSpPr>
          <p:cNvPr id="17" name="insight"/>
          <p:cNvSpPr/>
          <p:nvPr/>
        </p:nvSpPr>
        <p:spPr>
          <a:xfrm>
            <a:off x="8970264" y="4343400"/>
            <a:ext cx="2642616" cy="1691640"/>
          </a:xfrm>
          <a:prstGeom prst="rect">
            <a:avLst/>
          </a:prstGeom>
          <a:solidFill>
            <a:srgbClr val="F6E9E6"/>
          </a:solidFill>
          <a:ln w="12700">
            <a:solidFill>
              <a:srgbClr val="F6E9E6"/>
            </a:solidFill>
            <a:prstDash val="solid"/>
          </a:ln>
        </p:spPr>
      </p:sp>
      <p:sp>
        <p:nvSpPr>
          <p:cNvPr id="18" name="Text 13"/>
          <p:cNvSpPr txBox="1"/>
          <p:nvPr/>
        </p:nvSpPr>
        <p:spPr>
          <a:xfrm>
            <a:off x="9153144" y="4453128"/>
            <a:ext cx="2322576" cy="502920"/>
          </a:xfrm>
          <a:prstGeom prst="rect">
            <a:avLst/>
          </a:prstGeom>
          <a:noFill/>
          <a:ln/>
        </p:spPr>
        <p:txBody>
          <a:bodyPr wrap="square" lIns="0" tIns="0" rIns="0" bIns="0" rtlCol="0" anchor="t"/>
          <a:lstStyle/>
          <a:p>
            <a:pPr indent="0" marL="0">
              <a:buNone/>
            </a:pPr>
            <a:r>
              <a:rPr lang="en-US" sz="2200" b="1" dirty="0">
                <a:solidFill>
                  <a:schemeClr val="accent2"/>
                </a:solidFill>
                <a:latin typeface="Cambria" pitchFamily="34" charset="0"/>
                <a:ea typeface="Cambria" pitchFamily="34" charset="-122"/>
                <a:cs typeface="Cambria" pitchFamily="34" charset="-120"/>
              </a:rPr>
              <a:t>≈$6.7M/yr</a:t>
            </a:r>
            <a:endParaRPr lang="en-US" sz="2200" dirty="0"/>
          </a:p>
        </p:txBody>
      </p:sp>
      <p:sp>
        <p:nvSpPr>
          <p:cNvPr id="19" name="Text 14"/>
          <p:cNvSpPr txBox="1"/>
          <p:nvPr/>
        </p:nvSpPr>
        <p:spPr>
          <a:xfrm>
            <a:off x="9153144" y="4965192"/>
            <a:ext cx="2322576" cy="1005840"/>
          </a:xfrm>
          <a:prstGeom prst="rect">
            <a:avLst/>
          </a:prstGeom>
          <a:noFill/>
          <a:ln/>
        </p:spPr>
        <p:txBody>
          <a:bodyPr wrap="square" lIns="0" tIns="0" rIns="0" bIns="0" rtlCol="0" anchor="t"/>
          <a:lstStyle/>
          <a:p>
            <a:pPr indent="0" marL="0">
              <a:buNone/>
            </a:pPr>
            <a:r>
              <a:rPr lang="en-US" sz="1250" dirty="0">
                <a:solidFill>
                  <a:srgbClr val="333333"/>
                </a:solidFill>
              </a:rPr>
              <a:t>production lost to slow critical repairs, at $2,530 per critical hour</a:t>
            </a:r>
            <a:endParaRPr lang="en-US" sz="1250" dirty="0"/>
          </a:p>
        </p:txBody>
      </p:sp>
      <p:sp>
        <p:nvSpPr>
          <p:cNvPr id="20" name="presenter name"/>
          <p:cNvSpPr txBox="1"/>
          <p:nvPr/>
        </p:nvSpPr>
        <p:spPr>
          <a:xfrm>
            <a:off x="6949440" y="164592"/>
            <a:ext cx="4690872" cy="274320"/>
          </a:xfrm>
          <a:prstGeom prst="rect">
            <a:avLst/>
          </a:prstGeom>
          <a:noFill/>
          <a:ln/>
        </p:spPr>
        <p:txBody>
          <a:bodyPr wrap="square" lIns="0" tIns="0" rIns="0" bIns="0" rtlCol="0" anchor="ctr"/>
          <a:lstStyle/>
          <a:p>
            <a:pPr algn="r" indent="0" marL="0">
              <a:buNone/>
            </a:pPr>
            <a:r>
              <a:rPr lang="en-US" sz="1100" dirty="0">
                <a:solidFill>
                  <a:srgbClr val="8C8C8C"/>
                </a:solidFill>
              </a:rPr>
              <a:t>Presenter: </a:t>
            </a:r>
            <a:pPr algn="r" indent="0" marL="0">
              <a:buNone/>
            </a:pPr>
            <a:r>
              <a:rPr lang="en-US" sz="1100" b="1" dirty="0">
                <a:solidFill>
                  <a:srgbClr val="1F3A5F"/>
                </a:solidFill>
              </a:rPr>
              <a:t>Ali Elraey</a:t>
            </a:r>
            <a:endParaRPr lang="en-US" sz="1100" dirty="0"/>
          </a:p>
        </p:txBody>
      </p:sp>
      <p:sp>
        <p:nvSpPr>
          <p:cNvPr id="25" name="Slide Number Placeholder 0"/>
          <p:cNvSpPr>
            <a:spLocks noGrp="1"/>
          </p:cNvSpPr>
          <p:nvPr>
            <p:ph type="sldNum" sz="quarter" idx="4294967295"/>
          </p:nvPr>
        </p:nvSpPr>
        <p:spPr>
          <a:xfrm>
            <a:off x="11155680" y="647395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C8C8C"/>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502920"/>
            <a:ext cx="11064240" cy="868680"/>
          </a:xfrm>
          <a:prstGeom prst="rect">
            <a:avLst/>
          </a:prstGeom>
          <a:noFill/>
          <a:ln/>
        </p:spPr>
        <p:txBody>
          <a:bodyPr wrap="square" lIns="0" tIns="0" rIns="0" bIns="0" rtlCol="0" anchor="t"/>
          <a:lstStyle/>
          <a:p>
            <a:pPr algn="l" indent="0" marL="0">
              <a:buNone/>
            </a:pPr>
            <a:r>
              <a:rPr lang="en-US" sz="2600" b="1" dirty="0">
                <a:solidFill>
                  <a:schemeClr val="tx2"/>
                </a:solidFill>
                <a:latin typeface="Cambria" pitchFamily="34" charset="0"/>
                <a:ea typeface="Cambria" pitchFamily="34" charset="-122"/>
                <a:cs typeface="Cambria" pitchFamily="34" charset="-120"/>
              </a:rPr>
              <a:t>Reactive care and ageing assets drive the loss, and critical assets get the least spare parts</a:t>
            </a:r>
            <a:endParaRPr lang="en-US" sz="2600" dirty="0"/>
          </a:p>
        </p:txBody>
      </p:sp>
      <p:sp>
        <p:nvSpPr>
          <p:cNvPr id="3" name="frame"/>
          <p:cNvSpPr/>
          <p:nvPr/>
        </p:nvSpPr>
        <p:spPr>
          <a:xfrm>
            <a:off x="530352" y="1536192"/>
            <a:ext cx="5431536" cy="2474128"/>
          </a:xfrm>
          <a:prstGeom prst="rect">
            <a:avLst/>
          </a:prstGeom>
          <a:solidFill>
            <a:srgbClr val="C9CED6"/>
          </a:solidFill>
          <a:ln w="12700">
            <a:solidFill>
              <a:srgbClr val="C9CED6"/>
            </a:solidFill>
            <a:prstDash val="solid"/>
          </a:ln>
        </p:spPr>
      </p:sp>
      <p:pic>
        <p:nvPicPr>
          <p:cNvPr id="4" name="screenshot" descr="dash/c_sum_matrix.jpg">    </p:cNvPr>
          <p:cNvPicPr>
            <a:picLocks noChangeAspect="1"/>
          </p:cNvPicPr>
          <p:nvPr/>
        </p:nvPicPr>
        <p:blipFill>
          <a:blip r:embed="rId1"/>
          <a:stretch>
            <a:fillRect/>
          </a:stretch>
        </p:blipFill>
        <p:spPr>
          <a:xfrm>
            <a:off x="548640" y="1554480"/>
            <a:ext cx="5394960" cy="2437552"/>
          </a:xfrm>
          <a:prstGeom prst="rect">
            <a:avLst/>
          </a:prstGeom>
        </p:spPr>
      </p:pic>
      <p:sp>
        <p:nvSpPr>
          <p:cNvPr id="5" name="Text 2"/>
          <p:cNvSpPr txBox="1"/>
          <p:nvPr/>
        </p:nvSpPr>
        <p:spPr>
          <a:xfrm>
            <a:off x="548640" y="4023360"/>
            <a:ext cx="5394960" cy="256032"/>
          </a:xfrm>
          <a:prstGeom prst="rect">
            <a:avLst/>
          </a:prstGeom>
          <a:noFill/>
          <a:ln/>
        </p:spPr>
        <p:txBody>
          <a:bodyPr wrap="square" lIns="0" tIns="0" rIns="0" bIns="0" rtlCol="0" anchor="t"/>
          <a:lstStyle/>
          <a:p>
            <a:pPr indent="0" marL="0">
              <a:buNone/>
            </a:pPr>
            <a:r>
              <a:rPr lang="en-US" sz="1050" i="1" dirty="0">
                <a:solidFill>
                  <a:srgbClr val="6B6B6B"/>
                </a:solidFill>
              </a:rPr>
              <a:t>Dashboard, Summary page: loss per record by criticality × strategy</a:t>
            </a:r>
            <a:endParaRPr lang="en-US" sz="1050" dirty="0"/>
          </a:p>
        </p:txBody>
      </p:sp>
      <p:sp>
        <p:nvSpPr>
          <p:cNvPr id="6" name="frame"/>
          <p:cNvSpPr/>
          <p:nvPr/>
        </p:nvSpPr>
        <p:spPr>
          <a:xfrm>
            <a:off x="6199632" y="1536192"/>
            <a:ext cx="5431536" cy="2412231"/>
          </a:xfrm>
          <a:prstGeom prst="rect">
            <a:avLst/>
          </a:prstGeom>
          <a:solidFill>
            <a:srgbClr val="C9CED6"/>
          </a:solidFill>
          <a:ln w="12700">
            <a:solidFill>
              <a:srgbClr val="C9CED6"/>
            </a:solidFill>
            <a:prstDash val="solid"/>
          </a:ln>
        </p:spPr>
      </p:sp>
      <p:pic>
        <p:nvPicPr>
          <p:cNvPr id="7" name="screenshot" descr="dash/c_rel_age.jpg">    </p:cNvPr>
          <p:cNvPicPr>
            <a:picLocks noChangeAspect="1"/>
          </p:cNvPicPr>
          <p:nvPr/>
        </p:nvPicPr>
        <p:blipFill>
          <a:blip r:embed="rId2"/>
          <a:stretch>
            <a:fillRect/>
          </a:stretch>
        </p:blipFill>
        <p:spPr>
          <a:xfrm>
            <a:off x="6217920" y="1554480"/>
            <a:ext cx="5394960" cy="2375655"/>
          </a:xfrm>
          <a:prstGeom prst="rect">
            <a:avLst/>
          </a:prstGeom>
        </p:spPr>
      </p:pic>
      <p:sp>
        <p:nvSpPr>
          <p:cNvPr id="8" name="Text 4"/>
          <p:cNvSpPr txBox="1"/>
          <p:nvPr/>
        </p:nvSpPr>
        <p:spPr>
          <a:xfrm>
            <a:off x="6217920" y="3959352"/>
            <a:ext cx="5394960" cy="256032"/>
          </a:xfrm>
          <a:prstGeom prst="rect">
            <a:avLst/>
          </a:prstGeom>
          <a:noFill/>
          <a:ln/>
        </p:spPr>
        <p:txBody>
          <a:bodyPr wrap="square" lIns="0" tIns="0" rIns="0" bIns="0" rtlCol="0" anchor="t"/>
          <a:lstStyle/>
          <a:p>
            <a:pPr indent="0" marL="0">
              <a:buNone/>
            </a:pPr>
            <a:r>
              <a:rPr lang="en-US" sz="1050" i="1" dirty="0">
                <a:solidFill>
                  <a:srgbClr val="6B6B6B"/>
                </a:solidFill>
              </a:rPr>
              <a:t>Dashboard, Reliability page: downtime per record by asset age</a:t>
            </a:r>
            <a:endParaRPr lang="en-US" sz="1050" dirty="0"/>
          </a:p>
        </p:txBody>
      </p:sp>
      <p:sp>
        <p:nvSpPr>
          <p:cNvPr id="9" name="insight"/>
          <p:cNvSpPr/>
          <p:nvPr/>
        </p:nvSpPr>
        <p:spPr>
          <a:xfrm>
            <a:off x="548640" y="4389120"/>
            <a:ext cx="2651760" cy="1645920"/>
          </a:xfrm>
          <a:prstGeom prst="rect">
            <a:avLst/>
          </a:prstGeom>
          <a:solidFill>
            <a:schemeClr val="bg2"/>
          </a:solidFill>
          <a:ln w="12700">
            <a:solidFill>
              <a:schemeClr val="bg2"/>
            </a:solidFill>
            <a:prstDash val="solid"/>
          </a:ln>
        </p:spPr>
      </p:sp>
      <p:sp>
        <p:nvSpPr>
          <p:cNvPr id="10" name="Text 6"/>
          <p:cNvSpPr txBox="1"/>
          <p:nvPr/>
        </p:nvSpPr>
        <p:spPr>
          <a:xfrm>
            <a:off x="731520" y="4498848"/>
            <a:ext cx="2331720" cy="502920"/>
          </a:xfrm>
          <a:prstGeom prst="rect">
            <a:avLst/>
          </a:prstGeom>
          <a:noFill/>
          <a:ln/>
        </p:spPr>
        <p:txBody>
          <a:bodyPr wrap="square" lIns="0" tIns="0" rIns="0" bIns="0" rtlCol="0" anchor="t"/>
          <a:lstStyle/>
          <a:p>
            <a:pPr indent="0" marL="0">
              <a:buNone/>
            </a:pPr>
            <a:r>
              <a:rPr lang="en-US" sz="2200" b="1" dirty="0">
                <a:solidFill>
                  <a:schemeClr val="accent2"/>
                </a:solidFill>
                <a:latin typeface="Cambria" pitchFamily="34" charset="0"/>
                <a:ea typeface="Cambria" pitchFamily="34" charset="-122"/>
                <a:cs typeface="Cambria" pitchFamily="34" charset="-120"/>
              </a:rPr>
              <a:t>2.09 vs 1.32</a:t>
            </a:r>
            <a:endParaRPr lang="en-US" sz="2200" dirty="0"/>
          </a:p>
        </p:txBody>
      </p:sp>
      <p:sp>
        <p:nvSpPr>
          <p:cNvPr id="11" name="Text 7"/>
          <p:cNvSpPr txBox="1"/>
          <p:nvPr/>
        </p:nvSpPr>
        <p:spPr>
          <a:xfrm>
            <a:off x="731520" y="5010912"/>
            <a:ext cx="2331720" cy="960120"/>
          </a:xfrm>
          <a:prstGeom prst="rect">
            <a:avLst/>
          </a:prstGeom>
          <a:noFill/>
          <a:ln/>
        </p:spPr>
        <p:txBody>
          <a:bodyPr wrap="square" lIns="0" tIns="0" rIns="0" bIns="0" rtlCol="0" anchor="t"/>
          <a:lstStyle/>
          <a:p>
            <a:pPr indent="0" marL="0">
              <a:buNone/>
            </a:pPr>
            <a:r>
              <a:rPr lang="en-US" sz="1250" dirty="0">
                <a:solidFill>
                  <a:srgbClr val="333333"/>
                </a:solidFill>
              </a:rPr>
              <a:t>failures per record: reactive vs condition-based (+58%)</a:t>
            </a:r>
            <a:endParaRPr lang="en-US" sz="1250" dirty="0"/>
          </a:p>
        </p:txBody>
      </p:sp>
      <p:sp>
        <p:nvSpPr>
          <p:cNvPr id="12" name="insight"/>
          <p:cNvSpPr/>
          <p:nvPr/>
        </p:nvSpPr>
        <p:spPr>
          <a:xfrm>
            <a:off x="3355848" y="4389120"/>
            <a:ext cx="2651760" cy="1645920"/>
          </a:xfrm>
          <a:prstGeom prst="rect">
            <a:avLst/>
          </a:prstGeom>
          <a:solidFill>
            <a:schemeClr val="bg2"/>
          </a:solidFill>
          <a:ln w="12700">
            <a:solidFill>
              <a:schemeClr val="bg2"/>
            </a:solidFill>
            <a:prstDash val="solid"/>
          </a:ln>
        </p:spPr>
      </p:sp>
      <p:sp>
        <p:nvSpPr>
          <p:cNvPr id="13" name="Text 9"/>
          <p:cNvSpPr txBox="1"/>
          <p:nvPr/>
        </p:nvSpPr>
        <p:spPr>
          <a:xfrm>
            <a:off x="3538728" y="4498848"/>
            <a:ext cx="2331720" cy="502920"/>
          </a:xfrm>
          <a:prstGeom prst="rect">
            <a:avLst/>
          </a:prstGeom>
          <a:noFill/>
          <a:ln/>
        </p:spPr>
        <p:txBody>
          <a:bodyPr wrap="square" lIns="0" tIns="0" rIns="0" bIns="0" rtlCol="0" anchor="t"/>
          <a:lstStyle/>
          <a:p>
            <a:pPr indent="0" marL="0">
              <a:buNone/>
            </a:pPr>
            <a:r>
              <a:rPr lang="en-US" sz="2200" b="1" dirty="0">
                <a:solidFill>
                  <a:schemeClr val="tx2"/>
                </a:solidFill>
                <a:latin typeface="Cambria" pitchFamily="34" charset="0"/>
                <a:ea typeface="Cambria" pitchFamily="34" charset="-122"/>
                <a:cs typeface="Cambria" pitchFamily="34" charset="-120"/>
              </a:rPr>
              <a:t>$12.3K vs $9.4K</a:t>
            </a:r>
            <a:endParaRPr lang="en-US" sz="2200" dirty="0"/>
          </a:p>
        </p:txBody>
      </p:sp>
      <p:sp>
        <p:nvSpPr>
          <p:cNvPr id="14" name="Text 10"/>
          <p:cNvSpPr txBox="1"/>
          <p:nvPr/>
        </p:nvSpPr>
        <p:spPr>
          <a:xfrm>
            <a:off x="3538728" y="5010912"/>
            <a:ext cx="2331720" cy="960120"/>
          </a:xfrm>
          <a:prstGeom prst="rect">
            <a:avLst/>
          </a:prstGeom>
          <a:noFill/>
          <a:ln/>
        </p:spPr>
        <p:txBody>
          <a:bodyPr wrap="square" lIns="0" tIns="0" rIns="0" bIns="0" rtlCol="0" anchor="t"/>
          <a:lstStyle/>
          <a:p>
            <a:pPr indent="0" marL="0">
              <a:buNone/>
            </a:pPr>
            <a:r>
              <a:rPr lang="en-US" sz="1250" dirty="0">
                <a:solidFill>
                  <a:srgbClr val="333333"/>
                </a:solidFill>
              </a:rPr>
              <a:t>maintenance cost per record: reactive is not even cheaper to maintain</a:t>
            </a:r>
            <a:endParaRPr lang="en-US" sz="1250" dirty="0"/>
          </a:p>
        </p:txBody>
      </p:sp>
      <p:sp>
        <p:nvSpPr>
          <p:cNvPr id="15" name="insight"/>
          <p:cNvSpPr/>
          <p:nvPr/>
        </p:nvSpPr>
        <p:spPr>
          <a:xfrm>
            <a:off x="6163056" y="4389120"/>
            <a:ext cx="2651760" cy="1645920"/>
          </a:xfrm>
          <a:prstGeom prst="rect">
            <a:avLst/>
          </a:prstGeom>
          <a:solidFill>
            <a:schemeClr val="bg2"/>
          </a:solidFill>
          <a:ln w="12700">
            <a:solidFill>
              <a:schemeClr val="bg2"/>
            </a:solidFill>
            <a:prstDash val="solid"/>
          </a:ln>
        </p:spPr>
      </p:sp>
      <p:sp>
        <p:nvSpPr>
          <p:cNvPr id="16" name="Text 12"/>
          <p:cNvSpPr txBox="1"/>
          <p:nvPr/>
        </p:nvSpPr>
        <p:spPr>
          <a:xfrm>
            <a:off x="6345936" y="4498848"/>
            <a:ext cx="2331720" cy="502920"/>
          </a:xfrm>
          <a:prstGeom prst="rect">
            <a:avLst/>
          </a:prstGeom>
          <a:noFill/>
          <a:ln/>
        </p:spPr>
        <p:txBody>
          <a:bodyPr wrap="square" lIns="0" tIns="0" rIns="0" bIns="0" rtlCol="0" anchor="t"/>
          <a:lstStyle/>
          <a:p>
            <a:pPr indent="0" marL="0">
              <a:buNone/>
            </a:pPr>
            <a:r>
              <a:rPr lang="en-US" sz="2200" b="1" dirty="0">
                <a:solidFill>
                  <a:schemeClr val="accent2"/>
                </a:solidFill>
                <a:latin typeface="Cambria" pitchFamily="34" charset="0"/>
                <a:ea typeface="Cambria" pitchFamily="34" charset="-122"/>
                <a:cs typeface="Cambria" pitchFamily="34" charset="-120"/>
              </a:rPr>
              <a:t>$15–17K</a:t>
            </a:r>
            <a:endParaRPr lang="en-US" sz="2200" dirty="0"/>
          </a:p>
        </p:txBody>
      </p:sp>
      <p:sp>
        <p:nvSpPr>
          <p:cNvPr id="17" name="Text 13"/>
          <p:cNvSpPr txBox="1"/>
          <p:nvPr/>
        </p:nvSpPr>
        <p:spPr>
          <a:xfrm>
            <a:off x="6345936" y="5010912"/>
            <a:ext cx="2331720" cy="960120"/>
          </a:xfrm>
          <a:prstGeom prst="rect">
            <a:avLst/>
          </a:prstGeom>
          <a:noFill/>
          <a:ln/>
        </p:spPr>
        <p:txBody>
          <a:bodyPr wrap="square" lIns="0" tIns="0" rIns="0" bIns="0" rtlCol="0" anchor="t"/>
          <a:lstStyle/>
          <a:p>
            <a:pPr indent="0" marL="0">
              <a:buNone/>
            </a:pPr>
            <a:r>
              <a:rPr lang="en-US" sz="1250" dirty="0">
                <a:solidFill>
                  <a:srgbClr val="333333"/>
                </a:solidFill>
              </a:rPr>
              <a:t>extra loss per reactive record after adjusting for age, condition, criticality and class</a:t>
            </a:r>
            <a:endParaRPr lang="en-US" sz="1250" dirty="0"/>
          </a:p>
        </p:txBody>
      </p:sp>
      <p:sp>
        <p:nvSpPr>
          <p:cNvPr id="18" name="insight"/>
          <p:cNvSpPr/>
          <p:nvPr/>
        </p:nvSpPr>
        <p:spPr>
          <a:xfrm>
            <a:off x="8970264" y="4389120"/>
            <a:ext cx="2642616" cy="1645920"/>
          </a:xfrm>
          <a:prstGeom prst="rect">
            <a:avLst/>
          </a:prstGeom>
          <a:solidFill>
            <a:srgbClr val="F6E9E6"/>
          </a:solidFill>
          <a:ln w="12700">
            <a:solidFill>
              <a:srgbClr val="F6E9E6"/>
            </a:solidFill>
            <a:prstDash val="solid"/>
          </a:ln>
        </p:spPr>
      </p:sp>
      <p:sp>
        <p:nvSpPr>
          <p:cNvPr id="19" name="Text 15"/>
          <p:cNvSpPr txBox="1"/>
          <p:nvPr/>
        </p:nvSpPr>
        <p:spPr>
          <a:xfrm>
            <a:off x="9153144" y="4498848"/>
            <a:ext cx="2322576" cy="502920"/>
          </a:xfrm>
          <a:prstGeom prst="rect">
            <a:avLst/>
          </a:prstGeom>
          <a:noFill/>
          <a:ln/>
        </p:spPr>
        <p:txBody>
          <a:bodyPr wrap="square" lIns="0" tIns="0" rIns="0" bIns="0" rtlCol="0" anchor="t"/>
          <a:lstStyle/>
          <a:p>
            <a:pPr indent="0" marL="0">
              <a:buNone/>
            </a:pPr>
            <a:r>
              <a:rPr lang="en-US" sz="2200" b="1" dirty="0">
                <a:solidFill>
                  <a:schemeClr val="tx2"/>
                </a:solidFill>
                <a:latin typeface="Cambria" pitchFamily="34" charset="0"/>
                <a:ea typeface="Cambria" pitchFamily="34" charset="-122"/>
                <a:cs typeface="Cambria" pitchFamily="34" charset="-120"/>
              </a:rPr>
              <a:t>9.0¢ vs 12.6¢</a:t>
            </a:r>
            <a:endParaRPr lang="en-US" sz="2200" dirty="0"/>
          </a:p>
        </p:txBody>
      </p:sp>
      <p:sp>
        <p:nvSpPr>
          <p:cNvPr id="20" name="Text 16"/>
          <p:cNvSpPr txBox="1"/>
          <p:nvPr/>
        </p:nvSpPr>
        <p:spPr>
          <a:xfrm>
            <a:off x="9153144" y="5010912"/>
            <a:ext cx="2322576" cy="960120"/>
          </a:xfrm>
          <a:prstGeom prst="rect">
            <a:avLst/>
          </a:prstGeom>
          <a:noFill/>
          <a:ln/>
        </p:spPr>
        <p:txBody>
          <a:bodyPr wrap="square" lIns="0" tIns="0" rIns="0" bIns="0" rtlCol="0" anchor="t"/>
          <a:lstStyle/>
          <a:p>
            <a:pPr indent="0" marL="0">
              <a:buNone/>
            </a:pPr>
            <a:r>
              <a:rPr lang="en-US" sz="1250" dirty="0">
                <a:solidFill>
                  <a:srgbClr val="333333"/>
                </a:solidFill>
              </a:rPr>
              <a:t>parts per $1 of loss for critical assets; +$0.81M a year closes the gap</a:t>
            </a:r>
            <a:endParaRPr lang="en-US" sz="1250" dirty="0"/>
          </a:p>
        </p:txBody>
      </p:sp>
      <p:sp>
        <p:nvSpPr>
          <p:cNvPr id="21" name="presenter name"/>
          <p:cNvSpPr txBox="1"/>
          <p:nvPr/>
        </p:nvSpPr>
        <p:spPr>
          <a:xfrm>
            <a:off x="6949440" y="164592"/>
            <a:ext cx="4690872" cy="274320"/>
          </a:xfrm>
          <a:prstGeom prst="rect">
            <a:avLst/>
          </a:prstGeom>
          <a:noFill/>
          <a:ln/>
        </p:spPr>
        <p:txBody>
          <a:bodyPr wrap="square" lIns="0" tIns="0" rIns="0" bIns="0" rtlCol="0" anchor="ctr"/>
          <a:lstStyle/>
          <a:p>
            <a:pPr algn="r" indent="0" marL="0">
              <a:buNone/>
            </a:pPr>
            <a:r>
              <a:rPr lang="en-US" sz="1100" dirty="0">
                <a:solidFill>
                  <a:srgbClr val="8C8C8C"/>
                </a:solidFill>
              </a:rPr>
              <a:t>Presenter: </a:t>
            </a:r>
            <a:pPr algn="r" indent="0" marL="0">
              <a:buNone/>
            </a:pPr>
            <a:r>
              <a:rPr lang="en-US" sz="1100" b="1" dirty="0">
                <a:solidFill>
                  <a:srgbClr val="1F3A5F"/>
                </a:solidFill>
              </a:rPr>
              <a:t>Ali Elraey</a:t>
            </a:r>
            <a:endParaRPr lang="en-US" sz="1100" dirty="0"/>
          </a:p>
        </p:txBody>
      </p:sp>
      <p:sp>
        <p:nvSpPr>
          <p:cNvPr id="25" name="Slide Number Placeholder 0"/>
          <p:cNvSpPr>
            <a:spLocks noGrp="1"/>
          </p:cNvSpPr>
          <p:nvPr>
            <p:ph type="sldNum" sz="quarter" idx="4294967295"/>
          </p:nvPr>
        </p:nvSpPr>
        <p:spPr>
          <a:xfrm>
            <a:off x="11155680" y="647395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C8C8C"/>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502920"/>
            <a:ext cx="11064240" cy="868680"/>
          </a:xfrm>
          <a:prstGeom prst="rect">
            <a:avLst/>
          </a:prstGeom>
          <a:noFill/>
          <a:ln/>
        </p:spPr>
        <p:txBody>
          <a:bodyPr wrap="square" lIns="0" tIns="0" rIns="0" bIns="0" rtlCol="0" anchor="t"/>
          <a:lstStyle/>
          <a:p>
            <a:pPr algn="l" indent="0" marL="0">
              <a:buNone/>
            </a:pPr>
            <a:r>
              <a:rPr lang="en-US" sz="2600" b="1" dirty="0">
                <a:solidFill>
                  <a:schemeClr val="tx2"/>
                </a:solidFill>
                <a:latin typeface="Cambria" pitchFamily="34" charset="0"/>
                <a:ea typeface="Cambria" pitchFamily="34" charset="-122"/>
                <a:cs typeface="Cambria" pitchFamily="34" charset="-120"/>
              </a:rPr>
              <a:t>We used AI only where it answers a business question, and tested it fairly</a:t>
            </a:r>
            <a:endParaRPr lang="en-US" sz="2600" dirty="0"/>
          </a:p>
        </p:txBody>
      </p:sp>
      <p:sp>
        <p:nvSpPr>
          <p:cNvPr id="3" name="train"/>
          <p:cNvSpPr/>
          <p:nvPr/>
        </p:nvSpPr>
        <p:spPr>
          <a:xfrm>
            <a:off x="548640" y="1645920"/>
            <a:ext cx="7223760" cy="502920"/>
          </a:xfrm>
          <a:prstGeom prst="rect">
            <a:avLst/>
          </a:prstGeom>
          <a:solidFill>
            <a:schemeClr val="tx2"/>
          </a:solidFill>
          <a:ln w="12700">
            <a:solidFill>
              <a:schemeClr val="tx2"/>
            </a:solidFill>
            <a:prstDash val="solid"/>
          </a:ln>
        </p:spPr>
      </p:sp>
      <p:sp>
        <p:nvSpPr>
          <p:cNvPr id="4" name="Text 2"/>
          <p:cNvSpPr txBox="1"/>
          <p:nvPr/>
        </p:nvSpPr>
        <p:spPr>
          <a:xfrm>
            <a:off x="548640" y="1645920"/>
            <a:ext cx="7223760" cy="502920"/>
          </a:xfrm>
          <a:prstGeom prst="rect">
            <a:avLst/>
          </a:prstGeom>
          <a:noFill/>
          <a:ln/>
        </p:spPr>
        <p:txBody>
          <a:bodyPr wrap="square" lIns="0" tIns="0" rIns="0" bIns="0" rtlCol="0" anchor="ctr"/>
          <a:lstStyle/>
          <a:p>
            <a:pPr algn="ctr" indent="0" marL="0">
              <a:buNone/>
            </a:pPr>
            <a:r>
              <a:rPr lang="en-US" sz="1400" b="1" dirty="0">
                <a:solidFill>
                  <a:schemeClr val="bg1"/>
                </a:solidFill>
              </a:rPr>
              <a:t>TRAIN · Jan 2024 – Aug 2025 · 3,340 records</a:t>
            </a:r>
            <a:endParaRPr lang="en-US" sz="1400" dirty="0"/>
          </a:p>
        </p:txBody>
      </p:sp>
      <p:sp>
        <p:nvSpPr>
          <p:cNvPr id="5" name="test"/>
          <p:cNvSpPr/>
          <p:nvPr/>
        </p:nvSpPr>
        <p:spPr>
          <a:xfrm>
            <a:off x="7863840" y="1645920"/>
            <a:ext cx="3749040" cy="502920"/>
          </a:xfrm>
          <a:prstGeom prst="rect">
            <a:avLst/>
          </a:prstGeom>
          <a:solidFill>
            <a:srgbClr val="C08A2B"/>
          </a:solidFill>
          <a:ln w="12700">
            <a:solidFill>
              <a:srgbClr val="C08A2B"/>
            </a:solidFill>
            <a:prstDash val="solid"/>
          </a:ln>
        </p:spPr>
      </p:sp>
      <p:sp>
        <p:nvSpPr>
          <p:cNvPr id="6" name="Text 4"/>
          <p:cNvSpPr txBox="1"/>
          <p:nvPr/>
        </p:nvSpPr>
        <p:spPr>
          <a:xfrm>
            <a:off x="7863840" y="1645920"/>
            <a:ext cx="3749040" cy="502920"/>
          </a:xfrm>
          <a:prstGeom prst="rect">
            <a:avLst/>
          </a:prstGeom>
          <a:noFill/>
          <a:ln/>
        </p:spPr>
        <p:txBody>
          <a:bodyPr wrap="square" lIns="0" tIns="0" rIns="0" bIns="0" rtlCol="0" anchor="ctr"/>
          <a:lstStyle/>
          <a:p>
            <a:pPr algn="ctr" indent="0" marL="0">
              <a:buNone/>
            </a:pPr>
            <a:r>
              <a:rPr lang="en-US" sz="1400" b="1" dirty="0">
                <a:solidFill>
                  <a:schemeClr val="bg1"/>
                </a:solidFill>
              </a:rPr>
              <a:t>TEST · Sep 2025 – Dec 2026 · 1,660</a:t>
            </a:r>
            <a:endParaRPr lang="en-US" sz="1400" dirty="0"/>
          </a:p>
        </p:txBody>
      </p:sp>
      <p:sp>
        <p:nvSpPr>
          <p:cNvPr id="7" name="Text 5"/>
          <p:cNvSpPr txBox="1"/>
          <p:nvPr/>
        </p:nvSpPr>
        <p:spPr>
          <a:xfrm>
            <a:off x="548640" y="2240280"/>
            <a:ext cx="11064240" cy="320040"/>
          </a:xfrm>
          <a:prstGeom prst="rect">
            <a:avLst/>
          </a:prstGeom>
          <a:noFill/>
          <a:ln/>
        </p:spPr>
        <p:txBody>
          <a:bodyPr wrap="square" lIns="0" tIns="0" rIns="0" bIns="0" rtlCol="0" anchor="t"/>
          <a:lstStyle/>
          <a:p>
            <a:pPr indent="0" marL="0">
              <a:buNone/>
            </a:pPr>
            <a:r>
              <a:rPr lang="en-US" sz="1300" i="1" dirty="0">
                <a:solidFill>
                  <a:srgbClr val="595959"/>
                </a:solidFill>
              </a:rPr>
              <a:t>Models are always judged on a later period they have never seen, using only information known before the job starts.</a:t>
            </a:r>
            <a:endParaRPr lang="en-US" sz="1300" dirty="0"/>
          </a:p>
        </p:txBody>
      </p:sp>
      <p:graphicFrame>
        <p:nvGraphicFramePr>
          <p:cNvPr id="9" name="ai methods"/>
          <p:cNvGraphicFramePr>
            <a:graphicFrameLocks noGrp="1"/>
          </p:cNvGraphicFramePr>
          <p:nvPr>
            <p:extLst>
              <p:ext uri="{D42A27DB-BD31-4B8C-83A1-F6EECF244321}">
                <p14:modId xmlns:p14="http://schemas.microsoft.com/office/powerpoint/2010/main" val="1579011935"/>
              </p:ext>
            </p:extLst>
          </p:nvPr>
        </p:nvGraphicFramePr>
        <p:xfrm>
          <a:off x="548640" y="2743200"/>
          <a:ext cx="11064240" cy="914400"/>
        </p:xfrm>
        <a:graphic>
          <a:graphicData uri="http://schemas.openxmlformats.org/drawingml/2006/table">
            <a:tbl>
              <a:tblPr/>
              <a:tblGrid>
                <a:gridCol w="2560320"/>
                <a:gridCol w="3474720"/>
                <a:gridCol w="2926080"/>
                <a:gridCol w="2103120"/>
              </a:tblGrid>
              <a:tr h="438912">
                <a:tc>
                  <a:txBody>
                    <a:bodyPr/>
                    <a:lstStyle/>
                    <a:p>
                      <a:pPr indent="0" marL="0">
                        <a:buNone/>
                      </a:pPr>
                      <a:r>
                        <a:rPr lang="en-US" sz="1400" b="1" dirty="0">
                          <a:solidFill>
                            <a:srgbClr val="1F3A5F"/>
                          </a:solidFill>
                          <a:latin typeface="Calibri" pitchFamily="34" charset="0"/>
                          <a:ea typeface="Calibri" pitchFamily="34" charset="-122"/>
                          <a:cs typeface="Calibri" pitchFamily="34" charset="-120"/>
                        </a:rPr>
                        <a:t>Method</a:t>
                      </a:r>
                      <a:endParaRPr lang="en-US" sz="1400" dirty="0">
                        <a:latin typeface="Calibri" charset="0"/>
                        <a:ea typeface="Calibri" charset="0"/>
                        <a:cs typeface="Calibri" charset="0"/>
                      </a:endParaRPr>
                    </a:p>
                  </a:txBody>
                  <a:tcPr marL="73152" marR="73152" marT="73152" marB="73152">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E8EDF3"/>
                    </a:solidFill>
                  </a:tcPr>
                </a:tc>
                <a:tc>
                  <a:txBody>
                    <a:bodyPr/>
                    <a:lstStyle/>
                    <a:p>
                      <a:pPr indent="0" marL="0">
                        <a:buNone/>
                      </a:pPr>
                      <a:r>
                        <a:rPr lang="en-US" sz="1400" b="1" dirty="0">
                          <a:solidFill>
                            <a:srgbClr val="1F3A5F"/>
                          </a:solidFill>
                          <a:latin typeface="Calibri" pitchFamily="34" charset="0"/>
                          <a:ea typeface="Calibri" pitchFamily="34" charset="-122"/>
                          <a:cs typeface="Calibri" pitchFamily="34" charset="-120"/>
                        </a:rPr>
                        <a:t>Business question</a:t>
                      </a:r>
                      <a:endParaRPr lang="en-US" sz="1400" dirty="0">
                        <a:latin typeface="Calibri" charset="0"/>
                        <a:ea typeface="Calibri" charset="0"/>
                        <a:cs typeface="Calibri" charset="0"/>
                      </a:endParaRPr>
                    </a:p>
                  </a:txBody>
                  <a:tcPr marL="73152" marR="73152" marT="73152" marB="73152">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E8EDF3"/>
                    </a:solidFill>
                  </a:tcPr>
                </a:tc>
                <a:tc>
                  <a:txBody>
                    <a:bodyPr/>
                    <a:lstStyle/>
                    <a:p>
                      <a:pPr indent="0" marL="0">
                        <a:buNone/>
                      </a:pPr>
                      <a:r>
                        <a:rPr lang="en-US" sz="1400" b="1" dirty="0">
                          <a:solidFill>
                            <a:srgbClr val="1F3A5F"/>
                          </a:solidFill>
                          <a:latin typeface="Calibri" pitchFamily="34" charset="0"/>
                          <a:ea typeface="Calibri" pitchFamily="34" charset="-122"/>
                          <a:cs typeface="Calibri" pitchFamily="34" charset="-120"/>
                        </a:rPr>
                        <a:t>Baseline</a:t>
                      </a:r>
                      <a:endParaRPr lang="en-US" sz="1400" dirty="0">
                        <a:latin typeface="Calibri" charset="0"/>
                        <a:ea typeface="Calibri" charset="0"/>
                        <a:cs typeface="Calibri" charset="0"/>
                      </a:endParaRPr>
                    </a:p>
                  </a:txBody>
                  <a:tcPr marL="73152" marR="73152" marT="73152" marB="73152">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E8EDF3"/>
                    </a:solidFill>
                  </a:tcPr>
                </a:tc>
                <a:tc>
                  <a:txBody>
                    <a:bodyPr/>
                    <a:lstStyle/>
                    <a:p>
                      <a:pPr indent="0" marL="0">
                        <a:buNone/>
                      </a:pPr>
                      <a:r>
                        <a:rPr lang="en-US" sz="1400" b="1" dirty="0">
                          <a:solidFill>
                            <a:srgbClr val="1F3A5F"/>
                          </a:solidFill>
                          <a:latin typeface="Calibri" pitchFamily="34" charset="0"/>
                          <a:ea typeface="Calibri" pitchFamily="34" charset="-122"/>
                          <a:cs typeface="Calibri" pitchFamily="34" charset="-120"/>
                        </a:rPr>
                        <a:t>Result</a:t>
                      </a:r>
                      <a:endParaRPr lang="en-US" sz="1400" dirty="0">
                        <a:latin typeface="Calibri" charset="0"/>
                        <a:ea typeface="Calibri" charset="0"/>
                        <a:cs typeface="Calibri" charset="0"/>
                      </a:endParaRPr>
                    </a:p>
                  </a:txBody>
                  <a:tcPr marL="73152" marR="73152" marT="73152" marB="73152">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E8EDF3"/>
                    </a:solidFill>
                  </a:tcPr>
                </a:tc>
              </a:tr>
              <a:tr h="438912">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Risk classification</a:t>
                      </a:r>
                      <a:endParaRPr lang="en-US" sz="1400" dirty="0">
                        <a:latin typeface="Calibri" charset="0"/>
                        <a:ea typeface="Calibri" charset="0"/>
                        <a:cs typeface="Calibri" charset="0"/>
                      </a:endParaRPr>
                    </a:p>
                  </a:txBody>
                  <a:tcPr marL="73152" marR="73152" marT="73152" marB="73152">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Which jobs need review first?</a:t>
                      </a:r>
                      <a:endParaRPr lang="en-US" sz="1400" dirty="0">
                        <a:latin typeface="Calibri" charset="0"/>
                        <a:ea typeface="Calibri" charset="0"/>
                        <a:cs typeface="Calibri" charset="0"/>
                      </a:endParaRPr>
                    </a:p>
                  </a:txBody>
                  <a:tcPr marL="73152" marR="73152" marT="73152" marB="73152">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Rate by class × criticality</a:t>
                      </a:r>
                      <a:endParaRPr lang="en-US" sz="1400" dirty="0">
                        <a:latin typeface="Calibri" charset="0"/>
                        <a:ea typeface="Calibri" charset="0"/>
                        <a:cs typeface="Calibri" charset="0"/>
                      </a:endParaRPr>
                    </a:p>
                  </a:txBody>
                  <a:tcPr marL="73152" marR="73152" marT="73152" marB="73152">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Clearly better</a:t>
                      </a:r>
                      <a:endParaRPr lang="en-US" sz="1400" dirty="0">
                        <a:latin typeface="Calibri" charset="0"/>
                        <a:ea typeface="Calibri" charset="0"/>
                        <a:cs typeface="Calibri" charset="0"/>
                      </a:endParaRPr>
                    </a:p>
                  </a:txBody>
                  <a:tcPr marL="73152" marR="73152" marT="73152" marB="73152">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r>
              <a:tr h="438912">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Downtime regression</a:t>
                      </a:r>
                      <a:endParaRPr lang="en-US" sz="1400" dirty="0">
                        <a:latin typeface="Calibri" charset="0"/>
                        <a:ea typeface="Calibri" charset="0"/>
                        <a:cs typeface="Calibri" charset="0"/>
                      </a:endParaRPr>
                    </a:p>
                  </a:txBody>
                  <a:tcPr marL="73152" marR="73152" marT="73152" marB="73152">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How long will downtime be?</a:t>
                      </a:r>
                      <a:endParaRPr lang="en-US" sz="1400" dirty="0">
                        <a:latin typeface="Calibri" charset="0"/>
                        <a:ea typeface="Calibri" charset="0"/>
                        <a:cs typeface="Calibri" charset="0"/>
                      </a:endParaRPr>
                    </a:p>
                  </a:txBody>
                  <a:tcPr marL="73152" marR="73152" marT="73152" marB="73152">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Class × criticality average</a:t>
                      </a:r>
                      <a:endParaRPr lang="en-US" sz="1400" dirty="0">
                        <a:latin typeface="Calibri" charset="0"/>
                        <a:ea typeface="Calibri" charset="0"/>
                        <a:cs typeface="Calibri" charset="0"/>
                      </a:endParaRPr>
                    </a:p>
                  </a:txBody>
                  <a:tcPr marL="73152" marR="73152" marT="73152" marB="73152">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Slightly better</a:t>
                      </a:r>
                      <a:endParaRPr lang="en-US" sz="1400" dirty="0">
                        <a:latin typeface="Calibri" charset="0"/>
                        <a:ea typeface="Calibri" charset="0"/>
                        <a:cs typeface="Calibri" charset="0"/>
                      </a:endParaRPr>
                    </a:p>
                  </a:txBody>
                  <a:tcPr marL="73152" marR="73152" marT="73152" marB="73152">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r>
              <a:tr h="438912">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Clustering</a:t>
                      </a:r>
                      <a:endParaRPr lang="en-US" sz="1400" dirty="0">
                        <a:latin typeface="Calibri" charset="0"/>
                        <a:ea typeface="Calibri" charset="0"/>
                        <a:cs typeface="Calibri" charset="0"/>
                      </a:endParaRPr>
                    </a:p>
                  </a:txBody>
                  <a:tcPr marL="73152" marR="73152" marT="73152" marB="73152">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Which assets need different care?</a:t>
                      </a:r>
                      <a:endParaRPr lang="en-US" sz="1400" dirty="0">
                        <a:latin typeface="Calibri" charset="0"/>
                        <a:ea typeface="Calibri" charset="0"/>
                        <a:cs typeface="Calibri" charset="0"/>
                      </a:endParaRPr>
                    </a:p>
                  </a:txBody>
                  <a:tcPr marL="73152" marR="73152" marT="73152" marB="73152">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Stability check</a:t>
                      </a:r>
                      <a:endParaRPr lang="en-US" sz="1400" dirty="0">
                        <a:latin typeface="Calibri" charset="0"/>
                        <a:ea typeface="Calibri" charset="0"/>
                        <a:cs typeface="Calibri" charset="0"/>
                      </a:endParaRPr>
                    </a:p>
                  </a:txBody>
                  <a:tcPr marL="73152" marR="73152" marT="73152" marB="73152">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Descriptive only</a:t>
                      </a:r>
                      <a:endParaRPr lang="en-US" sz="1400" dirty="0">
                        <a:latin typeface="Calibri" charset="0"/>
                        <a:ea typeface="Calibri" charset="0"/>
                        <a:cs typeface="Calibri" charset="0"/>
                      </a:endParaRPr>
                    </a:p>
                  </a:txBody>
                  <a:tcPr marL="73152" marR="73152" marT="73152" marB="73152">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r>
              <a:tr h="438912">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Forecasting</a:t>
                      </a:r>
                      <a:endParaRPr lang="en-US" sz="1400" dirty="0">
                        <a:latin typeface="Calibri" charset="0"/>
                        <a:ea typeface="Calibri" charset="0"/>
                        <a:cs typeface="Calibri" charset="0"/>
                      </a:endParaRPr>
                    </a:p>
                  </a:txBody>
                  <a:tcPr marL="73152" marR="73152" marT="73152" marB="73152">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How much downtime to plan for?</a:t>
                      </a:r>
                      <a:endParaRPr lang="en-US" sz="1400" dirty="0">
                        <a:latin typeface="Calibri" charset="0"/>
                        <a:ea typeface="Calibri" charset="0"/>
                        <a:cs typeface="Calibri" charset="0"/>
                      </a:endParaRPr>
                    </a:p>
                  </a:txBody>
                  <a:tcPr marL="73152" marR="73152" marT="73152" marB="73152">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Last value, trend</a:t>
                      </a:r>
                      <a:endParaRPr lang="en-US" sz="1400" dirty="0">
                        <a:latin typeface="Calibri" charset="0"/>
                        <a:ea typeface="Calibri" charset="0"/>
                        <a:cs typeface="Calibri" charset="0"/>
                      </a:endParaRPr>
                    </a:p>
                  </a:txBody>
                  <a:tcPr marL="73152" marR="73152" marT="73152" marB="73152">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Average is best</a:t>
                      </a:r>
                      <a:endParaRPr lang="en-US" sz="1400" dirty="0">
                        <a:latin typeface="Calibri" charset="0"/>
                        <a:ea typeface="Calibri" charset="0"/>
                        <a:cs typeface="Calibri" charset="0"/>
                      </a:endParaRPr>
                    </a:p>
                  </a:txBody>
                  <a:tcPr marL="73152" marR="73152" marT="73152" marB="73152">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r>
            </a:tbl>
          </a:graphicData>
        </a:graphic>
      </p:graphicFrame>
      <p:sp>
        <p:nvSpPr>
          <p:cNvPr id="9" name="panel"/>
          <p:cNvSpPr/>
          <p:nvPr/>
        </p:nvSpPr>
        <p:spPr>
          <a:xfrm>
            <a:off x="548640" y="5166360"/>
            <a:ext cx="11064240" cy="777240"/>
          </a:xfrm>
          <a:prstGeom prst="rect">
            <a:avLst/>
          </a:prstGeom>
          <a:solidFill>
            <a:srgbClr val="F6E9E6"/>
          </a:solidFill>
          <a:ln w="12700">
            <a:solidFill>
              <a:srgbClr val="F6E9E6"/>
            </a:solidFill>
            <a:prstDash val="solid"/>
          </a:ln>
        </p:spPr>
      </p:sp>
      <p:sp>
        <p:nvSpPr>
          <p:cNvPr id="10" name="Text 7"/>
          <p:cNvSpPr txBox="1"/>
          <p:nvPr/>
        </p:nvSpPr>
        <p:spPr>
          <a:xfrm>
            <a:off x="822960" y="5166360"/>
            <a:ext cx="10515600" cy="777240"/>
          </a:xfrm>
          <a:prstGeom prst="rect">
            <a:avLst/>
          </a:prstGeom>
          <a:noFill/>
          <a:ln/>
        </p:spPr>
        <p:txBody>
          <a:bodyPr wrap="square" lIns="0" tIns="0" rIns="0" bIns="0" rtlCol="0" anchor="ctr"/>
          <a:lstStyle/>
          <a:p>
            <a:pPr indent="0" marL="0">
              <a:buNone/>
            </a:pPr>
            <a:r>
              <a:rPr lang="en-US" sz="1500" b="1" dirty="0">
                <a:solidFill>
                  <a:srgbClr val="A23B2A"/>
                </a:solidFill>
              </a:rPr>
              <a:t>Leakage rule: </a:t>
            </a:r>
            <a:pPr indent="0" marL="0">
              <a:buNone/>
            </a:pPr>
            <a:r>
              <a:rPr lang="en-US" sz="1500" dirty="0">
                <a:solidFill>
                  <a:schemeClr val="tx1"/>
                </a:solidFill>
              </a:rPr>
              <a:t>we excluded downtime, cost and the supplied Asset Health Index, which already contains the outcome.</a:t>
            </a:r>
            <a:endParaRPr lang="en-US" sz="1500" dirty="0"/>
          </a:p>
        </p:txBody>
      </p:sp>
      <p:sp>
        <p:nvSpPr>
          <p:cNvPr id="11" name="presenter name"/>
          <p:cNvSpPr txBox="1"/>
          <p:nvPr/>
        </p:nvSpPr>
        <p:spPr>
          <a:xfrm>
            <a:off x="6949440" y="164592"/>
            <a:ext cx="4690872" cy="274320"/>
          </a:xfrm>
          <a:prstGeom prst="rect">
            <a:avLst/>
          </a:prstGeom>
          <a:noFill/>
          <a:ln/>
        </p:spPr>
        <p:txBody>
          <a:bodyPr wrap="square" lIns="0" tIns="0" rIns="0" bIns="0" rtlCol="0" anchor="ctr"/>
          <a:lstStyle/>
          <a:p>
            <a:pPr algn="r" indent="0" marL="0">
              <a:buNone/>
            </a:pPr>
            <a:r>
              <a:rPr lang="en-US" sz="1100" dirty="0">
                <a:solidFill>
                  <a:srgbClr val="8C8C8C"/>
                </a:solidFill>
              </a:rPr>
              <a:t>Presenter: </a:t>
            </a:r>
            <a:pPr algn="r" indent="0" marL="0">
              <a:buNone/>
            </a:pPr>
            <a:r>
              <a:rPr lang="en-US" sz="1100" b="1" dirty="0">
                <a:solidFill>
                  <a:srgbClr val="1F3A5F"/>
                </a:solidFill>
              </a:rPr>
              <a:t>Ahmed Abd Elhakam Abd Elfattaah Zaian</a:t>
            </a:r>
            <a:endParaRPr lang="en-US" sz="1100" dirty="0"/>
          </a:p>
        </p:txBody>
      </p:sp>
      <p:sp>
        <p:nvSpPr>
          <p:cNvPr id="25" name="Slide Number Placeholder 0"/>
          <p:cNvSpPr>
            <a:spLocks noGrp="1"/>
          </p:cNvSpPr>
          <p:nvPr>
            <p:ph type="sldNum" sz="quarter" idx="4294967295"/>
          </p:nvPr>
        </p:nvSpPr>
        <p:spPr>
          <a:xfrm>
            <a:off x="11155680" y="647395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C8C8C"/>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502920"/>
            <a:ext cx="11064240" cy="868680"/>
          </a:xfrm>
          <a:prstGeom prst="rect">
            <a:avLst/>
          </a:prstGeom>
          <a:noFill/>
          <a:ln/>
        </p:spPr>
        <p:txBody>
          <a:bodyPr wrap="square" lIns="0" tIns="0" rIns="0" bIns="0" rtlCol="0" anchor="t"/>
          <a:lstStyle/>
          <a:p>
            <a:pPr algn="l" indent="0" marL="0">
              <a:buNone/>
            </a:pPr>
            <a:r>
              <a:rPr lang="en-US" sz="2600" b="1" dirty="0">
                <a:solidFill>
                  <a:schemeClr val="tx2"/>
                </a:solidFill>
                <a:latin typeface="Cambria" pitchFamily="34" charset="0"/>
                <a:ea typeface="Cambria" pitchFamily="34" charset="-122"/>
                <a:cs typeface="Cambria" pitchFamily="34" charset="-120"/>
              </a:rPr>
              <a:t>Not every model added value, and we report that openly</a:t>
            </a:r>
            <a:endParaRPr lang="en-US" sz="2600" dirty="0"/>
          </a:p>
        </p:txBody>
      </p:sp>
      <p:sp>
        <p:nvSpPr>
          <p:cNvPr id="3" name="panel"/>
          <p:cNvSpPr/>
          <p:nvPr/>
        </p:nvSpPr>
        <p:spPr>
          <a:xfrm>
            <a:off x="548640" y="1691640"/>
            <a:ext cx="3566160" cy="2651760"/>
          </a:xfrm>
          <a:prstGeom prst="rect">
            <a:avLst/>
          </a:prstGeom>
          <a:solidFill>
            <a:schemeClr val="bg2"/>
          </a:solidFill>
          <a:ln w="12700">
            <a:solidFill>
              <a:schemeClr val="bg2"/>
            </a:solidFill>
            <a:prstDash val="solid"/>
          </a:ln>
        </p:spPr>
      </p:sp>
      <p:sp>
        <p:nvSpPr>
          <p:cNvPr id="4" name="Text 2"/>
          <p:cNvSpPr txBox="1"/>
          <p:nvPr/>
        </p:nvSpPr>
        <p:spPr>
          <a:xfrm>
            <a:off x="777240" y="1828800"/>
            <a:ext cx="3108960" cy="365760"/>
          </a:xfrm>
          <a:prstGeom prst="rect">
            <a:avLst/>
          </a:prstGeom>
          <a:noFill/>
          <a:ln/>
        </p:spPr>
        <p:txBody>
          <a:bodyPr wrap="square" lIns="0" tIns="0" rIns="0" bIns="0" rtlCol="0" anchor="t"/>
          <a:lstStyle/>
          <a:p>
            <a:pPr indent="0" marL="0">
              <a:buNone/>
            </a:pPr>
            <a:r>
              <a:rPr lang="en-US" sz="1600" b="1" dirty="0">
                <a:solidFill>
                  <a:schemeClr val="tx2"/>
                </a:solidFill>
              </a:rPr>
              <a:t>Downtime regression</a:t>
            </a:r>
            <a:endParaRPr lang="en-US" sz="1600" dirty="0"/>
          </a:p>
        </p:txBody>
      </p:sp>
      <p:sp>
        <p:nvSpPr>
          <p:cNvPr id="5" name="Text 3"/>
          <p:cNvSpPr txBox="1"/>
          <p:nvPr/>
        </p:nvSpPr>
        <p:spPr>
          <a:xfrm>
            <a:off x="777240" y="2331720"/>
            <a:ext cx="3108960" cy="822960"/>
          </a:xfrm>
          <a:prstGeom prst="rect">
            <a:avLst/>
          </a:prstGeom>
          <a:noFill/>
          <a:ln/>
        </p:spPr>
        <p:txBody>
          <a:bodyPr wrap="square" lIns="0" tIns="0" rIns="0" bIns="0" rtlCol="0" anchor="t"/>
          <a:lstStyle/>
          <a:p>
            <a:pPr indent="0" marL="0">
              <a:buNone/>
            </a:pPr>
            <a:r>
              <a:rPr lang="en-US" sz="1500" dirty="0">
                <a:solidFill>
                  <a:schemeClr val="tx1"/>
                </a:solidFill>
              </a:rPr>
              <a:t>Error 10.2 h vs 11.8 h for the baseline</a:t>
            </a:r>
            <a:endParaRPr lang="en-US" sz="1500" dirty="0"/>
          </a:p>
        </p:txBody>
      </p:sp>
      <p:sp>
        <p:nvSpPr>
          <p:cNvPr id="6" name="Text 4"/>
          <p:cNvSpPr txBox="1"/>
          <p:nvPr/>
        </p:nvSpPr>
        <p:spPr>
          <a:xfrm>
            <a:off x="777240" y="3291840"/>
            <a:ext cx="3108960" cy="914400"/>
          </a:xfrm>
          <a:prstGeom prst="rect">
            <a:avLst/>
          </a:prstGeom>
          <a:noFill/>
          <a:ln/>
        </p:spPr>
        <p:txBody>
          <a:bodyPr wrap="square" lIns="0" tIns="0" rIns="0" bIns="0" rtlCol="0" anchor="t"/>
          <a:lstStyle/>
          <a:p>
            <a:pPr indent="0" marL="0">
              <a:buNone/>
            </a:pPr>
            <a:r>
              <a:rPr lang="en-US" sz="1400" i="1" dirty="0">
                <a:solidFill>
                  <a:srgbClr val="A23B2A"/>
                </a:solidFill>
              </a:rPr>
              <a:t>Too imprecise for single jobs; not used</a:t>
            </a:r>
            <a:endParaRPr lang="en-US" sz="1400" dirty="0"/>
          </a:p>
        </p:txBody>
      </p:sp>
      <p:sp>
        <p:nvSpPr>
          <p:cNvPr id="7" name="panel"/>
          <p:cNvSpPr/>
          <p:nvPr/>
        </p:nvSpPr>
        <p:spPr>
          <a:xfrm>
            <a:off x="4297680" y="1691640"/>
            <a:ext cx="3566160" cy="2651760"/>
          </a:xfrm>
          <a:prstGeom prst="rect">
            <a:avLst/>
          </a:prstGeom>
          <a:solidFill>
            <a:schemeClr val="bg2"/>
          </a:solidFill>
          <a:ln w="12700">
            <a:solidFill>
              <a:schemeClr val="bg2"/>
            </a:solidFill>
            <a:prstDash val="solid"/>
          </a:ln>
        </p:spPr>
      </p:sp>
      <p:sp>
        <p:nvSpPr>
          <p:cNvPr id="8" name="Text 6"/>
          <p:cNvSpPr txBox="1"/>
          <p:nvPr/>
        </p:nvSpPr>
        <p:spPr>
          <a:xfrm>
            <a:off x="4526280" y="1828800"/>
            <a:ext cx="3108960" cy="365760"/>
          </a:xfrm>
          <a:prstGeom prst="rect">
            <a:avLst/>
          </a:prstGeom>
          <a:noFill/>
          <a:ln/>
        </p:spPr>
        <p:txBody>
          <a:bodyPr wrap="square" lIns="0" tIns="0" rIns="0" bIns="0" rtlCol="0" anchor="t"/>
          <a:lstStyle/>
          <a:p>
            <a:pPr indent="0" marL="0">
              <a:buNone/>
            </a:pPr>
            <a:r>
              <a:rPr lang="en-US" sz="1600" b="1" dirty="0">
                <a:solidFill>
                  <a:schemeClr val="tx2"/>
                </a:solidFill>
              </a:rPr>
              <a:t>Condition clustering</a:t>
            </a:r>
            <a:endParaRPr lang="en-US" sz="1600" dirty="0"/>
          </a:p>
        </p:txBody>
      </p:sp>
      <p:sp>
        <p:nvSpPr>
          <p:cNvPr id="9" name="Text 7"/>
          <p:cNvSpPr txBox="1"/>
          <p:nvPr/>
        </p:nvSpPr>
        <p:spPr>
          <a:xfrm>
            <a:off x="4526280" y="2331720"/>
            <a:ext cx="3108960" cy="822960"/>
          </a:xfrm>
          <a:prstGeom prst="rect">
            <a:avLst/>
          </a:prstGeom>
          <a:noFill/>
          <a:ln/>
        </p:spPr>
        <p:txBody>
          <a:bodyPr wrap="square" lIns="0" tIns="0" rIns="0" bIns="0" rtlCol="0" anchor="t"/>
          <a:lstStyle/>
          <a:p>
            <a:pPr indent="0" marL="0">
              <a:buNone/>
            </a:pPr>
            <a:r>
              <a:rPr lang="en-US" sz="1500" dirty="0">
                <a:solidFill>
                  <a:schemeClr val="tx1"/>
                </a:solidFill>
              </a:rPr>
              <a:t>Ageing, degraded groups lose ~2× per record</a:t>
            </a:r>
            <a:endParaRPr lang="en-US" sz="1500" dirty="0"/>
          </a:p>
        </p:txBody>
      </p:sp>
      <p:sp>
        <p:nvSpPr>
          <p:cNvPr id="10" name="Text 8"/>
          <p:cNvSpPr txBox="1"/>
          <p:nvPr/>
        </p:nvSpPr>
        <p:spPr>
          <a:xfrm>
            <a:off x="4526280" y="3291840"/>
            <a:ext cx="3108960" cy="914400"/>
          </a:xfrm>
          <a:prstGeom prst="rect">
            <a:avLst/>
          </a:prstGeom>
          <a:noFill/>
          <a:ln/>
        </p:spPr>
        <p:txBody>
          <a:bodyPr wrap="square" lIns="0" tIns="0" rIns="0" bIns="0" rtlCol="0" anchor="t"/>
          <a:lstStyle/>
          <a:p>
            <a:pPr indent="0" marL="0">
              <a:buNone/>
            </a:pPr>
            <a:r>
              <a:rPr lang="en-US" sz="1400" i="1" dirty="0">
                <a:solidFill>
                  <a:srgbClr val="A23B2A"/>
                </a:solidFill>
              </a:rPr>
              <a:t>Stable but weakly separated; descriptive only</a:t>
            </a:r>
            <a:endParaRPr lang="en-US" sz="1400" dirty="0"/>
          </a:p>
        </p:txBody>
      </p:sp>
      <p:sp>
        <p:nvSpPr>
          <p:cNvPr id="11" name="panel"/>
          <p:cNvSpPr/>
          <p:nvPr/>
        </p:nvSpPr>
        <p:spPr>
          <a:xfrm>
            <a:off x="8046720" y="1691640"/>
            <a:ext cx="3566160" cy="2651760"/>
          </a:xfrm>
          <a:prstGeom prst="rect">
            <a:avLst/>
          </a:prstGeom>
          <a:solidFill>
            <a:schemeClr val="bg2"/>
          </a:solidFill>
          <a:ln w="12700">
            <a:solidFill>
              <a:schemeClr val="bg2"/>
            </a:solidFill>
            <a:prstDash val="solid"/>
          </a:ln>
        </p:spPr>
      </p:sp>
      <p:sp>
        <p:nvSpPr>
          <p:cNvPr id="12" name="Text 10"/>
          <p:cNvSpPr txBox="1"/>
          <p:nvPr/>
        </p:nvSpPr>
        <p:spPr>
          <a:xfrm>
            <a:off x="8275320" y="1828800"/>
            <a:ext cx="3108960" cy="365760"/>
          </a:xfrm>
          <a:prstGeom prst="rect">
            <a:avLst/>
          </a:prstGeom>
          <a:noFill/>
          <a:ln/>
        </p:spPr>
        <p:txBody>
          <a:bodyPr wrap="square" lIns="0" tIns="0" rIns="0" bIns="0" rtlCol="0" anchor="t"/>
          <a:lstStyle/>
          <a:p>
            <a:pPr indent="0" marL="0">
              <a:buNone/>
            </a:pPr>
            <a:r>
              <a:rPr lang="en-US" sz="1600" b="1" dirty="0">
                <a:solidFill>
                  <a:schemeClr val="tx2"/>
                </a:solidFill>
              </a:rPr>
              <a:t>Quarterly forecast</a:t>
            </a:r>
            <a:endParaRPr lang="en-US" sz="1600" dirty="0"/>
          </a:p>
        </p:txBody>
      </p:sp>
      <p:sp>
        <p:nvSpPr>
          <p:cNvPr id="13" name="Text 11"/>
          <p:cNvSpPr txBox="1"/>
          <p:nvPr/>
        </p:nvSpPr>
        <p:spPr>
          <a:xfrm>
            <a:off x="8275320" y="2331720"/>
            <a:ext cx="3108960" cy="822960"/>
          </a:xfrm>
          <a:prstGeom prst="rect">
            <a:avLst/>
          </a:prstGeom>
          <a:noFill/>
          <a:ln/>
        </p:spPr>
        <p:txBody>
          <a:bodyPr wrap="square" lIns="0" tIns="0" rIns="0" bIns="0" rtlCol="0" anchor="t"/>
          <a:lstStyle/>
          <a:p>
            <a:pPr indent="0" marL="0">
              <a:buNone/>
            </a:pPr>
            <a:r>
              <a:rPr lang="en-US" sz="1500" dirty="0">
                <a:solidFill>
                  <a:schemeClr val="tx1"/>
                </a:solidFill>
              </a:rPr>
              <a:t>Long-run average error 2.5% vs 3.8% (last value)</a:t>
            </a:r>
            <a:endParaRPr lang="en-US" sz="1500" dirty="0"/>
          </a:p>
        </p:txBody>
      </p:sp>
      <p:sp>
        <p:nvSpPr>
          <p:cNvPr id="14" name="Text 12"/>
          <p:cNvSpPr txBox="1"/>
          <p:nvPr/>
        </p:nvSpPr>
        <p:spPr>
          <a:xfrm>
            <a:off x="8275320" y="3291840"/>
            <a:ext cx="3108960" cy="914400"/>
          </a:xfrm>
          <a:prstGeom prst="rect">
            <a:avLst/>
          </a:prstGeom>
          <a:noFill/>
          <a:ln/>
        </p:spPr>
        <p:txBody>
          <a:bodyPr wrap="square" lIns="0" tIns="0" rIns="0" bIns="0" rtlCol="0" anchor="t"/>
          <a:lstStyle/>
          <a:p>
            <a:pPr indent="0" marL="0">
              <a:buNone/>
            </a:pPr>
            <a:r>
              <a:rPr lang="en-US" sz="1400" i="1" dirty="0">
                <a:solidFill>
                  <a:srgbClr val="A23B2A"/>
                </a:solidFill>
              </a:rPr>
              <a:t>Downtime is stable; plan on the average</a:t>
            </a:r>
            <a:endParaRPr lang="en-US" sz="1400" dirty="0"/>
          </a:p>
        </p:txBody>
      </p:sp>
      <p:sp>
        <p:nvSpPr>
          <p:cNvPr id="15" name="panel"/>
          <p:cNvSpPr/>
          <p:nvPr/>
        </p:nvSpPr>
        <p:spPr>
          <a:xfrm>
            <a:off x="548640" y="4617720"/>
            <a:ext cx="11064240" cy="1325880"/>
          </a:xfrm>
          <a:prstGeom prst="rect">
            <a:avLst/>
          </a:prstGeom>
          <a:solidFill>
            <a:srgbClr val="E8EDF3"/>
          </a:solidFill>
          <a:ln w="12700">
            <a:solidFill>
              <a:srgbClr val="E8EDF3"/>
            </a:solidFill>
            <a:prstDash val="solid"/>
          </a:ln>
        </p:spPr>
      </p:sp>
      <p:sp>
        <p:nvSpPr>
          <p:cNvPr id="16" name="Text 14"/>
          <p:cNvSpPr txBox="1"/>
          <p:nvPr/>
        </p:nvSpPr>
        <p:spPr>
          <a:xfrm>
            <a:off x="822960" y="4709160"/>
            <a:ext cx="10515600" cy="1143000"/>
          </a:xfrm>
          <a:prstGeom prst="rect">
            <a:avLst/>
          </a:prstGeom>
          <a:noFill/>
          <a:ln/>
        </p:spPr>
        <p:txBody>
          <a:bodyPr wrap="square" lIns="0" tIns="0" rIns="0" bIns="0" rtlCol="0" anchor="ctr"/>
          <a:lstStyle/>
          <a:p>
            <a:pPr indent="0" marL="0">
              <a:buNone/>
            </a:pPr>
            <a:r>
              <a:rPr lang="en-US" sz="1600" b="1" dirty="0">
                <a:solidFill>
                  <a:srgbClr val="1F3A5F"/>
                </a:solidFill>
              </a:rPr>
              <a:t>Two principles we kept</a:t>
            </a:r>
            <a:endParaRPr lang="en-US" sz="1600" dirty="0"/>
          </a:p>
          <a:p>
            <a:pPr indent="0" marL="0">
              <a:buNone/>
            </a:pPr>
            <a:r>
              <a:rPr lang="en-US" sz="1600" dirty="0">
                <a:solidFill>
                  <a:schemeClr val="tx1"/>
                </a:solidFill>
              </a:rPr>
              <a:t>A model that adds little value is still a valid finding.  ·  Predicting risk is not the same as saving money.</a:t>
            </a:r>
            <a:endParaRPr lang="en-US" sz="1600" dirty="0"/>
          </a:p>
        </p:txBody>
      </p:sp>
      <p:sp>
        <p:nvSpPr>
          <p:cNvPr id="17" name="presenter name"/>
          <p:cNvSpPr txBox="1"/>
          <p:nvPr/>
        </p:nvSpPr>
        <p:spPr>
          <a:xfrm>
            <a:off x="6949440" y="164592"/>
            <a:ext cx="4690872" cy="274320"/>
          </a:xfrm>
          <a:prstGeom prst="rect">
            <a:avLst/>
          </a:prstGeom>
          <a:noFill/>
          <a:ln/>
        </p:spPr>
        <p:txBody>
          <a:bodyPr wrap="square" lIns="0" tIns="0" rIns="0" bIns="0" rtlCol="0" anchor="ctr"/>
          <a:lstStyle/>
          <a:p>
            <a:pPr algn="r" indent="0" marL="0">
              <a:buNone/>
            </a:pPr>
            <a:r>
              <a:rPr lang="en-US" sz="1100" dirty="0">
                <a:solidFill>
                  <a:srgbClr val="8C8C8C"/>
                </a:solidFill>
              </a:rPr>
              <a:t>Presenter: </a:t>
            </a:r>
            <a:pPr algn="r" indent="0" marL="0">
              <a:buNone/>
            </a:pPr>
            <a:r>
              <a:rPr lang="en-US" sz="1100" b="1" dirty="0">
                <a:solidFill>
                  <a:srgbClr val="1F3A5F"/>
                </a:solidFill>
              </a:rPr>
              <a:t>Ahmed Abd Elhakam Abd Elfattaah Zaian</a:t>
            </a:r>
            <a:endParaRPr lang="en-US" sz="1100" dirty="0"/>
          </a:p>
        </p:txBody>
      </p:sp>
      <p:sp>
        <p:nvSpPr>
          <p:cNvPr id="25" name="Slide Number Placeholder 0"/>
          <p:cNvSpPr>
            <a:spLocks noGrp="1"/>
          </p:cNvSpPr>
          <p:nvPr>
            <p:ph type="sldNum" sz="quarter" idx="4294967295"/>
          </p:nvPr>
        </p:nvSpPr>
        <p:spPr>
          <a:xfrm>
            <a:off x="11155680" y="647395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C8C8C"/>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502920"/>
            <a:ext cx="11064240" cy="868680"/>
          </a:xfrm>
          <a:prstGeom prst="rect">
            <a:avLst/>
          </a:prstGeom>
          <a:noFill/>
          <a:ln/>
        </p:spPr>
        <p:txBody>
          <a:bodyPr wrap="square" lIns="0" tIns="0" rIns="0" bIns="0" rtlCol="0" anchor="t"/>
          <a:lstStyle/>
          <a:p>
            <a:pPr algn="l" indent="0" marL="0">
              <a:buNone/>
            </a:pPr>
            <a:r>
              <a:rPr lang="en-US" sz="2600" b="1" dirty="0">
                <a:solidFill>
                  <a:schemeClr val="tx2"/>
                </a:solidFill>
                <a:latin typeface="Cambria" pitchFamily="34" charset="0"/>
                <a:ea typeface="Cambria" pitchFamily="34" charset="-122"/>
                <a:cs typeface="Cambria" pitchFamily="34" charset="-120"/>
              </a:rPr>
              <a:t>From analysis to automation: a prototype that repeats the work with human approval</a:t>
            </a:r>
            <a:endParaRPr lang="en-US" sz="2600" dirty="0"/>
          </a:p>
        </p:txBody>
      </p:sp>
      <p:sp>
        <p:nvSpPr>
          <p:cNvPr id="3" name="frame"/>
          <p:cNvSpPr/>
          <p:nvPr/>
        </p:nvSpPr>
        <p:spPr>
          <a:xfrm>
            <a:off x="530352" y="1581912"/>
            <a:ext cx="6803136" cy="3665144"/>
          </a:xfrm>
          <a:prstGeom prst="rect">
            <a:avLst/>
          </a:prstGeom>
          <a:solidFill>
            <a:srgbClr val="C9CED6"/>
          </a:solidFill>
          <a:ln w="12700">
            <a:solidFill>
              <a:srgbClr val="C9CED6"/>
            </a:solidFill>
            <a:prstDash val="solid"/>
          </a:ln>
        </p:spPr>
      </p:sp>
      <p:pic>
        <p:nvPicPr>
          <p:cNvPr id="4" name="screenshot" descr="plat/pipeline.jpg">    </p:cNvPr>
          <p:cNvPicPr>
            <a:picLocks noChangeAspect="1"/>
          </p:cNvPicPr>
          <p:nvPr/>
        </p:nvPicPr>
        <p:blipFill>
          <a:blip r:embed="rId1"/>
          <a:stretch>
            <a:fillRect/>
          </a:stretch>
        </p:blipFill>
        <p:spPr>
          <a:xfrm>
            <a:off x="548640" y="1600200"/>
            <a:ext cx="6766560" cy="3628568"/>
          </a:xfrm>
          <a:prstGeom prst="rect">
            <a:avLst/>
          </a:prstGeom>
        </p:spPr>
      </p:pic>
      <p:sp>
        <p:nvSpPr>
          <p:cNvPr id="5" name="Text 2"/>
          <p:cNvSpPr txBox="1"/>
          <p:nvPr/>
        </p:nvSpPr>
        <p:spPr>
          <a:xfrm>
            <a:off x="548640" y="5285232"/>
            <a:ext cx="6766560" cy="274320"/>
          </a:xfrm>
          <a:prstGeom prst="rect">
            <a:avLst/>
          </a:prstGeom>
          <a:noFill/>
          <a:ln/>
        </p:spPr>
        <p:txBody>
          <a:bodyPr wrap="square" lIns="0" tIns="0" rIns="0" bIns="0" rtlCol="0" anchor="t"/>
          <a:lstStyle/>
          <a:p>
            <a:pPr indent="0" marL="0">
              <a:buNone/>
            </a:pPr>
            <a:r>
              <a:rPr lang="en-US" sz="1100" i="1" dirty="0">
                <a:solidFill>
                  <a:srgbClr val="595959"/>
                </a:solidFill>
              </a:rPr>
              <a:t>Agent pipeline run on our analytics workbook, orchestrated by Hermes</a:t>
            </a:r>
            <a:endParaRPr lang="en-US" sz="1100" dirty="0"/>
          </a:p>
        </p:txBody>
      </p:sp>
      <p:sp>
        <p:nvSpPr>
          <p:cNvPr id="6" name="panel"/>
          <p:cNvSpPr/>
          <p:nvPr/>
        </p:nvSpPr>
        <p:spPr>
          <a:xfrm>
            <a:off x="548640" y="5596128"/>
            <a:ext cx="6766560" cy="457200"/>
          </a:xfrm>
          <a:prstGeom prst="rect">
            <a:avLst/>
          </a:prstGeom>
          <a:solidFill>
            <a:srgbClr val="F6E9E6"/>
          </a:solidFill>
          <a:ln w="12700">
            <a:solidFill>
              <a:srgbClr val="F6E9E6"/>
            </a:solidFill>
            <a:prstDash val="solid"/>
          </a:ln>
        </p:spPr>
      </p:sp>
      <p:sp>
        <p:nvSpPr>
          <p:cNvPr id="7" name="Text 4"/>
          <p:cNvSpPr txBox="1"/>
          <p:nvPr/>
        </p:nvSpPr>
        <p:spPr>
          <a:xfrm>
            <a:off x="731520" y="5596128"/>
            <a:ext cx="6492240" cy="457200"/>
          </a:xfrm>
          <a:prstGeom prst="rect">
            <a:avLst/>
          </a:prstGeom>
          <a:noFill/>
          <a:ln/>
        </p:spPr>
        <p:txBody>
          <a:bodyPr wrap="square" lIns="0" tIns="0" rIns="0" bIns="0" rtlCol="0" anchor="ctr"/>
          <a:lstStyle/>
          <a:p>
            <a:pPr indent="0" marL="0">
              <a:buNone/>
            </a:pPr>
            <a:r>
              <a:rPr lang="en-US" sz="1250" dirty="0">
                <a:solidFill>
                  <a:schemeClr val="tx1"/>
                </a:solidFill>
              </a:rPr>
              <a:t>Prototype only: the online demo uses sample data. It supports our analysis; it does not replace it.</a:t>
            </a:r>
            <a:endParaRPr lang="en-US" sz="1250" dirty="0"/>
          </a:p>
        </p:txBody>
      </p:sp>
      <p:sp>
        <p:nvSpPr>
          <p:cNvPr id="8" name="Text 5"/>
          <p:cNvSpPr txBox="1"/>
          <p:nvPr/>
        </p:nvSpPr>
        <p:spPr>
          <a:xfrm>
            <a:off x="7589520" y="1600200"/>
            <a:ext cx="4023360" cy="365760"/>
          </a:xfrm>
          <a:prstGeom prst="rect">
            <a:avLst/>
          </a:prstGeom>
          <a:noFill/>
          <a:ln/>
        </p:spPr>
        <p:txBody>
          <a:bodyPr wrap="square" lIns="0" tIns="0" rIns="0" bIns="0" rtlCol="0" anchor="t"/>
          <a:lstStyle/>
          <a:p>
            <a:pPr indent="0" marL="0">
              <a:buNone/>
            </a:pPr>
            <a:r>
              <a:rPr lang="en-US" sz="1600" b="1" dirty="0">
                <a:solidFill>
                  <a:schemeClr val="tx2"/>
                </a:solidFill>
              </a:rPr>
              <a:t>How it works</a:t>
            </a:r>
            <a:endParaRPr lang="en-US" sz="1600" dirty="0"/>
          </a:p>
        </p:txBody>
      </p:sp>
      <p:sp>
        <p:nvSpPr>
          <p:cNvPr id="9" name="Text 6"/>
          <p:cNvSpPr txBox="1"/>
          <p:nvPr/>
        </p:nvSpPr>
        <p:spPr>
          <a:xfrm>
            <a:off x="7589520" y="2011680"/>
            <a:ext cx="4023360" cy="2377440"/>
          </a:xfrm>
          <a:prstGeom prst="rect">
            <a:avLst/>
          </a:prstGeom>
          <a:noFill/>
          <a:ln/>
        </p:spPr>
        <p:txBody>
          <a:bodyPr wrap="square" lIns="0" tIns="0" rIns="0" bIns="0" rtlCol="0" anchor="t"/>
          <a:lstStyle/>
          <a:p>
            <a:pPr marL="190500" indent="-190500">
              <a:spcAft>
                <a:spcPts val="900"/>
              </a:spcAft>
              <a:buSzPct val="100000"/>
              <a:buChar char="•"/>
            </a:pPr>
            <a:r>
              <a:rPr lang="en-US" sz="1400" dirty="0">
                <a:solidFill>
                  <a:schemeClr val="tx1"/>
                </a:solidFill>
              </a:rPr>
              <a:t>Hermes runs specialist agents in four groups: data, analytics, assurance, publish</a:t>
            </a:r>
            <a:endParaRPr lang="en-US" sz="1400" dirty="0"/>
          </a:p>
          <a:p>
            <a:pPr marL="190500" indent="-190500">
              <a:spcAft>
                <a:spcPts val="900"/>
              </a:spcAft>
              <a:buSzPct val="100000"/>
              <a:buChar char="•"/>
            </a:pPr>
            <a:r>
              <a:rPr lang="en-US" sz="1400" dirty="0">
                <a:solidFill>
                  <a:schemeClr val="tx1"/>
                </a:solidFill>
              </a:rPr>
              <a:t>Same KPI definitions as our dashboard</a:t>
            </a:r>
            <a:endParaRPr lang="en-US" sz="1400" dirty="0"/>
          </a:p>
          <a:p>
            <a:pPr marL="190500" indent="-190500">
              <a:spcAft>
                <a:spcPts val="900"/>
              </a:spcAft>
              <a:buSzPct val="100000"/>
              <a:buChar char="•"/>
            </a:pPr>
            <a:r>
              <a:rPr lang="en-US" sz="1400" dirty="0">
                <a:solidFill>
                  <a:schemeClr val="tx1"/>
                </a:solidFill>
              </a:rPr>
              <a:t>Every figure is calculated, never written by a language model</a:t>
            </a:r>
            <a:endParaRPr lang="en-US" sz="1400" dirty="0"/>
          </a:p>
          <a:p>
            <a:pPr marL="190500" indent="-190500">
              <a:spcAft>
                <a:spcPts val="900"/>
              </a:spcAft>
              <a:buSzPct val="100000"/>
              <a:buChar char="•"/>
            </a:pPr>
            <a:r>
              <a:rPr lang="en-US" sz="1400" dirty="0">
                <a:solidFill>
                  <a:schemeClr val="tx1"/>
                </a:solidFill>
              </a:rPr>
              <a:t>Nothing is published without human approval</a:t>
            </a:r>
            <a:endParaRPr lang="en-US" sz="1400" dirty="0"/>
          </a:p>
        </p:txBody>
      </p:sp>
      <p:sp>
        <p:nvSpPr>
          <p:cNvPr id="10" name="frame"/>
          <p:cNvSpPr/>
          <p:nvPr/>
        </p:nvSpPr>
        <p:spPr>
          <a:xfrm>
            <a:off x="7571232" y="4142232"/>
            <a:ext cx="2048256" cy="1849572"/>
          </a:xfrm>
          <a:prstGeom prst="rect">
            <a:avLst/>
          </a:prstGeom>
          <a:solidFill>
            <a:srgbClr val="C9CED6"/>
          </a:solidFill>
          <a:ln w="12700">
            <a:solidFill>
              <a:srgbClr val="C9CED6"/>
            </a:solidFill>
            <a:prstDash val="solid"/>
          </a:ln>
        </p:spPr>
      </p:sp>
      <p:pic>
        <p:nvPicPr>
          <p:cNvPr id="11" name="screenshot" descr="plat/graph.jpg">    </p:cNvPr>
          <p:cNvPicPr>
            <a:picLocks noChangeAspect="1"/>
          </p:cNvPicPr>
          <p:nvPr/>
        </p:nvPicPr>
        <p:blipFill>
          <a:blip r:embed="rId2"/>
          <a:stretch>
            <a:fillRect/>
          </a:stretch>
        </p:blipFill>
        <p:spPr>
          <a:xfrm>
            <a:off x="7589520" y="4160520"/>
            <a:ext cx="2011680" cy="1812996"/>
          </a:xfrm>
          <a:prstGeom prst="rect">
            <a:avLst/>
          </a:prstGeom>
        </p:spPr>
      </p:pic>
      <p:sp>
        <p:nvSpPr>
          <p:cNvPr id="12" name="Text 8"/>
          <p:cNvSpPr txBox="1"/>
          <p:nvPr/>
        </p:nvSpPr>
        <p:spPr>
          <a:xfrm>
            <a:off x="9784080" y="4206240"/>
            <a:ext cx="1828800" cy="1463040"/>
          </a:xfrm>
          <a:prstGeom prst="rect">
            <a:avLst/>
          </a:prstGeom>
          <a:noFill/>
          <a:ln/>
        </p:spPr>
        <p:txBody>
          <a:bodyPr wrap="square" lIns="0" tIns="0" rIns="0" bIns="0" rtlCol="0" anchor="t"/>
          <a:lstStyle/>
          <a:p>
            <a:pPr indent="0" marL="0">
              <a:buNone/>
            </a:pPr>
            <a:r>
              <a:rPr lang="en-US" sz="1150" i="1" dirty="0">
                <a:solidFill>
                  <a:srgbClr val="595959"/>
                </a:solidFill>
              </a:rPr>
              <a:t>Our project knowledge base: decisions, KPIs and agent rules linked together</a:t>
            </a:r>
            <a:endParaRPr lang="en-US" sz="1150" dirty="0"/>
          </a:p>
        </p:txBody>
      </p:sp>
      <p:sp>
        <p:nvSpPr>
          <p:cNvPr id="13" name="presenter name"/>
          <p:cNvSpPr txBox="1"/>
          <p:nvPr/>
        </p:nvSpPr>
        <p:spPr>
          <a:xfrm>
            <a:off x="6949440" y="164592"/>
            <a:ext cx="4690872" cy="274320"/>
          </a:xfrm>
          <a:prstGeom prst="rect">
            <a:avLst/>
          </a:prstGeom>
          <a:noFill/>
          <a:ln/>
        </p:spPr>
        <p:txBody>
          <a:bodyPr wrap="square" lIns="0" tIns="0" rIns="0" bIns="0" rtlCol="0" anchor="ctr"/>
          <a:lstStyle/>
          <a:p>
            <a:pPr algn="r" indent="0" marL="0">
              <a:buNone/>
            </a:pPr>
            <a:r>
              <a:rPr lang="en-US" sz="1100" dirty="0">
                <a:solidFill>
                  <a:srgbClr val="8C8C8C"/>
                </a:solidFill>
              </a:rPr>
              <a:t>Presenter: </a:t>
            </a:r>
            <a:pPr algn="r" indent="0" marL="0">
              <a:buNone/>
            </a:pPr>
            <a:r>
              <a:rPr lang="en-US" sz="1100" b="1" dirty="0">
                <a:solidFill>
                  <a:srgbClr val="1F3A5F"/>
                </a:solidFill>
              </a:rPr>
              <a:t>Ahmed Abd Elhakam Abd Elfattaah Zaian</a:t>
            </a:r>
            <a:endParaRPr lang="en-US" sz="1100" dirty="0"/>
          </a:p>
        </p:txBody>
      </p:sp>
      <p:sp>
        <p:nvSpPr>
          <p:cNvPr id="25" name="Slide Number Placeholder 0"/>
          <p:cNvSpPr>
            <a:spLocks noGrp="1"/>
          </p:cNvSpPr>
          <p:nvPr>
            <p:ph type="sldNum" sz="quarter" idx="4294967295"/>
          </p:nvPr>
        </p:nvSpPr>
        <p:spPr>
          <a:xfrm>
            <a:off x="11155680" y="647395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C8C8C"/>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502920"/>
            <a:ext cx="11064240" cy="868680"/>
          </a:xfrm>
          <a:prstGeom prst="rect">
            <a:avLst/>
          </a:prstGeom>
          <a:noFill/>
          <a:ln/>
        </p:spPr>
        <p:txBody>
          <a:bodyPr wrap="square" lIns="0" tIns="0" rIns="0" bIns="0" rtlCol="0" anchor="t"/>
          <a:lstStyle/>
          <a:p>
            <a:pPr algn="l" indent="0" marL="0">
              <a:buNone/>
            </a:pPr>
            <a:r>
              <a:rPr lang="en-US" sz="2600" b="1" dirty="0">
                <a:solidFill>
                  <a:schemeClr val="tx2"/>
                </a:solidFill>
                <a:latin typeface="Cambria" pitchFamily="34" charset="0"/>
                <a:ea typeface="Cambria" pitchFamily="34" charset="-122"/>
                <a:cs typeface="Cambria" pitchFamily="34" charset="-120"/>
              </a:rPr>
              <a:t>The risk model ranks high-loss jobs better than a simple rule: 0.73 vs 0.61</a:t>
            </a:r>
            <a:endParaRPr lang="en-US" sz="2600" dirty="0"/>
          </a:p>
        </p:txBody>
      </p:sp>
      <p:graphicFrame>
        <p:nvGraphicFramePr>
          <p:cNvPr id="3" name="Chart 0" descr=""/>
          <p:cNvGraphicFramePr/>
          <p:nvPr/>
        </p:nvGraphicFramePr>
        <p:xfrm>
          <a:off x="548640" y="1463040"/>
          <a:ext cx="3566160" cy="2468880"/>
        </p:xfrm>
        <a:graphic xmlns:a="http://schemas.openxmlformats.org/drawingml/2006/main">
          <a:graphicData uri="http://schemas.openxmlformats.org/drawingml/2006/chart">
            <c:chart xmlns:c="http://schemas.openxmlformats.org/drawingml/2006/chart" r:id="rId1"/>
          </a:graphicData>
        </a:graphic>
      </p:graphicFrame>
      <p:graphicFrame>
        <p:nvGraphicFramePr>
          <p:cNvPr id="4" name="Chart 1" descr=""/>
          <p:cNvGraphicFramePr/>
          <p:nvPr/>
        </p:nvGraphicFramePr>
        <p:xfrm>
          <a:off x="4206240" y="1463040"/>
          <a:ext cx="3657600" cy="2468880"/>
        </p:xfrm>
        <a:graphic xmlns:a="http://schemas.openxmlformats.org/drawingml/2006/main">
          <a:graphicData uri="http://schemas.openxmlformats.org/drawingml/2006/chart">
            <c:chart xmlns:c="http://schemas.openxmlformats.org/drawingml/2006/chart" r:id="rId2"/>
          </a:graphicData>
        </a:graphic>
      </p:graphicFrame>
      <p:sp>
        <p:nvSpPr>
          <p:cNvPr id="5" name="insight"/>
          <p:cNvSpPr/>
          <p:nvPr/>
        </p:nvSpPr>
        <p:spPr>
          <a:xfrm>
            <a:off x="8092440" y="1508760"/>
            <a:ext cx="3520440" cy="1143000"/>
          </a:xfrm>
          <a:prstGeom prst="rect">
            <a:avLst/>
          </a:prstGeom>
          <a:solidFill>
            <a:schemeClr val="bg2"/>
          </a:solidFill>
          <a:ln w="12700">
            <a:solidFill>
              <a:schemeClr val="bg2"/>
            </a:solidFill>
            <a:prstDash val="solid"/>
          </a:ln>
        </p:spPr>
      </p:sp>
      <p:sp>
        <p:nvSpPr>
          <p:cNvPr id="6" name="Text 2"/>
          <p:cNvSpPr txBox="1"/>
          <p:nvPr/>
        </p:nvSpPr>
        <p:spPr>
          <a:xfrm>
            <a:off x="8275320" y="1618488"/>
            <a:ext cx="3200400" cy="502920"/>
          </a:xfrm>
          <a:prstGeom prst="rect">
            <a:avLst/>
          </a:prstGeom>
          <a:noFill/>
          <a:ln/>
        </p:spPr>
        <p:txBody>
          <a:bodyPr wrap="square" lIns="0" tIns="0" rIns="0" bIns="0" rtlCol="0" anchor="t"/>
          <a:lstStyle/>
          <a:p>
            <a:pPr indent="0" marL="0">
              <a:buNone/>
            </a:pPr>
            <a:r>
              <a:rPr lang="en-US" sz="2200" b="1" dirty="0">
                <a:solidFill>
                  <a:schemeClr val="accent2"/>
                </a:solidFill>
                <a:latin typeface="Cambria" pitchFamily="34" charset="0"/>
                <a:ea typeface="Cambria" pitchFamily="34" charset="-122"/>
                <a:cs typeface="Cambria" pitchFamily="34" charset="-120"/>
              </a:rPr>
              <a:t>$99.8M of $228.9M</a:t>
            </a:r>
            <a:endParaRPr lang="en-US" sz="2200" dirty="0"/>
          </a:p>
        </p:txBody>
      </p:sp>
      <p:sp>
        <p:nvSpPr>
          <p:cNvPr id="7" name="Text 3"/>
          <p:cNvSpPr txBox="1"/>
          <p:nvPr/>
        </p:nvSpPr>
        <p:spPr>
          <a:xfrm>
            <a:off x="8275320" y="2130552"/>
            <a:ext cx="3200400" cy="457200"/>
          </a:xfrm>
          <a:prstGeom prst="rect">
            <a:avLst/>
          </a:prstGeom>
          <a:noFill/>
          <a:ln/>
        </p:spPr>
        <p:txBody>
          <a:bodyPr wrap="square" lIns="0" tIns="0" rIns="0" bIns="0" rtlCol="0" anchor="t"/>
          <a:lstStyle/>
          <a:p>
            <a:pPr indent="0" marL="0">
              <a:buNone/>
            </a:pPr>
            <a:r>
              <a:rPr lang="en-US" sz="1250" dirty="0">
                <a:solidFill>
                  <a:srgbClr val="333333"/>
                </a:solidFill>
              </a:rPr>
              <a:t>loss sits in the 1,418 watchlist records (28% of records, 44% of loss)</a:t>
            </a:r>
            <a:endParaRPr lang="en-US" sz="1250" dirty="0"/>
          </a:p>
        </p:txBody>
      </p:sp>
      <p:sp>
        <p:nvSpPr>
          <p:cNvPr id="8" name="insight"/>
          <p:cNvSpPr/>
          <p:nvPr/>
        </p:nvSpPr>
        <p:spPr>
          <a:xfrm>
            <a:off x="8092440" y="2788920"/>
            <a:ext cx="3520440" cy="1143000"/>
          </a:xfrm>
          <a:prstGeom prst="rect">
            <a:avLst/>
          </a:prstGeom>
          <a:solidFill>
            <a:schemeClr val="bg2"/>
          </a:solidFill>
          <a:ln w="12700">
            <a:solidFill>
              <a:schemeClr val="bg2"/>
            </a:solidFill>
            <a:prstDash val="solid"/>
          </a:ln>
        </p:spPr>
      </p:sp>
      <p:sp>
        <p:nvSpPr>
          <p:cNvPr id="9" name="Text 5"/>
          <p:cNvSpPr txBox="1"/>
          <p:nvPr/>
        </p:nvSpPr>
        <p:spPr>
          <a:xfrm>
            <a:off x="8275320" y="2898648"/>
            <a:ext cx="3200400" cy="502920"/>
          </a:xfrm>
          <a:prstGeom prst="rect">
            <a:avLst/>
          </a:prstGeom>
          <a:noFill/>
          <a:ln/>
        </p:spPr>
        <p:txBody>
          <a:bodyPr wrap="square" lIns="0" tIns="0" rIns="0" bIns="0" rtlCol="0" anchor="t"/>
          <a:lstStyle/>
          <a:p>
            <a:pPr indent="0" marL="0">
              <a:buNone/>
            </a:pPr>
            <a:r>
              <a:rPr lang="en-US" sz="2200" b="1" dirty="0">
                <a:solidFill>
                  <a:schemeClr val="tx2"/>
                </a:solidFill>
                <a:latin typeface="Cambria" pitchFamily="34" charset="0"/>
                <a:ea typeface="Cambria" pitchFamily="34" charset="-122"/>
                <a:cs typeface="Cambria" pitchFamily="34" charset="-120"/>
              </a:rPr>
              <a:t>~50% false alarms</a:t>
            </a:r>
            <a:endParaRPr lang="en-US" sz="2200" dirty="0"/>
          </a:p>
        </p:txBody>
      </p:sp>
      <p:sp>
        <p:nvSpPr>
          <p:cNvPr id="10" name="Text 6"/>
          <p:cNvSpPr txBox="1"/>
          <p:nvPr/>
        </p:nvSpPr>
        <p:spPr>
          <a:xfrm>
            <a:off x="8275320" y="3410712"/>
            <a:ext cx="3200400" cy="457200"/>
          </a:xfrm>
          <a:prstGeom prst="rect">
            <a:avLst/>
          </a:prstGeom>
          <a:noFill/>
          <a:ln/>
        </p:spPr>
        <p:txBody>
          <a:bodyPr wrap="square" lIns="0" tIns="0" rIns="0" bIns="0" rtlCol="0" anchor="t"/>
          <a:lstStyle/>
          <a:p>
            <a:pPr indent="0" marL="0">
              <a:buNone/>
            </a:pPr>
            <a:r>
              <a:rPr lang="en-US" sz="1250" dirty="0">
                <a:solidFill>
                  <a:srgbClr val="333333"/>
                </a:solidFill>
              </a:rPr>
              <a:t>in the top tier, so a person approves every change in priority</a:t>
            </a:r>
            <a:endParaRPr lang="en-US" sz="1250" dirty="0"/>
          </a:p>
        </p:txBody>
      </p:sp>
      <p:sp>
        <p:nvSpPr>
          <p:cNvPr id="11" name="frame"/>
          <p:cNvSpPr/>
          <p:nvPr/>
        </p:nvSpPr>
        <p:spPr>
          <a:xfrm>
            <a:off x="530352" y="4142232"/>
            <a:ext cx="11100816" cy="1612745"/>
          </a:xfrm>
          <a:prstGeom prst="rect">
            <a:avLst/>
          </a:prstGeom>
          <a:solidFill>
            <a:srgbClr val="C9CED6"/>
          </a:solidFill>
          <a:ln w="12700">
            <a:solidFill>
              <a:srgbClr val="C9CED6"/>
            </a:solidFill>
            <a:prstDash val="solid"/>
          </a:ln>
        </p:spPr>
      </p:sp>
      <p:pic>
        <p:nvPicPr>
          <p:cNvPr id="12" name="screenshot" descr="dash/c_risk_queue.jpg">    </p:cNvPr>
          <p:cNvPicPr>
            <a:picLocks noChangeAspect="1"/>
          </p:cNvPicPr>
          <p:nvPr/>
        </p:nvPicPr>
        <p:blipFill>
          <a:blip r:embed="rId3"/>
          <a:stretch>
            <a:fillRect/>
          </a:stretch>
        </p:blipFill>
        <p:spPr>
          <a:xfrm>
            <a:off x="548640" y="4160520"/>
            <a:ext cx="11064240" cy="1576169"/>
          </a:xfrm>
          <a:prstGeom prst="rect">
            <a:avLst/>
          </a:prstGeom>
        </p:spPr>
      </p:pic>
      <p:sp>
        <p:nvSpPr>
          <p:cNvPr id="13" name="Text 8"/>
          <p:cNvSpPr txBox="1"/>
          <p:nvPr/>
        </p:nvSpPr>
        <p:spPr>
          <a:xfrm>
            <a:off x="548640" y="5769864"/>
            <a:ext cx="11064240" cy="256032"/>
          </a:xfrm>
          <a:prstGeom prst="rect">
            <a:avLst/>
          </a:prstGeom>
          <a:noFill/>
          <a:ln/>
        </p:spPr>
        <p:txBody>
          <a:bodyPr wrap="square" lIns="0" tIns="0" rIns="0" bIns="0" rtlCol="0" anchor="t"/>
          <a:lstStyle/>
          <a:p>
            <a:pPr indent="0" marL="0">
              <a:buNone/>
            </a:pPr>
            <a:r>
              <a:rPr lang="en-US" sz="1050" i="1" dirty="0">
                <a:solidFill>
                  <a:srgbClr val="6B6B6B"/>
                </a:solidFill>
              </a:rPr>
              <a:t>Dashboard, Risk page: exception queue. Top jobs are critical, 13–18 years old, with condition scores below 61 and high vibration.</a:t>
            </a:r>
            <a:endParaRPr lang="en-US" sz="1050" dirty="0"/>
          </a:p>
        </p:txBody>
      </p:sp>
      <p:sp>
        <p:nvSpPr>
          <p:cNvPr id="14" name="presenter name"/>
          <p:cNvSpPr txBox="1"/>
          <p:nvPr/>
        </p:nvSpPr>
        <p:spPr>
          <a:xfrm>
            <a:off x="6949440" y="164592"/>
            <a:ext cx="4690872" cy="274320"/>
          </a:xfrm>
          <a:prstGeom prst="rect">
            <a:avLst/>
          </a:prstGeom>
          <a:noFill/>
          <a:ln/>
        </p:spPr>
        <p:txBody>
          <a:bodyPr wrap="square" lIns="0" tIns="0" rIns="0" bIns="0" rtlCol="0" anchor="ctr"/>
          <a:lstStyle/>
          <a:p>
            <a:pPr algn="r" indent="0" marL="0">
              <a:buNone/>
            </a:pPr>
            <a:r>
              <a:rPr lang="en-US" sz="1100" dirty="0">
                <a:solidFill>
                  <a:srgbClr val="8C8C8C"/>
                </a:solidFill>
              </a:rPr>
              <a:t>Presenter: </a:t>
            </a:r>
            <a:pPr algn="r" indent="0" marL="0">
              <a:buNone/>
            </a:pPr>
            <a:r>
              <a:rPr lang="en-US" sz="1100" b="1" dirty="0">
                <a:solidFill>
                  <a:srgbClr val="1F3A5F"/>
                </a:solidFill>
              </a:rPr>
              <a:t>Khaled Abdelnasser Morsi Amer</a:t>
            </a:r>
            <a:endParaRPr lang="en-US" sz="1100" dirty="0"/>
          </a:p>
        </p:txBody>
      </p:sp>
      <p:sp>
        <p:nvSpPr>
          <p:cNvPr id="25" name="Slide Number Placeholder 0"/>
          <p:cNvSpPr>
            <a:spLocks noGrp="1"/>
          </p:cNvSpPr>
          <p:nvPr>
            <p:ph type="sldNum" sz="quarter" idx="4294967295"/>
          </p:nvPr>
        </p:nvSpPr>
        <p:spPr>
          <a:xfrm>
            <a:off x="11155680" y="647395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C8C8C"/>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502920"/>
            <a:ext cx="11064240" cy="868680"/>
          </a:xfrm>
          <a:prstGeom prst="rect">
            <a:avLst/>
          </a:prstGeom>
          <a:noFill/>
          <a:ln/>
        </p:spPr>
        <p:txBody>
          <a:bodyPr wrap="square" lIns="0" tIns="0" rIns="0" bIns="0" rtlCol="0" anchor="t"/>
          <a:lstStyle/>
          <a:p>
            <a:pPr algn="l" indent="0" marL="0">
              <a:buNone/>
            </a:pPr>
            <a:r>
              <a:rPr lang="en-US" sz="2600" b="1" dirty="0">
                <a:solidFill>
                  <a:schemeClr val="tx2"/>
                </a:solidFill>
                <a:latin typeface="Cambria" pitchFamily="34" charset="0"/>
                <a:ea typeface="Cambria" pitchFamily="34" charset="-122"/>
                <a:cs typeface="Cambria" pitchFamily="34" charset="-120"/>
              </a:rPr>
              <a:t>Financial simulation: three levers, three scenarios, built from our own data</a:t>
            </a:r>
            <a:endParaRPr lang="en-US" sz="2600" dirty="0"/>
          </a:p>
        </p:txBody>
      </p:sp>
      <p:sp>
        <p:nvSpPr>
          <p:cNvPr id="3" name="stat Downtime per year (baseline)"/>
          <p:cNvSpPr/>
          <p:nvPr/>
        </p:nvSpPr>
        <p:spPr>
          <a:xfrm>
            <a:off x="548640" y="1645920"/>
            <a:ext cx="2651760" cy="1234440"/>
          </a:xfrm>
          <a:prstGeom prst="rect">
            <a:avLst/>
          </a:prstGeom>
          <a:solidFill>
            <a:schemeClr val="bg2"/>
          </a:solidFill>
          <a:ln w="12700">
            <a:solidFill>
              <a:schemeClr val="bg2"/>
            </a:solidFill>
            <a:prstDash val="solid"/>
          </a:ln>
        </p:spPr>
      </p:sp>
      <p:sp>
        <p:nvSpPr>
          <p:cNvPr id="4" name="Text 2"/>
          <p:cNvSpPr txBox="1"/>
          <p:nvPr/>
        </p:nvSpPr>
        <p:spPr>
          <a:xfrm>
            <a:off x="749808" y="1783080"/>
            <a:ext cx="2286000" cy="594360"/>
          </a:xfrm>
          <a:prstGeom prst="rect">
            <a:avLst/>
          </a:prstGeom>
          <a:noFill/>
          <a:ln/>
        </p:spPr>
        <p:txBody>
          <a:bodyPr wrap="square" lIns="0" tIns="0" rIns="0" bIns="0" rtlCol="0" anchor="t"/>
          <a:lstStyle/>
          <a:p>
            <a:pPr indent="0" marL="0">
              <a:buNone/>
            </a:pPr>
            <a:r>
              <a:rPr lang="en-US" sz="3000" b="1" dirty="0">
                <a:solidFill>
                  <a:schemeClr val="tx2"/>
                </a:solidFill>
                <a:latin typeface="Cambria" pitchFamily="34" charset="0"/>
                <a:ea typeface="Cambria" pitchFamily="34" charset="-122"/>
                <a:cs typeface="Cambria" pitchFamily="34" charset="-120"/>
              </a:rPr>
              <a:t>36,530 h</a:t>
            </a:r>
            <a:endParaRPr lang="en-US" sz="3000" dirty="0"/>
          </a:p>
        </p:txBody>
      </p:sp>
      <p:sp>
        <p:nvSpPr>
          <p:cNvPr id="5" name="Text 3"/>
          <p:cNvSpPr txBox="1"/>
          <p:nvPr/>
        </p:nvSpPr>
        <p:spPr>
          <a:xfrm>
            <a:off x="749808" y="2395728"/>
            <a:ext cx="2286000" cy="411480"/>
          </a:xfrm>
          <a:prstGeom prst="rect">
            <a:avLst/>
          </a:prstGeom>
          <a:noFill/>
          <a:ln/>
        </p:spPr>
        <p:txBody>
          <a:bodyPr wrap="square" lIns="0" tIns="0" rIns="0" bIns="0" rtlCol="0" anchor="t"/>
          <a:lstStyle/>
          <a:p>
            <a:pPr indent="0" marL="0">
              <a:buNone/>
            </a:pPr>
            <a:r>
              <a:rPr lang="en-US" sz="1300" dirty="0">
                <a:solidFill>
                  <a:srgbClr val="404040"/>
                </a:solidFill>
              </a:rPr>
              <a:t>Downtime per year (baseline)</a:t>
            </a:r>
            <a:endParaRPr lang="en-US" sz="1300" dirty="0"/>
          </a:p>
        </p:txBody>
      </p:sp>
      <p:sp>
        <p:nvSpPr>
          <p:cNvPr id="6" name="stat Production loss per year"/>
          <p:cNvSpPr/>
          <p:nvPr/>
        </p:nvSpPr>
        <p:spPr>
          <a:xfrm>
            <a:off x="3355848" y="1645920"/>
            <a:ext cx="2651760" cy="1234440"/>
          </a:xfrm>
          <a:prstGeom prst="rect">
            <a:avLst/>
          </a:prstGeom>
          <a:solidFill>
            <a:schemeClr val="bg2"/>
          </a:solidFill>
          <a:ln w="12700">
            <a:solidFill>
              <a:schemeClr val="bg2"/>
            </a:solidFill>
            <a:prstDash val="solid"/>
          </a:ln>
        </p:spPr>
      </p:sp>
      <p:sp>
        <p:nvSpPr>
          <p:cNvPr id="7" name="Text 5"/>
          <p:cNvSpPr txBox="1"/>
          <p:nvPr/>
        </p:nvSpPr>
        <p:spPr>
          <a:xfrm>
            <a:off x="3557016" y="1783080"/>
            <a:ext cx="2286000" cy="594360"/>
          </a:xfrm>
          <a:prstGeom prst="rect">
            <a:avLst/>
          </a:prstGeom>
          <a:noFill/>
          <a:ln/>
        </p:spPr>
        <p:txBody>
          <a:bodyPr wrap="square" lIns="0" tIns="0" rIns="0" bIns="0" rtlCol="0" anchor="t"/>
          <a:lstStyle/>
          <a:p>
            <a:pPr indent="0" marL="0">
              <a:buNone/>
            </a:pPr>
            <a:r>
              <a:rPr lang="en-US" sz="3000" b="1" dirty="0">
                <a:solidFill>
                  <a:schemeClr val="accent2"/>
                </a:solidFill>
                <a:latin typeface="Cambria" pitchFamily="34" charset="0"/>
                <a:ea typeface="Cambria" pitchFamily="34" charset="-122"/>
                <a:cs typeface="Cambria" pitchFamily="34" charset="-120"/>
              </a:rPr>
              <a:t>$92.1M</a:t>
            </a:r>
            <a:endParaRPr lang="en-US" sz="3000" dirty="0"/>
          </a:p>
        </p:txBody>
      </p:sp>
      <p:sp>
        <p:nvSpPr>
          <p:cNvPr id="8" name="Text 6"/>
          <p:cNvSpPr txBox="1"/>
          <p:nvPr/>
        </p:nvSpPr>
        <p:spPr>
          <a:xfrm>
            <a:off x="3557016" y="2395728"/>
            <a:ext cx="2286000" cy="411480"/>
          </a:xfrm>
          <a:prstGeom prst="rect">
            <a:avLst/>
          </a:prstGeom>
          <a:noFill/>
          <a:ln/>
        </p:spPr>
        <p:txBody>
          <a:bodyPr wrap="square" lIns="0" tIns="0" rIns="0" bIns="0" rtlCol="0" anchor="t"/>
          <a:lstStyle/>
          <a:p>
            <a:pPr indent="0" marL="0">
              <a:buNone/>
            </a:pPr>
            <a:r>
              <a:rPr lang="en-US" sz="1300" dirty="0">
                <a:solidFill>
                  <a:srgbClr val="404040"/>
                </a:solidFill>
              </a:rPr>
              <a:t>Production loss per year</a:t>
            </a:r>
            <a:endParaRPr lang="en-US" sz="1300" dirty="0"/>
          </a:p>
        </p:txBody>
      </p:sp>
      <p:sp>
        <p:nvSpPr>
          <p:cNvPr id="9" name="stat Value of one downtime hour"/>
          <p:cNvSpPr/>
          <p:nvPr/>
        </p:nvSpPr>
        <p:spPr>
          <a:xfrm>
            <a:off x="6163056" y="1645920"/>
            <a:ext cx="2651760" cy="1234440"/>
          </a:xfrm>
          <a:prstGeom prst="rect">
            <a:avLst/>
          </a:prstGeom>
          <a:solidFill>
            <a:schemeClr val="bg2"/>
          </a:solidFill>
          <a:ln w="12700">
            <a:solidFill>
              <a:schemeClr val="bg2"/>
            </a:solidFill>
            <a:prstDash val="solid"/>
          </a:ln>
        </p:spPr>
      </p:sp>
      <p:sp>
        <p:nvSpPr>
          <p:cNvPr id="10" name="Text 8"/>
          <p:cNvSpPr txBox="1"/>
          <p:nvPr/>
        </p:nvSpPr>
        <p:spPr>
          <a:xfrm>
            <a:off x="6364224" y="1783080"/>
            <a:ext cx="2286000" cy="594360"/>
          </a:xfrm>
          <a:prstGeom prst="rect">
            <a:avLst/>
          </a:prstGeom>
          <a:noFill/>
          <a:ln/>
        </p:spPr>
        <p:txBody>
          <a:bodyPr wrap="square" lIns="0" tIns="0" rIns="0" bIns="0" rtlCol="0" anchor="t"/>
          <a:lstStyle/>
          <a:p>
            <a:pPr indent="0" marL="0">
              <a:buNone/>
            </a:pPr>
            <a:r>
              <a:rPr lang="en-US" sz="3000" b="1" dirty="0">
                <a:solidFill>
                  <a:schemeClr val="tx2"/>
                </a:solidFill>
                <a:latin typeface="Cambria" pitchFamily="34" charset="0"/>
                <a:ea typeface="Cambria" pitchFamily="34" charset="-122"/>
                <a:cs typeface="Cambria" pitchFamily="34" charset="-120"/>
              </a:rPr>
              <a:t>$2,513</a:t>
            </a:r>
            <a:endParaRPr lang="en-US" sz="3000" dirty="0"/>
          </a:p>
        </p:txBody>
      </p:sp>
      <p:sp>
        <p:nvSpPr>
          <p:cNvPr id="11" name="Text 9"/>
          <p:cNvSpPr txBox="1"/>
          <p:nvPr/>
        </p:nvSpPr>
        <p:spPr>
          <a:xfrm>
            <a:off x="6364224" y="2395728"/>
            <a:ext cx="2286000" cy="411480"/>
          </a:xfrm>
          <a:prstGeom prst="rect">
            <a:avLst/>
          </a:prstGeom>
          <a:noFill/>
          <a:ln/>
        </p:spPr>
        <p:txBody>
          <a:bodyPr wrap="square" lIns="0" tIns="0" rIns="0" bIns="0" rtlCol="0" anchor="t"/>
          <a:lstStyle/>
          <a:p>
            <a:pPr indent="0" marL="0">
              <a:buNone/>
            </a:pPr>
            <a:r>
              <a:rPr lang="en-US" sz="1300" dirty="0">
                <a:solidFill>
                  <a:srgbClr val="404040"/>
                </a:solidFill>
              </a:rPr>
              <a:t>Value of one downtime hour</a:t>
            </a:r>
            <a:endParaRPr lang="en-US" sz="1300" dirty="0"/>
          </a:p>
        </p:txBody>
      </p:sp>
      <p:sp>
        <p:nvSpPr>
          <p:cNvPr id="12" name="stat Cost of one inspection (6.5 h × $52.69)"/>
          <p:cNvSpPr/>
          <p:nvPr/>
        </p:nvSpPr>
        <p:spPr>
          <a:xfrm>
            <a:off x="8970264" y="1645920"/>
            <a:ext cx="2642616" cy="1234440"/>
          </a:xfrm>
          <a:prstGeom prst="rect">
            <a:avLst/>
          </a:prstGeom>
          <a:solidFill>
            <a:schemeClr val="bg2"/>
          </a:solidFill>
          <a:ln w="12700">
            <a:solidFill>
              <a:schemeClr val="bg2"/>
            </a:solidFill>
            <a:prstDash val="solid"/>
          </a:ln>
        </p:spPr>
      </p:sp>
      <p:sp>
        <p:nvSpPr>
          <p:cNvPr id="13" name="Text 11"/>
          <p:cNvSpPr txBox="1"/>
          <p:nvPr/>
        </p:nvSpPr>
        <p:spPr>
          <a:xfrm>
            <a:off x="9171432" y="1783080"/>
            <a:ext cx="2276856" cy="594360"/>
          </a:xfrm>
          <a:prstGeom prst="rect">
            <a:avLst/>
          </a:prstGeom>
          <a:noFill/>
          <a:ln/>
        </p:spPr>
        <p:txBody>
          <a:bodyPr wrap="square" lIns="0" tIns="0" rIns="0" bIns="0" rtlCol="0" anchor="t"/>
          <a:lstStyle/>
          <a:p>
            <a:pPr indent="0" marL="0">
              <a:buNone/>
            </a:pPr>
            <a:r>
              <a:rPr lang="en-US" sz="3000" b="1" dirty="0">
                <a:solidFill>
                  <a:schemeClr val="tx2"/>
                </a:solidFill>
                <a:latin typeface="Cambria" pitchFamily="34" charset="0"/>
                <a:ea typeface="Cambria" pitchFamily="34" charset="-122"/>
                <a:cs typeface="Cambria" pitchFamily="34" charset="-120"/>
              </a:rPr>
              <a:t>$342</a:t>
            </a:r>
            <a:endParaRPr lang="en-US" sz="3000" dirty="0"/>
          </a:p>
        </p:txBody>
      </p:sp>
      <p:sp>
        <p:nvSpPr>
          <p:cNvPr id="14" name="Text 12"/>
          <p:cNvSpPr txBox="1"/>
          <p:nvPr/>
        </p:nvSpPr>
        <p:spPr>
          <a:xfrm>
            <a:off x="9171432" y="2395728"/>
            <a:ext cx="2276856" cy="411480"/>
          </a:xfrm>
          <a:prstGeom prst="rect">
            <a:avLst/>
          </a:prstGeom>
          <a:noFill/>
          <a:ln/>
        </p:spPr>
        <p:txBody>
          <a:bodyPr wrap="square" lIns="0" tIns="0" rIns="0" bIns="0" rtlCol="0" anchor="t"/>
          <a:lstStyle/>
          <a:p>
            <a:pPr indent="0" marL="0">
              <a:buNone/>
            </a:pPr>
            <a:r>
              <a:rPr lang="en-US" sz="1300" dirty="0">
                <a:solidFill>
                  <a:srgbClr val="404040"/>
                </a:solidFill>
              </a:rPr>
              <a:t>Cost of one inspection (6.5 h × $52.69)</a:t>
            </a:r>
            <a:endParaRPr lang="en-US" sz="1300" dirty="0"/>
          </a:p>
        </p:txBody>
      </p:sp>
      <p:graphicFrame>
        <p:nvGraphicFramePr>
          <p:cNvPr id="13" name="scenarios"/>
          <p:cNvGraphicFramePr>
            <a:graphicFrameLocks noGrp="1"/>
          </p:cNvGraphicFramePr>
          <p:nvPr>
            <p:extLst>
              <p:ext uri="{D42A27DB-BD31-4B8C-83A1-F6EECF244321}">
                <p14:modId xmlns:p14="http://schemas.microsoft.com/office/powerpoint/2010/main" val="1579011935"/>
              </p:ext>
            </p:extLst>
          </p:nvPr>
        </p:nvGraphicFramePr>
        <p:xfrm>
          <a:off x="548640" y="3154680"/>
          <a:ext cx="11064240" cy="914400"/>
        </p:xfrm>
        <a:graphic>
          <a:graphicData uri="http://schemas.openxmlformats.org/drawingml/2006/table">
            <a:tbl>
              <a:tblPr/>
              <a:tblGrid>
                <a:gridCol w="5852160"/>
                <a:gridCol w="1737360"/>
                <a:gridCol w="1737360"/>
                <a:gridCol w="1737360"/>
              </a:tblGrid>
              <a:tr h="411480">
                <a:tc>
                  <a:txBody>
                    <a:bodyPr/>
                    <a:lstStyle/>
                    <a:p>
                      <a:pPr algn="l" indent="0" marL="0">
                        <a:buNone/>
                      </a:pPr>
                      <a:r>
                        <a:rPr lang="en-US" sz="1400" b="1" dirty="0">
                          <a:solidFill>
                            <a:srgbClr val="1F3A5F"/>
                          </a:solidFill>
                          <a:latin typeface="Calibri" pitchFamily="34" charset="0"/>
                          <a:ea typeface="Calibri" pitchFamily="34" charset="-122"/>
                          <a:cs typeface="Calibri" pitchFamily="34" charset="-120"/>
                        </a:rPr>
                        <a:t>Lever</a:t>
                      </a:r>
                      <a:endParaRPr lang="en-US" sz="1400" dirty="0">
                        <a:latin typeface="Calibri" charset="0"/>
                        <a:ea typeface="Calibri" charset="0"/>
                        <a:cs typeface="Calibri" charset="0"/>
                      </a:endParaRPr>
                    </a:p>
                  </a:txBody>
                  <a:tcPr marL="73152" marR="73152" marT="73152" marB="73152">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E8EDF3"/>
                    </a:solidFill>
                  </a:tcPr>
                </a:tc>
                <a:tc>
                  <a:txBody>
                    <a:bodyPr/>
                    <a:lstStyle/>
                    <a:p>
                      <a:pPr algn="ctr" indent="0" marL="0">
                        <a:buNone/>
                      </a:pPr>
                      <a:r>
                        <a:rPr lang="en-US" sz="1400" b="1" dirty="0">
                          <a:solidFill>
                            <a:srgbClr val="1F3A5F"/>
                          </a:solidFill>
                          <a:latin typeface="Calibri" pitchFamily="34" charset="0"/>
                          <a:ea typeface="Calibri" pitchFamily="34" charset="-122"/>
                          <a:cs typeface="Calibri" pitchFamily="34" charset="-120"/>
                        </a:rPr>
                        <a:t>Conservative</a:t>
                      </a:r>
                      <a:endParaRPr lang="en-US" sz="1400" dirty="0">
                        <a:latin typeface="Calibri" charset="0"/>
                        <a:ea typeface="Calibri" charset="0"/>
                        <a:cs typeface="Calibri" charset="0"/>
                      </a:endParaRPr>
                    </a:p>
                  </a:txBody>
                  <a:tcPr marL="73152" marR="73152" marT="73152" marB="73152">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E8EDF3"/>
                    </a:solidFill>
                  </a:tcPr>
                </a:tc>
                <a:tc>
                  <a:txBody>
                    <a:bodyPr/>
                    <a:lstStyle/>
                    <a:p>
                      <a:pPr algn="ctr" indent="0" marL="0">
                        <a:buNone/>
                      </a:pPr>
                      <a:r>
                        <a:rPr lang="en-US" sz="1400" b="1" dirty="0">
                          <a:solidFill>
                            <a:srgbClr val="1F3A5F"/>
                          </a:solidFill>
                          <a:latin typeface="Calibri" pitchFamily="34" charset="0"/>
                          <a:ea typeface="Calibri" pitchFamily="34" charset="-122"/>
                          <a:cs typeface="Calibri" pitchFamily="34" charset="-120"/>
                        </a:rPr>
                        <a:t>Expected</a:t>
                      </a:r>
                      <a:endParaRPr lang="en-US" sz="1400" dirty="0">
                        <a:latin typeface="Calibri" charset="0"/>
                        <a:ea typeface="Calibri" charset="0"/>
                        <a:cs typeface="Calibri" charset="0"/>
                      </a:endParaRPr>
                    </a:p>
                  </a:txBody>
                  <a:tcPr marL="73152" marR="73152" marT="73152" marB="73152">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E8EDF3"/>
                    </a:solidFill>
                  </a:tcPr>
                </a:tc>
                <a:tc>
                  <a:txBody>
                    <a:bodyPr/>
                    <a:lstStyle/>
                    <a:p>
                      <a:pPr algn="ctr" indent="0" marL="0">
                        <a:buNone/>
                      </a:pPr>
                      <a:r>
                        <a:rPr lang="en-US" sz="1400" b="1" dirty="0">
                          <a:solidFill>
                            <a:srgbClr val="1F3A5F"/>
                          </a:solidFill>
                          <a:latin typeface="Calibri" pitchFamily="34" charset="0"/>
                          <a:ea typeface="Calibri" pitchFamily="34" charset="-122"/>
                          <a:cs typeface="Calibri" pitchFamily="34" charset="-120"/>
                        </a:rPr>
                        <a:t>Optimistic</a:t>
                      </a:r>
                      <a:endParaRPr lang="en-US" sz="1400" dirty="0">
                        <a:latin typeface="Calibri" charset="0"/>
                        <a:ea typeface="Calibri" charset="0"/>
                        <a:cs typeface="Calibri" charset="0"/>
                      </a:endParaRPr>
                    </a:p>
                  </a:txBody>
                  <a:tcPr marL="73152" marR="73152" marT="73152" marB="73152">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E8EDF3"/>
                    </a:solidFill>
                  </a:tcPr>
                </a:tc>
              </a:tr>
              <a:tr h="411480">
                <a:tc>
                  <a:txBody>
                    <a:bodyPr/>
                    <a:lstStyle/>
                    <a:p>
                      <a:pPr algn="l" indent="0" marL="0">
                        <a:buNone/>
                      </a:pPr>
                      <a:r>
                        <a:rPr lang="en-US" sz="1400" dirty="0">
                          <a:solidFill>
                            <a:srgbClr val="1A1A1A"/>
                          </a:solidFill>
                          <a:latin typeface="Calibri" pitchFamily="34" charset="0"/>
                          <a:ea typeface="Calibri" pitchFamily="34" charset="-122"/>
                          <a:cs typeface="Calibri" pitchFamily="34" charset="-120"/>
                        </a:rPr>
                        <a:t>1. Faster critical repairs: share of MTTR gap closed</a:t>
                      </a:r>
                      <a:endParaRPr lang="en-US" sz="1400" dirty="0">
                        <a:latin typeface="Calibri" charset="0"/>
                        <a:ea typeface="Calibri" charset="0"/>
                        <a:cs typeface="Calibri" charset="0"/>
                      </a:endParaRPr>
                    </a:p>
                  </a:txBody>
                  <a:tcPr marL="73152" marR="73152" marT="73152" marB="73152">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A1A1A"/>
                          </a:solidFill>
                          <a:latin typeface="Calibri" pitchFamily="34" charset="0"/>
                          <a:ea typeface="Calibri" pitchFamily="34" charset="-122"/>
                          <a:cs typeface="Calibri" pitchFamily="34" charset="-120"/>
                        </a:rPr>
                        <a:t>25%</a:t>
                      </a:r>
                      <a:endParaRPr lang="en-US" sz="1400" dirty="0">
                        <a:latin typeface="Calibri" charset="0"/>
                        <a:ea typeface="Calibri" charset="0"/>
                        <a:cs typeface="Calibri" charset="0"/>
                      </a:endParaRPr>
                    </a:p>
                  </a:txBody>
                  <a:tcPr marL="73152" marR="73152" marT="73152" marB="73152">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A1A1A"/>
                          </a:solidFill>
                          <a:latin typeface="Calibri" pitchFamily="34" charset="0"/>
                          <a:ea typeface="Calibri" pitchFamily="34" charset="-122"/>
                          <a:cs typeface="Calibri" pitchFamily="34" charset="-120"/>
                        </a:rPr>
                        <a:t>50%</a:t>
                      </a:r>
                      <a:endParaRPr lang="en-US" sz="1400" dirty="0">
                        <a:latin typeface="Calibri" charset="0"/>
                        <a:ea typeface="Calibri" charset="0"/>
                        <a:cs typeface="Calibri" charset="0"/>
                      </a:endParaRPr>
                    </a:p>
                  </a:txBody>
                  <a:tcPr marL="73152" marR="73152" marT="73152" marB="73152">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A1A1A"/>
                          </a:solidFill>
                          <a:latin typeface="Calibri" pitchFamily="34" charset="0"/>
                          <a:ea typeface="Calibri" pitchFamily="34" charset="-122"/>
                          <a:cs typeface="Calibri" pitchFamily="34" charset="-120"/>
                        </a:rPr>
                        <a:t>75%</a:t>
                      </a:r>
                      <a:endParaRPr lang="en-US" sz="1400" dirty="0">
                        <a:latin typeface="Calibri" charset="0"/>
                        <a:ea typeface="Calibri" charset="0"/>
                        <a:cs typeface="Calibri" charset="0"/>
                      </a:endParaRPr>
                    </a:p>
                  </a:txBody>
                  <a:tcPr marL="73152" marR="73152" marT="73152" marB="73152">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r>
              <a:tr h="411480">
                <a:tc>
                  <a:txBody>
                    <a:bodyPr/>
                    <a:lstStyle/>
                    <a:p>
                      <a:pPr algn="l" indent="0" marL="0">
                        <a:buNone/>
                      </a:pPr>
                      <a:r>
                        <a:rPr lang="en-US" sz="1400" dirty="0">
                          <a:solidFill>
                            <a:srgbClr val="1A1A1A"/>
                          </a:solidFill>
                          <a:latin typeface="Calibri" pitchFamily="34" charset="0"/>
                          <a:ea typeface="Calibri" pitchFamily="34" charset="-122"/>
                          <a:cs typeface="Calibri" pitchFamily="34" charset="-120"/>
                        </a:rPr>
                        <a:t>   with spares uplift to 12.6¢ per $ of loss</a:t>
                      </a:r>
                      <a:endParaRPr lang="en-US" sz="1400" dirty="0">
                        <a:latin typeface="Calibri" charset="0"/>
                        <a:ea typeface="Calibri" charset="0"/>
                        <a:cs typeface="Calibri" charset="0"/>
                      </a:endParaRPr>
                    </a:p>
                  </a:txBody>
                  <a:tcPr marL="73152" marR="73152" marT="73152" marB="73152">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A1A1A"/>
                          </a:solidFill>
                          <a:latin typeface="Calibri" pitchFamily="34" charset="0"/>
                          <a:ea typeface="Calibri" pitchFamily="34" charset="-122"/>
                          <a:cs typeface="Calibri" pitchFamily="34" charset="-120"/>
                        </a:rPr>
                        <a:t>50%</a:t>
                      </a:r>
                      <a:endParaRPr lang="en-US" sz="1400" dirty="0">
                        <a:latin typeface="Calibri" charset="0"/>
                        <a:ea typeface="Calibri" charset="0"/>
                        <a:cs typeface="Calibri" charset="0"/>
                      </a:endParaRPr>
                    </a:p>
                  </a:txBody>
                  <a:tcPr marL="73152" marR="73152" marT="73152" marB="73152">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A1A1A"/>
                          </a:solidFill>
                          <a:latin typeface="Calibri" pitchFamily="34" charset="0"/>
                          <a:ea typeface="Calibri" pitchFamily="34" charset="-122"/>
                          <a:cs typeface="Calibri" pitchFamily="34" charset="-120"/>
                        </a:rPr>
                        <a:t>100%</a:t>
                      </a:r>
                      <a:endParaRPr lang="en-US" sz="1400" dirty="0">
                        <a:latin typeface="Calibri" charset="0"/>
                        <a:ea typeface="Calibri" charset="0"/>
                        <a:cs typeface="Calibri" charset="0"/>
                      </a:endParaRPr>
                    </a:p>
                  </a:txBody>
                  <a:tcPr marL="73152" marR="73152" marT="73152" marB="73152">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A1A1A"/>
                          </a:solidFill>
                          <a:latin typeface="Calibri" pitchFamily="34" charset="0"/>
                          <a:ea typeface="Calibri" pitchFamily="34" charset="-122"/>
                          <a:cs typeface="Calibri" pitchFamily="34" charset="-120"/>
                        </a:rPr>
                        <a:t>100%</a:t>
                      </a:r>
                      <a:endParaRPr lang="en-US" sz="1400" dirty="0">
                        <a:latin typeface="Calibri" charset="0"/>
                        <a:ea typeface="Calibri" charset="0"/>
                        <a:cs typeface="Calibri" charset="0"/>
                      </a:endParaRPr>
                    </a:p>
                  </a:txBody>
                  <a:tcPr marL="73152" marR="73152" marT="73152" marB="73152">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r>
              <a:tr h="411480">
                <a:tc>
                  <a:txBody>
                    <a:bodyPr/>
                    <a:lstStyle/>
                    <a:p>
                      <a:pPr algn="l" indent="0" marL="0">
                        <a:buNone/>
                      </a:pPr>
                      <a:r>
                        <a:rPr lang="en-US" sz="1400" dirty="0">
                          <a:solidFill>
                            <a:srgbClr val="1A1A1A"/>
                          </a:solidFill>
                          <a:latin typeface="Calibri" pitchFamily="34" charset="0"/>
                          <a:ea typeface="Calibri" pitchFamily="34" charset="-122"/>
                          <a:cs typeface="Calibri" pitchFamily="34" charset="-120"/>
                        </a:rPr>
                        <a:t>2. Reactive records moved to condition-based</a:t>
                      </a:r>
                      <a:endParaRPr lang="en-US" sz="1400" dirty="0">
                        <a:latin typeface="Calibri" charset="0"/>
                        <a:ea typeface="Calibri" charset="0"/>
                        <a:cs typeface="Calibri" charset="0"/>
                      </a:endParaRPr>
                    </a:p>
                  </a:txBody>
                  <a:tcPr marL="73152" marR="73152" marT="73152" marB="73152">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A1A1A"/>
                          </a:solidFill>
                          <a:latin typeface="Calibri" pitchFamily="34" charset="0"/>
                          <a:ea typeface="Calibri" pitchFamily="34" charset="-122"/>
                          <a:cs typeface="Calibri" pitchFamily="34" charset="-120"/>
                        </a:rPr>
                        <a:t>25%</a:t>
                      </a:r>
                      <a:endParaRPr lang="en-US" sz="1400" dirty="0">
                        <a:latin typeface="Calibri" charset="0"/>
                        <a:ea typeface="Calibri" charset="0"/>
                        <a:cs typeface="Calibri" charset="0"/>
                      </a:endParaRPr>
                    </a:p>
                  </a:txBody>
                  <a:tcPr marL="73152" marR="73152" marT="73152" marB="73152">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A1A1A"/>
                          </a:solidFill>
                          <a:latin typeface="Calibri" pitchFamily="34" charset="0"/>
                          <a:ea typeface="Calibri" pitchFamily="34" charset="-122"/>
                          <a:cs typeface="Calibri" pitchFamily="34" charset="-120"/>
                        </a:rPr>
                        <a:t>50%</a:t>
                      </a:r>
                      <a:endParaRPr lang="en-US" sz="1400" dirty="0">
                        <a:latin typeface="Calibri" charset="0"/>
                        <a:ea typeface="Calibri" charset="0"/>
                        <a:cs typeface="Calibri" charset="0"/>
                      </a:endParaRPr>
                    </a:p>
                  </a:txBody>
                  <a:tcPr marL="73152" marR="73152" marT="73152" marB="73152">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A1A1A"/>
                          </a:solidFill>
                          <a:latin typeface="Calibri" pitchFamily="34" charset="0"/>
                          <a:ea typeface="Calibri" pitchFamily="34" charset="-122"/>
                          <a:cs typeface="Calibri" pitchFamily="34" charset="-120"/>
                        </a:rPr>
                        <a:t>75%</a:t>
                      </a:r>
                      <a:endParaRPr lang="en-US" sz="1400" dirty="0">
                        <a:latin typeface="Calibri" charset="0"/>
                        <a:ea typeface="Calibri" charset="0"/>
                        <a:cs typeface="Calibri" charset="0"/>
                      </a:endParaRPr>
                    </a:p>
                  </a:txBody>
                  <a:tcPr marL="73152" marR="73152" marT="73152" marB="73152">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r>
              <a:tr h="411480">
                <a:tc>
                  <a:txBody>
                    <a:bodyPr/>
                    <a:lstStyle/>
                    <a:p>
                      <a:pPr algn="l" indent="0" marL="0">
                        <a:buNone/>
                      </a:pPr>
                      <a:r>
                        <a:rPr lang="en-US" sz="1400" dirty="0">
                          <a:solidFill>
                            <a:srgbClr val="1A1A1A"/>
                          </a:solidFill>
                          <a:latin typeface="Calibri" pitchFamily="34" charset="0"/>
                          <a:ea typeface="Calibri" pitchFamily="34" charset="-122"/>
                          <a:cs typeface="Calibri" pitchFamily="34" charset="-120"/>
                        </a:rPr>
                        <a:t>   share of the $16.6K adjusted gap achieved</a:t>
                      </a:r>
                      <a:endParaRPr lang="en-US" sz="1400" dirty="0">
                        <a:latin typeface="Calibri" charset="0"/>
                        <a:ea typeface="Calibri" charset="0"/>
                        <a:cs typeface="Calibri" charset="0"/>
                      </a:endParaRPr>
                    </a:p>
                  </a:txBody>
                  <a:tcPr marL="73152" marR="73152" marT="73152" marB="73152">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A1A1A"/>
                          </a:solidFill>
                          <a:latin typeface="Calibri" pitchFamily="34" charset="0"/>
                          <a:ea typeface="Calibri" pitchFamily="34" charset="-122"/>
                          <a:cs typeface="Calibri" pitchFamily="34" charset="-120"/>
                        </a:rPr>
                        <a:t>50%</a:t>
                      </a:r>
                      <a:endParaRPr lang="en-US" sz="1400" dirty="0">
                        <a:latin typeface="Calibri" charset="0"/>
                        <a:ea typeface="Calibri" charset="0"/>
                        <a:cs typeface="Calibri" charset="0"/>
                      </a:endParaRPr>
                    </a:p>
                  </a:txBody>
                  <a:tcPr marL="73152" marR="73152" marT="73152" marB="73152">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A1A1A"/>
                          </a:solidFill>
                          <a:latin typeface="Calibri" pitchFamily="34" charset="0"/>
                          <a:ea typeface="Calibri" pitchFamily="34" charset="-122"/>
                          <a:cs typeface="Calibri" pitchFamily="34" charset="-120"/>
                        </a:rPr>
                        <a:t>75%</a:t>
                      </a:r>
                      <a:endParaRPr lang="en-US" sz="1400" dirty="0">
                        <a:latin typeface="Calibri" charset="0"/>
                        <a:ea typeface="Calibri" charset="0"/>
                        <a:cs typeface="Calibri" charset="0"/>
                      </a:endParaRPr>
                    </a:p>
                  </a:txBody>
                  <a:tcPr marL="73152" marR="73152" marT="73152" marB="73152">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A1A1A"/>
                          </a:solidFill>
                          <a:latin typeface="Calibri" pitchFamily="34" charset="0"/>
                          <a:ea typeface="Calibri" pitchFamily="34" charset="-122"/>
                          <a:cs typeface="Calibri" pitchFamily="34" charset="-120"/>
                        </a:rPr>
                        <a:t>100%</a:t>
                      </a:r>
                      <a:endParaRPr lang="en-US" sz="1400" dirty="0">
                        <a:latin typeface="Calibri" charset="0"/>
                        <a:ea typeface="Calibri" charset="0"/>
                        <a:cs typeface="Calibri" charset="0"/>
                      </a:endParaRPr>
                    </a:p>
                  </a:txBody>
                  <a:tcPr marL="73152" marR="73152" marT="73152" marB="73152">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r>
              <a:tr h="411480">
                <a:tc>
                  <a:txBody>
                    <a:bodyPr/>
                    <a:lstStyle/>
                    <a:p>
                      <a:pPr algn="l" indent="0" marL="0">
                        <a:buNone/>
                      </a:pPr>
                      <a:r>
                        <a:rPr lang="en-US" sz="1400" dirty="0">
                          <a:solidFill>
                            <a:srgbClr val="1A1A1A"/>
                          </a:solidFill>
                          <a:latin typeface="Calibri" pitchFamily="34" charset="0"/>
                          <a:ea typeface="Calibri" pitchFamily="34" charset="-122"/>
                          <a:cs typeface="Calibri" pitchFamily="34" charset="-120"/>
                        </a:rPr>
                        <a:t>3. Watchlist high-loss events prevented</a:t>
                      </a:r>
                      <a:endParaRPr lang="en-US" sz="1400" dirty="0">
                        <a:latin typeface="Calibri" charset="0"/>
                        <a:ea typeface="Calibri" charset="0"/>
                        <a:cs typeface="Calibri" charset="0"/>
                      </a:endParaRPr>
                    </a:p>
                  </a:txBody>
                  <a:tcPr marL="73152" marR="73152" marT="73152" marB="73152">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A1A1A"/>
                          </a:solidFill>
                          <a:latin typeface="Calibri" pitchFamily="34" charset="0"/>
                          <a:ea typeface="Calibri" pitchFamily="34" charset="-122"/>
                          <a:cs typeface="Calibri" pitchFamily="34" charset="-120"/>
                        </a:rPr>
                        <a:t>10%</a:t>
                      </a:r>
                      <a:endParaRPr lang="en-US" sz="1400" dirty="0">
                        <a:latin typeface="Calibri" charset="0"/>
                        <a:ea typeface="Calibri" charset="0"/>
                        <a:cs typeface="Calibri" charset="0"/>
                      </a:endParaRPr>
                    </a:p>
                  </a:txBody>
                  <a:tcPr marL="73152" marR="73152" marT="73152" marB="73152">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A1A1A"/>
                          </a:solidFill>
                          <a:latin typeface="Calibri" pitchFamily="34" charset="0"/>
                          <a:ea typeface="Calibri" pitchFamily="34" charset="-122"/>
                          <a:cs typeface="Calibri" pitchFamily="34" charset="-120"/>
                        </a:rPr>
                        <a:t>20%</a:t>
                      </a:r>
                      <a:endParaRPr lang="en-US" sz="1400" dirty="0">
                        <a:latin typeface="Calibri" charset="0"/>
                        <a:ea typeface="Calibri" charset="0"/>
                        <a:cs typeface="Calibri" charset="0"/>
                      </a:endParaRPr>
                    </a:p>
                  </a:txBody>
                  <a:tcPr marL="73152" marR="73152" marT="73152" marB="73152">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A1A1A"/>
                          </a:solidFill>
                          <a:latin typeface="Calibri" pitchFamily="34" charset="0"/>
                          <a:ea typeface="Calibri" pitchFamily="34" charset="-122"/>
                          <a:cs typeface="Calibri" pitchFamily="34" charset="-120"/>
                        </a:rPr>
                        <a:t>30%</a:t>
                      </a:r>
                      <a:endParaRPr lang="en-US" sz="1400" dirty="0">
                        <a:latin typeface="Calibri" charset="0"/>
                        <a:ea typeface="Calibri" charset="0"/>
                        <a:cs typeface="Calibri" charset="0"/>
                      </a:endParaRPr>
                    </a:p>
                  </a:txBody>
                  <a:tcPr marL="73152" marR="73152" marT="73152" marB="73152">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r>
            </a:tbl>
          </a:graphicData>
        </a:graphic>
      </p:graphicFrame>
      <p:sp>
        <p:nvSpPr>
          <p:cNvPr id="16" name="Text 13"/>
          <p:cNvSpPr txBox="1"/>
          <p:nvPr/>
        </p:nvSpPr>
        <p:spPr>
          <a:xfrm>
            <a:off x="548640" y="6126480"/>
            <a:ext cx="11064240" cy="256032"/>
          </a:xfrm>
          <a:prstGeom prst="rect">
            <a:avLst/>
          </a:prstGeom>
          <a:noFill/>
          <a:ln/>
        </p:spPr>
        <p:txBody>
          <a:bodyPr wrap="square" lIns="0" tIns="0" rIns="0" bIns="0" rtlCol="0" anchor="t"/>
          <a:lstStyle/>
          <a:p>
            <a:pPr indent="0" marL="0">
              <a:buNone/>
            </a:pPr>
            <a:r>
              <a:rPr lang="en-US" sz="1000" i="1" dirty="0">
                <a:solidFill>
                  <a:srgbClr val="7A7A7A"/>
                </a:solidFill>
              </a:rPr>
              <a:t>Baseline = 2024–2025 annual run-rate. Costs from the dataset only. Three years, 10% discount rate. Critical and reactive jobs removed from lever 3 to avoid double counting.</a:t>
            </a:r>
            <a:endParaRPr lang="en-US" sz="1000" dirty="0"/>
          </a:p>
        </p:txBody>
      </p:sp>
      <p:sp>
        <p:nvSpPr>
          <p:cNvPr id="17" name="presenter name"/>
          <p:cNvSpPr txBox="1"/>
          <p:nvPr/>
        </p:nvSpPr>
        <p:spPr>
          <a:xfrm>
            <a:off x="6949440" y="164592"/>
            <a:ext cx="4690872" cy="274320"/>
          </a:xfrm>
          <a:prstGeom prst="rect">
            <a:avLst/>
          </a:prstGeom>
          <a:noFill/>
          <a:ln/>
        </p:spPr>
        <p:txBody>
          <a:bodyPr wrap="square" lIns="0" tIns="0" rIns="0" bIns="0" rtlCol="0" anchor="ctr"/>
          <a:lstStyle/>
          <a:p>
            <a:pPr algn="r" indent="0" marL="0">
              <a:buNone/>
            </a:pPr>
            <a:r>
              <a:rPr lang="en-US" sz="1100" dirty="0">
                <a:solidFill>
                  <a:srgbClr val="8C8C8C"/>
                </a:solidFill>
              </a:rPr>
              <a:t>Presenter: </a:t>
            </a:r>
            <a:pPr algn="r" indent="0" marL="0">
              <a:buNone/>
            </a:pPr>
            <a:r>
              <a:rPr lang="en-US" sz="1100" b="1" dirty="0">
                <a:solidFill>
                  <a:srgbClr val="1F3A5F"/>
                </a:solidFill>
              </a:rPr>
              <a:t>Khaled Abdelnasser Morsi Amer</a:t>
            </a:r>
            <a:endParaRPr lang="en-US" sz="1100" dirty="0"/>
          </a:p>
        </p:txBody>
      </p:sp>
      <p:sp>
        <p:nvSpPr>
          <p:cNvPr id="25" name="Slide Number Placeholder 0"/>
          <p:cNvSpPr>
            <a:spLocks noGrp="1"/>
          </p:cNvSpPr>
          <p:nvPr>
            <p:ph type="sldNum" sz="quarter" idx="4294967295"/>
          </p:nvPr>
        </p:nvSpPr>
        <p:spPr>
          <a:xfrm>
            <a:off x="11155680" y="647395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C8C8C"/>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502920"/>
            <a:ext cx="11064240" cy="868680"/>
          </a:xfrm>
          <a:prstGeom prst="rect">
            <a:avLst/>
          </a:prstGeom>
          <a:noFill/>
          <a:ln/>
        </p:spPr>
        <p:txBody>
          <a:bodyPr wrap="square" lIns="0" tIns="0" rIns="0" bIns="0" rtlCol="0" anchor="t"/>
          <a:lstStyle/>
          <a:p>
            <a:pPr algn="l" indent="0" marL="0">
              <a:buNone/>
            </a:pPr>
            <a:r>
              <a:rPr lang="en-US" sz="2600" b="1" dirty="0">
                <a:solidFill>
                  <a:schemeClr val="tx2"/>
                </a:solidFill>
                <a:latin typeface="Cambria" pitchFamily="34" charset="0"/>
                <a:ea typeface="Cambria" pitchFamily="34" charset="-122"/>
                <a:cs typeface="Cambria" pitchFamily="34" charset="-120"/>
              </a:rPr>
              <a:t>Expected result: about 2,770 downtime hours and $6.6M net saved per year</a:t>
            </a:r>
            <a:endParaRPr lang="en-US" sz="2600" dirty="0"/>
          </a:p>
        </p:txBody>
      </p:sp>
      <p:graphicFrame>
        <p:nvGraphicFramePr>
          <p:cNvPr id="3" name="Chart 0" descr=""/>
          <p:cNvGraphicFramePr/>
          <p:nvPr/>
        </p:nvGraphicFramePr>
        <p:xfrm>
          <a:off x="548640" y="1463040"/>
          <a:ext cx="4937760" cy="4572000"/>
        </p:xfrm>
        <a:graphic xmlns:a="http://schemas.openxmlformats.org/drawingml/2006/main">
          <a:graphicData uri="http://schemas.openxmlformats.org/drawingml/2006/chart">
            <c:chart xmlns:c="http://schemas.openxmlformats.org/drawingml/2006/chart" r:id="rId1"/>
          </a:graphicData>
        </a:graphic>
      </p:graphicFrame>
      <p:sp>
        <p:nvSpPr>
          <p:cNvPr id="4" name="stat Downtime avoided per year (7.6%)"/>
          <p:cNvSpPr/>
          <p:nvPr/>
        </p:nvSpPr>
        <p:spPr>
          <a:xfrm>
            <a:off x="5760720" y="1508760"/>
            <a:ext cx="2880360" cy="1234440"/>
          </a:xfrm>
          <a:prstGeom prst="rect">
            <a:avLst/>
          </a:prstGeom>
          <a:solidFill>
            <a:schemeClr val="bg2"/>
          </a:solidFill>
          <a:ln w="12700">
            <a:solidFill>
              <a:schemeClr val="bg2"/>
            </a:solidFill>
            <a:prstDash val="solid"/>
          </a:ln>
        </p:spPr>
      </p:sp>
      <p:sp>
        <p:nvSpPr>
          <p:cNvPr id="5" name="Text 2"/>
          <p:cNvSpPr txBox="1"/>
          <p:nvPr/>
        </p:nvSpPr>
        <p:spPr>
          <a:xfrm>
            <a:off x="5961888" y="1645920"/>
            <a:ext cx="2514600" cy="594360"/>
          </a:xfrm>
          <a:prstGeom prst="rect">
            <a:avLst/>
          </a:prstGeom>
          <a:noFill/>
          <a:ln/>
        </p:spPr>
        <p:txBody>
          <a:bodyPr wrap="square" lIns="0" tIns="0" rIns="0" bIns="0" rtlCol="0" anchor="t"/>
          <a:lstStyle/>
          <a:p>
            <a:pPr indent="0" marL="0">
              <a:buNone/>
            </a:pPr>
            <a:r>
              <a:rPr lang="en-US" sz="3000" b="1" dirty="0">
                <a:solidFill>
                  <a:schemeClr val="tx2"/>
                </a:solidFill>
                <a:latin typeface="Cambria" pitchFamily="34" charset="0"/>
                <a:ea typeface="Cambria" pitchFamily="34" charset="-122"/>
                <a:cs typeface="Cambria" pitchFamily="34" charset="-120"/>
              </a:rPr>
              <a:t>2,766 h</a:t>
            </a:r>
            <a:endParaRPr lang="en-US" sz="3000" dirty="0"/>
          </a:p>
        </p:txBody>
      </p:sp>
      <p:sp>
        <p:nvSpPr>
          <p:cNvPr id="6" name="Text 3"/>
          <p:cNvSpPr txBox="1"/>
          <p:nvPr/>
        </p:nvSpPr>
        <p:spPr>
          <a:xfrm>
            <a:off x="5961888" y="2258568"/>
            <a:ext cx="2514600" cy="411480"/>
          </a:xfrm>
          <a:prstGeom prst="rect">
            <a:avLst/>
          </a:prstGeom>
          <a:noFill/>
          <a:ln/>
        </p:spPr>
        <p:txBody>
          <a:bodyPr wrap="square" lIns="0" tIns="0" rIns="0" bIns="0" rtlCol="0" anchor="t"/>
          <a:lstStyle/>
          <a:p>
            <a:pPr indent="0" marL="0">
              <a:buNone/>
            </a:pPr>
            <a:r>
              <a:rPr lang="en-US" sz="1300" dirty="0">
                <a:solidFill>
                  <a:srgbClr val="404040"/>
                </a:solidFill>
              </a:rPr>
              <a:t>Downtime avoided per year (7.6%)</a:t>
            </a:r>
            <a:endParaRPr lang="en-US" sz="1300" dirty="0"/>
          </a:p>
        </p:txBody>
      </p:sp>
      <p:sp>
        <p:nvSpPr>
          <p:cNvPr id="7" name="stat Net benefit per year (range $2.9–11.3M)"/>
          <p:cNvSpPr/>
          <p:nvPr/>
        </p:nvSpPr>
        <p:spPr>
          <a:xfrm>
            <a:off x="8778240" y="1508760"/>
            <a:ext cx="2834640" cy="1234440"/>
          </a:xfrm>
          <a:prstGeom prst="rect">
            <a:avLst/>
          </a:prstGeom>
          <a:solidFill>
            <a:schemeClr val="bg2"/>
          </a:solidFill>
          <a:ln w="12700">
            <a:solidFill>
              <a:schemeClr val="bg2"/>
            </a:solidFill>
            <a:prstDash val="solid"/>
          </a:ln>
        </p:spPr>
      </p:sp>
      <p:sp>
        <p:nvSpPr>
          <p:cNvPr id="8" name="Text 5"/>
          <p:cNvSpPr txBox="1"/>
          <p:nvPr/>
        </p:nvSpPr>
        <p:spPr>
          <a:xfrm>
            <a:off x="8979408" y="1645920"/>
            <a:ext cx="2468880" cy="594360"/>
          </a:xfrm>
          <a:prstGeom prst="rect">
            <a:avLst/>
          </a:prstGeom>
          <a:noFill/>
          <a:ln/>
        </p:spPr>
        <p:txBody>
          <a:bodyPr wrap="square" lIns="0" tIns="0" rIns="0" bIns="0" rtlCol="0" anchor="t"/>
          <a:lstStyle/>
          <a:p>
            <a:pPr indent="0" marL="0">
              <a:buNone/>
            </a:pPr>
            <a:r>
              <a:rPr lang="en-US" sz="3000" b="1" dirty="0">
                <a:solidFill>
                  <a:schemeClr val="accent2"/>
                </a:solidFill>
                <a:latin typeface="Cambria" pitchFamily="34" charset="0"/>
                <a:ea typeface="Cambria" pitchFamily="34" charset="-122"/>
                <a:cs typeface="Cambria" pitchFamily="34" charset="-120"/>
              </a:rPr>
              <a:t>$6.6M</a:t>
            </a:r>
            <a:endParaRPr lang="en-US" sz="3000" dirty="0"/>
          </a:p>
        </p:txBody>
      </p:sp>
      <p:sp>
        <p:nvSpPr>
          <p:cNvPr id="9" name="Text 6"/>
          <p:cNvSpPr txBox="1"/>
          <p:nvPr/>
        </p:nvSpPr>
        <p:spPr>
          <a:xfrm>
            <a:off x="8979408" y="2258568"/>
            <a:ext cx="2468880" cy="411480"/>
          </a:xfrm>
          <a:prstGeom prst="rect">
            <a:avLst/>
          </a:prstGeom>
          <a:noFill/>
          <a:ln/>
        </p:spPr>
        <p:txBody>
          <a:bodyPr wrap="square" lIns="0" tIns="0" rIns="0" bIns="0" rtlCol="0" anchor="t"/>
          <a:lstStyle/>
          <a:p>
            <a:pPr indent="0" marL="0">
              <a:buNone/>
            </a:pPr>
            <a:r>
              <a:rPr lang="en-US" sz="1300" dirty="0">
                <a:solidFill>
                  <a:srgbClr val="404040"/>
                </a:solidFill>
              </a:rPr>
              <a:t>Net benefit per year (range $2.9–11.3M)</a:t>
            </a:r>
            <a:endParaRPr lang="en-US" sz="1300" dirty="0"/>
          </a:p>
        </p:txBody>
      </p:sp>
      <p:graphicFrame>
        <p:nvGraphicFramePr>
          <p:cNvPr id="14" name="lever table"/>
          <p:cNvGraphicFramePr>
            <a:graphicFrameLocks noGrp="1"/>
          </p:cNvGraphicFramePr>
          <p:nvPr>
            <p:extLst>
              <p:ext uri="{D42A27DB-BD31-4B8C-83A1-F6EECF244321}">
                <p14:modId xmlns:p14="http://schemas.microsoft.com/office/powerpoint/2010/main" val="1579011935"/>
              </p:ext>
            </p:extLst>
          </p:nvPr>
        </p:nvGraphicFramePr>
        <p:xfrm>
          <a:off x="5760720" y="2926080"/>
          <a:ext cx="5852160" cy="914400"/>
        </p:xfrm>
        <a:graphic>
          <a:graphicData uri="http://schemas.openxmlformats.org/drawingml/2006/table">
            <a:tbl>
              <a:tblPr/>
              <a:tblGrid>
                <a:gridCol w="2148840"/>
                <a:gridCol w="914400"/>
                <a:gridCol w="914400"/>
                <a:gridCol w="914400"/>
                <a:gridCol w="960120"/>
              </a:tblGrid>
              <a:tr h="329184">
                <a:tc>
                  <a:txBody>
                    <a:bodyPr/>
                    <a:lstStyle/>
                    <a:p>
                      <a:pPr algn="l" indent="0" marL="0">
                        <a:buNone/>
                      </a:pPr>
                      <a:r>
                        <a:rPr lang="en-US" sz="1250" b="1" dirty="0">
                          <a:solidFill>
                            <a:srgbClr val="1F3A5F"/>
                          </a:solidFill>
                          <a:latin typeface="Calibri" pitchFamily="34" charset="0"/>
                          <a:ea typeface="Calibri" pitchFamily="34" charset="-122"/>
                          <a:cs typeface="Calibri" pitchFamily="34" charset="-120"/>
                        </a:rPr>
                        <a:t>Expected scenario</a:t>
                      </a:r>
                      <a:endParaRPr lang="en-US" sz="1250" dirty="0">
                        <a:latin typeface="Calibri" charset="0"/>
                        <a:ea typeface="Calibri" charset="0"/>
                        <a:cs typeface="Calibri" charset="0"/>
                      </a:endParaRPr>
                    </a:p>
                  </a:txBody>
                  <a:tcPr marL="54864" marR="54864" marT="54864" marB="54864">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E8EDF3"/>
                    </a:solidFill>
                  </a:tcPr>
                </a:tc>
                <a:tc>
                  <a:txBody>
                    <a:bodyPr/>
                    <a:lstStyle/>
                    <a:p>
                      <a:pPr algn="r" indent="0" marL="0">
                        <a:buNone/>
                      </a:pPr>
                      <a:r>
                        <a:rPr lang="en-US" sz="1250" b="1" dirty="0">
                          <a:solidFill>
                            <a:srgbClr val="1F3A5F"/>
                          </a:solidFill>
                          <a:latin typeface="Calibri" pitchFamily="34" charset="0"/>
                          <a:ea typeface="Calibri" pitchFamily="34" charset="-122"/>
                          <a:cs typeface="Calibri" pitchFamily="34" charset="-120"/>
                        </a:rPr>
                        <a:t>Hours / yr</a:t>
                      </a:r>
                      <a:endParaRPr lang="en-US" sz="1250" dirty="0">
                        <a:latin typeface="Calibri" charset="0"/>
                        <a:ea typeface="Calibri" charset="0"/>
                        <a:cs typeface="Calibri" charset="0"/>
                      </a:endParaRPr>
                    </a:p>
                  </a:txBody>
                  <a:tcPr marL="54864" marR="54864" marT="54864" marB="54864">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E8EDF3"/>
                    </a:solidFill>
                  </a:tcPr>
                </a:tc>
                <a:tc>
                  <a:txBody>
                    <a:bodyPr/>
                    <a:lstStyle/>
                    <a:p>
                      <a:pPr algn="r" indent="0" marL="0">
                        <a:buNone/>
                      </a:pPr>
                      <a:r>
                        <a:rPr lang="en-US" sz="1250" b="1" dirty="0">
                          <a:solidFill>
                            <a:srgbClr val="1F3A5F"/>
                          </a:solidFill>
                          <a:latin typeface="Calibri" pitchFamily="34" charset="0"/>
                          <a:ea typeface="Calibri" pitchFamily="34" charset="-122"/>
                          <a:cs typeface="Calibri" pitchFamily="34" charset="-120"/>
                        </a:rPr>
                        <a:t>Cost / yr</a:t>
                      </a:r>
                      <a:endParaRPr lang="en-US" sz="1250" dirty="0">
                        <a:latin typeface="Calibri" charset="0"/>
                        <a:ea typeface="Calibri" charset="0"/>
                        <a:cs typeface="Calibri" charset="0"/>
                      </a:endParaRPr>
                    </a:p>
                  </a:txBody>
                  <a:tcPr marL="54864" marR="54864" marT="54864" marB="54864">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E8EDF3"/>
                    </a:solidFill>
                  </a:tcPr>
                </a:tc>
                <a:tc>
                  <a:txBody>
                    <a:bodyPr/>
                    <a:lstStyle/>
                    <a:p>
                      <a:pPr algn="r" indent="0" marL="0">
                        <a:buNone/>
                      </a:pPr>
                      <a:r>
                        <a:rPr lang="en-US" sz="1250" b="1" dirty="0">
                          <a:solidFill>
                            <a:srgbClr val="1F3A5F"/>
                          </a:solidFill>
                          <a:latin typeface="Calibri" pitchFamily="34" charset="0"/>
                          <a:ea typeface="Calibri" pitchFamily="34" charset="-122"/>
                          <a:cs typeface="Calibri" pitchFamily="34" charset="-120"/>
                        </a:rPr>
                        <a:t>Net / yr</a:t>
                      </a:r>
                      <a:endParaRPr lang="en-US" sz="1250" dirty="0">
                        <a:latin typeface="Calibri" charset="0"/>
                        <a:ea typeface="Calibri" charset="0"/>
                        <a:cs typeface="Calibri" charset="0"/>
                      </a:endParaRPr>
                    </a:p>
                  </a:txBody>
                  <a:tcPr marL="54864" marR="54864" marT="54864" marB="54864">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E8EDF3"/>
                    </a:solidFill>
                  </a:tcPr>
                </a:tc>
                <a:tc>
                  <a:txBody>
                    <a:bodyPr/>
                    <a:lstStyle/>
                    <a:p>
                      <a:pPr algn="r" indent="0" marL="0">
                        <a:buNone/>
                      </a:pPr>
                      <a:r>
                        <a:rPr lang="en-US" sz="1250" b="1" dirty="0">
                          <a:solidFill>
                            <a:srgbClr val="1F3A5F"/>
                          </a:solidFill>
                          <a:latin typeface="Calibri" pitchFamily="34" charset="0"/>
                          <a:ea typeface="Calibri" pitchFamily="34" charset="-122"/>
                          <a:cs typeface="Calibri" pitchFamily="34" charset="-120"/>
                        </a:rPr>
                        <a:t>Payback</a:t>
                      </a:r>
                      <a:endParaRPr lang="en-US" sz="1250" dirty="0">
                        <a:latin typeface="Calibri" charset="0"/>
                        <a:ea typeface="Calibri" charset="0"/>
                        <a:cs typeface="Calibri" charset="0"/>
                      </a:endParaRPr>
                    </a:p>
                  </a:txBody>
                  <a:tcPr marL="54864" marR="54864" marT="54864" marB="54864">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E8EDF3"/>
                    </a:solidFill>
                  </a:tcPr>
                </a:tc>
              </a:tr>
              <a:tr h="329184">
                <a:tc>
                  <a:txBody>
                    <a:bodyPr/>
                    <a:lstStyle/>
                    <a:p>
                      <a:pPr algn="l" indent="0" marL="0">
                        <a:buNone/>
                      </a:pPr>
                      <a:r>
                        <a:rPr lang="en-US" sz="1250" dirty="0">
                          <a:solidFill>
                            <a:srgbClr val="1A1A1A"/>
                          </a:solidFill>
                          <a:latin typeface="Calibri" pitchFamily="34" charset="0"/>
                          <a:ea typeface="Calibri" pitchFamily="34" charset="-122"/>
                          <a:cs typeface="Calibri" pitchFamily="34" charset="-120"/>
                        </a:rPr>
                        <a:t>Critical repairs + spares</a:t>
                      </a:r>
                      <a:endParaRPr lang="en-US" sz="1250" dirty="0">
                        <a:latin typeface="Calibri" charset="0"/>
                        <a:ea typeface="Calibri" charset="0"/>
                        <a:cs typeface="Calibri" charset="0"/>
                      </a:endParaRPr>
                    </a:p>
                  </a:txBody>
                  <a:tcPr marL="54864" marR="54864" marT="54864" marB="54864">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algn="r" indent="0" marL="0">
                        <a:buNone/>
                      </a:pPr>
                      <a:r>
                        <a:rPr lang="en-US" sz="1250" dirty="0">
                          <a:solidFill>
                            <a:srgbClr val="1A1A1A"/>
                          </a:solidFill>
                          <a:latin typeface="Calibri" pitchFamily="34" charset="0"/>
                          <a:ea typeface="Calibri" pitchFamily="34" charset="-122"/>
                          <a:cs typeface="Calibri" pitchFamily="34" charset="-120"/>
                        </a:rPr>
                        <a:t>1,332</a:t>
                      </a:r>
                      <a:endParaRPr lang="en-US" sz="1250" dirty="0">
                        <a:latin typeface="Calibri" charset="0"/>
                        <a:ea typeface="Calibri" charset="0"/>
                        <a:cs typeface="Calibri" charset="0"/>
                      </a:endParaRPr>
                    </a:p>
                  </a:txBody>
                  <a:tcPr marL="54864" marR="54864" marT="54864" marB="54864">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algn="r" indent="0" marL="0">
                        <a:buNone/>
                      </a:pPr>
                      <a:r>
                        <a:rPr lang="en-US" sz="1250" dirty="0">
                          <a:solidFill>
                            <a:srgbClr val="1A1A1A"/>
                          </a:solidFill>
                          <a:latin typeface="Calibri" pitchFamily="34" charset="0"/>
                          <a:ea typeface="Calibri" pitchFamily="34" charset="-122"/>
                          <a:cs typeface="Calibri" pitchFamily="34" charset="-120"/>
                        </a:rPr>
                        <a:t>$0.81M</a:t>
                      </a:r>
                      <a:endParaRPr lang="en-US" sz="1250" dirty="0">
                        <a:latin typeface="Calibri" charset="0"/>
                        <a:ea typeface="Calibri" charset="0"/>
                        <a:cs typeface="Calibri" charset="0"/>
                      </a:endParaRPr>
                    </a:p>
                  </a:txBody>
                  <a:tcPr marL="54864" marR="54864" marT="54864" marB="54864">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algn="r" indent="0" marL="0">
                        <a:buNone/>
                      </a:pPr>
                      <a:r>
                        <a:rPr lang="en-US" sz="1250" dirty="0">
                          <a:solidFill>
                            <a:srgbClr val="1A1A1A"/>
                          </a:solidFill>
                          <a:latin typeface="Calibri" pitchFamily="34" charset="0"/>
                          <a:ea typeface="Calibri" pitchFamily="34" charset="-122"/>
                          <a:cs typeface="Calibri" pitchFamily="34" charset="-120"/>
                        </a:rPr>
                        <a:t>$2.56M</a:t>
                      </a:r>
                      <a:endParaRPr lang="en-US" sz="1250" dirty="0">
                        <a:latin typeface="Calibri" charset="0"/>
                        <a:ea typeface="Calibri" charset="0"/>
                        <a:cs typeface="Calibri" charset="0"/>
                      </a:endParaRPr>
                    </a:p>
                  </a:txBody>
                  <a:tcPr marL="54864" marR="54864" marT="54864" marB="54864">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algn="r" indent="0" marL="0">
                        <a:buNone/>
                      </a:pPr>
                      <a:r>
                        <a:rPr lang="en-US" sz="1250" dirty="0">
                          <a:solidFill>
                            <a:srgbClr val="1A1A1A"/>
                          </a:solidFill>
                          <a:latin typeface="Calibri" pitchFamily="34" charset="0"/>
                          <a:ea typeface="Calibri" pitchFamily="34" charset="-122"/>
                          <a:cs typeface="Calibri" pitchFamily="34" charset="-120"/>
                        </a:rPr>
                        <a:t>2.9 mo</a:t>
                      </a:r>
                      <a:endParaRPr lang="en-US" sz="1250" dirty="0">
                        <a:latin typeface="Calibri" charset="0"/>
                        <a:ea typeface="Calibri" charset="0"/>
                        <a:cs typeface="Calibri" charset="0"/>
                      </a:endParaRPr>
                    </a:p>
                  </a:txBody>
                  <a:tcPr marL="54864" marR="54864" marT="54864" marB="54864">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r>
              <a:tr h="329184">
                <a:tc>
                  <a:txBody>
                    <a:bodyPr/>
                    <a:lstStyle/>
                    <a:p>
                      <a:pPr algn="l" indent="0" marL="0">
                        <a:buNone/>
                      </a:pPr>
                      <a:r>
                        <a:rPr lang="en-US" sz="1250" dirty="0">
                          <a:solidFill>
                            <a:srgbClr val="1A1A1A"/>
                          </a:solidFill>
                          <a:latin typeface="Calibri" pitchFamily="34" charset="0"/>
                          <a:ea typeface="Calibri" pitchFamily="34" charset="-122"/>
                          <a:cs typeface="Calibri" pitchFamily="34" charset="-120"/>
                        </a:rPr>
                        <a:t>Reactive → condition-based</a:t>
                      </a:r>
                      <a:endParaRPr lang="en-US" sz="1250" dirty="0">
                        <a:latin typeface="Calibri" charset="0"/>
                        <a:ea typeface="Calibri" charset="0"/>
                        <a:cs typeface="Calibri" charset="0"/>
                      </a:endParaRPr>
                    </a:p>
                  </a:txBody>
                  <a:tcPr marL="54864" marR="54864" marT="54864" marB="54864">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algn="r" indent="0" marL="0">
                        <a:buNone/>
                      </a:pPr>
                      <a:r>
                        <a:rPr lang="en-US" sz="1250" dirty="0">
                          <a:solidFill>
                            <a:srgbClr val="1A1A1A"/>
                          </a:solidFill>
                          <a:latin typeface="Calibri" pitchFamily="34" charset="0"/>
                          <a:ea typeface="Calibri" pitchFamily="34" charset="-122"/>
                          <a:cs typeface="Calibri" pitchFamily="34" charset="-120"/>
                        </a:rPr>
                        <a:t>792</a:t>
                      </a:r>
                      <a:endParaRPr lang="en-US" sz="1250" dirty="0">
                        <a:latin typeface="Calibri" charset="0"/>
                        <a:ea typeface="Calibri" charset="0"/>
                        <a:cs typeface="Calibri" charset="0"/>
                      </a:endParaRPr>
                    </a:p>
                  </a:txBody>
                  <a:tcPr marL="54864" marR="54864" marT="54864" marB="54864">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algn="r" indent="0" marL="0">
                        <a:buNone/>
                      </a:pPr>
                      <a:r>
                        <a:rPr lang="en-US" sz="1250" dirty="0">
                          <a:solidFill>
                            <a:srgbClr val="1A1A1A"/>
                          </a:solidFill>
                          <a:latin typeface="Calibri" pitchFamily="34" charset="0"/>
                          <a:ea typeface="Calibri" pitchFamily="34" charset="-122"/>
                          <a:cs typeface="Calibri" pitchFamily="34" charset="-120"/>
                        </a:rPr>
                        <a:t>$0.00M*</a:t>
                      </a:r>
                      <a:endParaRPr lang="en-US" sz="1250" dirty="0">
                        <a:latin typeface="Calibri" charset="0"/>
                        <a:ea typeface="Calibri" charset="0"/>
                        <a:cs typeface="Calibri" charset="0"/>
                      </a:endParaRPr>
                    </a:p>
                  </a:txBody>
                  <a:tcPr marL="54864" marR="54864" marT="54864" marB="54864">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algn="r" indent="0" marL="0">
                        <a:buNone/>
                      </a:pPr>
                      <a:r>
                        <a:rPr lang="en-US" sz="1250" dirty="0">
                          <a:solidFill>
                            <a:srgbClr val="1A1A1A"/>
                          </a:solidFill>
                          <a:latin typeface="Calibri" pitchFamily="34" charset="0"/>
                          <a:ea typeface="Calibri" pitchFamily="34" charset="-122"/>
                          <a:cs typeface="Calibri" pitchFamily="34" charset="-120"/>
                        </a:rPr>
                        <a:t>$2.47M</a:t>
                      </a:r>
                      <a:endParaRPr lang="en-US" sz="1250" dirty="0">
                        <a:latin typeface="Calibri" charset="0"/>
                        <a:ea typeface="Calibri" charset="0"/>
                        <a:cs typeface="Calibri" charset="0"/>
                      </a:endParaRPr>
                    </a:p>
                  </a:txBody>
                  <a:tcPr marL="54864" marR="54864" marT="54864" marB="54864">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algn="r" indent="0" marL="0">
                        <a:buNone/>
                      </a:pPr>
                      <a:r>
                        <a:rPr lang="en-US" sz="1250" dirty="0">
                          <a:solidFill>
                            <a:srgbClr val="1A1A1A"/>
                          </a:solidFill>
                          <a:latin typeface="Calibri" pitchFamily="34" charset="0"/>
                          <a:ea typeface="Calibri" pitchFamily="34" charset="-122"/>
                          <a:cs typeface="Calibri" pitchFamily="34" charset="-120"/>
                        </a:rPr>
                        <a:t>immediate*</a:t>
                      </a:r>
                      <a:endParaRPr lang="en-US" sz="1250" dirty="0">
                        <a:latin typeface="Calibri" charset="0"/>
                        <a:ea typeface="Calibri" charset="0"/>
                        <a:cs typeface="Calibri" charset="0"/>
                      </a:endParaRPr>
                    </a:p>
                  </a:txBody>
                  <a:tcPr marL="54864" marR="54864" marT="54864" marB="54864">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r>
              <a:tr h="329184">
                <a:tc>
                  <a:txBody>
                    <a:bodyPr/>
                    <a:lstStyle/>
                    <a:p>
                      <a:pPr algn="l" indent="0" marL="0">
                        <a:buNone/>
                      </a:pPr>
                      <a:r>
                        <a:rPr lang="en-US" sz="1250" dirty="0">
                          <a:solidFill>
                            <a:srgbClr val="1A1A1A"/>
                          </a:solidFill>
                          <a:latin typeface="Calibri" pitchFamily="34" charset="0"/>
                          <a:ea typeface="Calibri" pitchFamily="34" charset="-122"/>
                          <a:cs typeface="Calibri" pitchFamily="34" charset="-120"/>
                        </a:rPr>
                        <a:t>Watchlist inspections</a:t>
                      </a:r>
                      <a:endParaRPr lang="en-US" sz="1250" dirty="0">
                        <a:latin typeface="Calibri" charset="0"/>
                        <a:ea typeface="Calibri" charset="0"/>
                        <a:cs typeface="Calibri" charset="0"/>
                      </a:endParaRPr>
                    </a:p>
                  </a:txBody>
                  <a:tcPr marL="54864" marR="54864" marT="54864" marB="54864">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algn="r" indent="0" marL="0">
                        <a:buNone/>
                      </a:pPr>
                      <a:r>
                        <a:rPr lang="en-US" sz="1250" dirty="0">
                          <a:solidFill>
                            <a:srgbClr val="1A1A1A"/>
                          </a:solidFill>
                          <a:latin typeface="Calibri" pitchFamily="34" charset="0"/>
                          <a:ea typeface="Calibri" pitchFamily="34" charset="-122"/>
                          <a:cs typeface="Calibri" pitchFamily="34" charset="-120"/>
                        </a:rPr>
                        <a:t>642</a:t>
                      </a:r>
                      <a:endParaRPr lang="en-US" sz="1250" dirty="0">
                        <a:latin typeface="Calibri" charset="0"/>
                        <a:ea typeface="Calibri" charset="0"/>
                        <a:cs typeface="Calibri" charset="0"/>
                      </a:endParaRPr>
                    </a:p>
                  </a:txBody>
                  <a:tcPr marL="54864" marR="54864" marT="54864" marB="54864">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algn="r" indent="0" marL="0">
                        <a:buNone/>
                      </a:pPr>
                      <a:r>
                        <a:rPr lang="en-US" sz="1250" dirty="0">
                          <a:solidFill>
                            <a:srgbClr val="1A1A1A"/>
                          </a:solidFill>
                          <a:latin typeface="Calibri" pitchFamily="34" charset="0"/>
                          <a:ea typeface="Calibri" pitchFamily="34" charset="-122"/>
                          <a:cs typeface="Calibri" pitchFamily="34" charset="-120"/>
                        </a:rPr>
                        <a:t>$0.09M</a:t>
                      </a:r>
                      <a:endParaRPr lang="en-US" sz="1250" dirty="0">
                        <a:latin typeface="Calibri" charset="0"/>
                        <a:ea typeface="Calibri" charset="0"/>
                        <a:cs typeface="Calibri" charset="0"/>
                      </a:endParaRPr>
                    </a:p>
                  </a:txBody>
                  <a:tcPr marL="54864" marR="54864" marT="54864" marB="54864">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algn="r" indent="0" marL="0">
                        <a:buNone/>
                      </a:pPr>
                      <a:r>
                        <a:rPr lang="en-US" sz="1250" dirty="0">
                          <a:solidFill>
                            <a:srgbClr val="1A1A1A"/>
                          </a:solidFill>
                          <a:latin typeface="Calibri" pitchFamily="34" charset="0"/>
                          <a:ea typeface="Calibri" pitchFamily="34" charset="-122"/>
                          <a:cs typeface="Calibri" pitchFamily="34" charset="-120"/>
                        </a:rPr>
                        <a:t>$1.53M</a:t>
                      </a:r>
                      <a:endParaRPr lang="en-US" sz="1250" dirty="0">
                        <a:latin typeface="Calibri" charset="0"/>
                        <a:ea typeface="Calibri" charset="0"/>
                        <a:cs typeface="Calibri" charset="0"/>
                      </a:endParaRPr>
                    </a:p>
                  </a:txBody>
                  <a:tcPr marL="54864" marR="54864" marT="54864" marB="54864">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algn="r" indent="0" marL="0">
                        <a:buNone/>
                      </a:pPr>
                      <a:r>
                        <a:rPr lang="en-US" sz="1250" dirty="0">
                          <a:solidFill>
                            <a:srgbClr val="1A1A1A"/>
                          </a:solidFill>
                          <a:latin typeface="Calibri" pitchFamily="34" charset="0"/>
                          <a:ea typeface="Calibri" pitchFamily="34" charset="-122"/>
                          <a:cs typeface="Calibri" pitchFamily="34" charset="-120"/>
                        </a:rPr>
                        <a:t>0.6 mo</a:t>
                      </a:r>
                      <a:endParaRPr lang="en-US" sz="1250" dirty="0">
                        <a:latin typeface="Calibri" charset="0"/>
                        <a:ea typeface="Calibri" charset="0"/>
                        <a:cs typeface="Calibri" charset="0"/>
                      </a:endParaRPr>
                    </a:p>
                  </a:txBody>
                  <a:tcPr marL="54864" marR="54864" marT="54864" marB="54864">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r>
              <a:tr h="329184">
                <a:tc>
                  <a:txBody>
                    <a:bodyPr/>
                    <a:lstStyle/>
                    <a:p>
                      <a:pPr algn="l" indent="0" marL="0">
                        <a:buNone/>
                      </a:pPr>
                      <a:r>
                        <a:rPr lang="en-US" sz="1250" b="1" dirty="0">
                          <a:solidFill>
                            <a:srgbClr val="1A1A1A"/>
                          </a:solidFill>
                          <a:latin typeface="Calibri" pitchFamily="34" charset="0"/>
                          <a:ea typeface="Calibri" pitchFamily="34" charset="-122"/>
                          <a:cs typeface="Calibri" pitchFamily="34" charset="-120"/>
                        </a:rPr>
                        <a:t>Total</a:t>
                      </a:r>
                      <a:endParaRPr lang="en-US" sz="1250" dirty="0">
                        <a:latin typeface="Calibri" charset="0"/>
                        <a:ea typeface="Calibri" charset="0"/>
                        <a:cs typeface="Calibri" charset="0"/>
                      </a:endParaRPr>
                    </a:p>
                  </a:txBody>
                  <a:tcPr marL="54864" marR="54864" marT="54864" marB="54864">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3F4F6"/>
                    </a:solidFill>
                  </a:tcPr>
                </a:tc>
                <a:tc>
                  <a:txBody>
                    <a:bodyPr/>
                    <a:lstStyle/>
                    <a:p>
                      <a:pPr algn="r" indent="0" marL="0">
                        <a:buNone/>
                      </a:pPr>
                      <a:r>
                        <a:rPr lang="en-US" sz="1250" b="1" dirty="0">
                          <a:solidFill>
                            <a:srgbClr val="1A1A1A"/>
                          </a:solidFill>
                          <a:latin typeface="Calibri" pitchFamily="34" charset="0"/>
                          <a:ea typeface="Calibri" pitchFamily="34" charset="-122"/>
                          <a:cs typeface="Calibri" pitchFamily="34" charset="-120"/>
                        </a:rPr>
                        <a:t>2,766</a:t>
                      </a:r>
                      <a:endParaRPr lang="en-US" sz="1250" dirty="0">
                        <a:latin typeface="Calibri" charset="0"/>
                        <a:ea typeface="Calibri" charset="0"/>
                        <a:cs typeface="Calibri" charset="0"/>
                      </a:endParaRPr>
                    </a:p>
                  </a:txBody>
                  <a:tcPr marL="54864" marR="54864" marT="54864" marB="54864">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3F4F6"/>
                    </a:solidFill>
                  </a:tcPr>
                </a:tc>
                <a:tc>
                  <a:txBody>
                    <a:bodyPr/>
                    <a:lstStyle/>
                    <a:p>
                      <a:pPr algn="r" indent="0" marL="0">
                        <a:buNone/>
                      </a:pPr>
                      <a:r>
                        <a:rPr lang="en-US" sz="1250" b="1" dirty="0">
                          <a:solidFill>
                            <a:srgbClr val="1A1A1A"/>
                          </a:solidFill>
                          <a:latin typeface="Calibri" pitchFamily="34" charset="0"/>
                          <a:ea typeface="Calibri" pitchFamily="34" charset="-122"/>
                          <a:cs typeface="Calibri" pitchFamily="34" charset="-120"/>
                        </a:rPr>
                        <a:t>$0.89M</a:t>
                      </a:r>
                      <a:endParaRPr lang="en-US" sz="1250" dirty="0">
                        <a:latin typeface="Calibri" charset="0"/>
                        <a:ea typeface="Calibri" charset="0"/>
                        <a:cs typeface="Calibri" charset="0"/>
                      </a:endParaRPr>
                    </a:p>
                  </a:txBody>
                  <a:tcPr marL="54864" marR="54864" marT="54864" marB="54864">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3F4F6"/>
                    </a:solidFill>
                  </a:tcPr>
                </a:tc>
                <a:tc>
                  <a:txBody>
                    <a:bodyPr/>
                    <a:lstStyle/>
                    <a:p>
                      <a:pPr algn="r" indent="0" marL="0">
                        <a:buNone/>
                      </a:pPr>
                      <a:r>
                        <a:rPr lang="en-US" sz="1250" b="1" dirty="0">
                          <a:solidFill>
                            <a:srgbClr val="1A1A1A"/>
                          </a:solidFill>
                          <a:latin typeface="Calibri" pitchFamily="34" charset="0"/>
                          <a:ea typeface="Calibri" pitchFamily="34" charset="-122"/>
                          <a:cs typeface="Calibri" pitchFamily="34" charset="-120"/>
                        </a:rPr>
                        <a:t>$6.56M</a:t>
                      </a:r>
                      <a:endParaRPr lang="en-US" sz="1250" dirty="0">
                        <a:latin typeface="Calibri" charset="0"/>
                        <a:ea typeface="Calibri" charset="0"/>
                        <a:cs typeface="Calibri" charset="0"/>
                      </a:endParaRPr>
                    </a:p>
                  </a:txBody>
                  <a:tcPr marL="54864" marR="54864" marT="54864" marB="54864">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3F4F6"/>
                    </a:solidFill>
                  </a:tcPr>
                </a:tc>
                <a:tc>
                  <a:txBody>
                    <a:bodyPr/>
                    <a:lstStyle/>
                    <a:p>
                      <a:pPr algn="r" indent="0" marL="0">
                        <a:buNone/>
                      </a:pPr>
                      <a:r>
                        <a:rPr lang="en-US" sz="1250" b="1" dirty="0">
                          <a:solidFill>
                            <a:srgbClr val="1A1A1A"/>
                          </a:solidFill>
                          <a:latin typeface="Calibri" pitchFamily="34" charset="0"/>
                          <a:ea typeface="Calibri" pitchFamily="34" charset="-122"/>
                          <a:cs typeface="Calibri" pitchFamily="34" charset="-120"/>
                        </a:rPr>
                        <a:t>1.4 mo</a:t>
                      </a:r>
                      <a:endParaRPr lang="en-US" sz="1250" dirty="0">
                        <a:latin typeface="Calibri" charset="0"/>
                        <a:ea typeface="Calibri" charset="0"/>
                        <a:cs typeface="Calibri" charset="0"/>
                      </a:endParaRPr>
                    </a:p>
                  </a:txBody>
                  <a:tcPr marL="54864" marR="54864" marT="54864" marB="54864">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3F4F6"/>
                    </a:solidFill>
                  </a:tcPr>
                </a:tc>
              </a:tr>
            </a:tbl>
          </a:graphicData>
        </a:graphic>
      </p:graphicFrame>
      <p:sp>
        <p:nvSpPr>
          <p:cNvPr id="11" name="Text 7"/>
          <p:cNvSpPr txBox="1"/>
          <p:nvPr/>
        </p:nvSpPr>
        <p:spPr>
          <a:xfrm>
            <a:off x="5760720" y="4709160"/>
            <a:ext cx="5852160" cy="731520"/>
          </a:xfrm>
          <a:prstGeom prst="rect">
            <a:avLst/>
          </a:prstGeom>
          <a:noFill/>
          <a:ln/>
        </p:spPr>
        <p:txBody>
          <a:bodyPr wrap="square" lIns="0" tIns="0" rIns="0" bIns="0" rtlCol="0" anchor="t"/>
          <a:lstStyle/>
          <a:p>
            <a:pPr indent="0" marL="0">
              <a:buNone/>
            </a:pPr>
            <a:r>
              <a:rPr lang="en-US" sz="1250" dirty="0">
                <a:solidFill>
                  <a:schemeClr val="tx1"/>
                </a:solidFill>
              </a:rPr>
              <a:t>3-year NPV at 10%: $16.3M expected ($7.2M–$28.1M). Spares pay back if repair time closes 12% of the gap; inspections if they prevent about one event a year.</a:t>
            </a:r>
            <a:endParaRPr lang="en-US" sz="1250" dirty="0"/>
          </a:p>
        </p:txBody>
      </p:sp>
      <p:sp>
        <p:nvSpPr>
          <p:cNvPr id="12" name="Text 8"/>
          <p:cNvSpPr txBox="1"/>
          <p:nvPr/>
        </p:nvSpPr>
        <p:spPr>
          <a:xfrm>
            <a:off x="5760720" y="5468112"/>
            <a:ext cx="5852160" cy="548640"/>
          </a:xfrm>
          <a:prstGeom prst="rect">
            <a:avLst/>
          </a:prstGeom>
          <a:noFill/>
          <a:ln/>
        </p:spPr>
        <p:txBody>
          <a:bodyPr wrap="square" lIns="0" tIns="0" rIns="0" bIns="0" rtlCol="0" anchor="t"/>
          <a:lstStyle/>
          <a:p>
            <a:pPr indent="0" marL="0">
              <a:buNone/>
            </a:pPr>
            <a:r>
              <a:rPr lang="en-US" sz="1100" i="1" dirty="0">
                <a:solidFill>
                  <a:srgbClr val="6B6B6B"/>
                </a:solidFill>
              </a:rPr>
              <a:t>*No extra cost visible in the data. Estimates on synthetic data, not achieved savings; sensors and programme costs excluded.</a:t>
            </a:r>
            <a:endParaRPr lang="en-US" sz="1100" dirty="0"/>
          </a:p>
        </p:txBody>
      </p:sp>
      <p:sp>
        <p:nvSpPr>
          <p:cNvPr id="13" name="presenter name"/>
          <p:cNvSpPr txBox="1"/>
          <p:nvPr/>
        </p:nvSpPr>
        <p:spPr>
          <a:xfrm>
            <a:off x="6949440" y="164592"/>
            <a:ext cx="4690872" cy="274320"/>
          </a:xfrm>
          <a:prstGeom prst="rect">
            <a:avLst/>
          </a:prstGeom>
          <a:noFill/>
          <a:ln/>
        </p:spPr>
        <p:txBody>
          <a:bodyPr wrap="square" lIns="0" tIns="0" rIns="0" bIns="0" rtlCol="0" anchor="ctr"/>
          <a:lstStyle/>
          <a:p>
            <a:pPr algn="r" indent="0" marL="0">
              <a:buNone/>
            </a:pPr>
            <a:r>
              <a:rPr lang="en-US" sz="1100" dirty="0">
                <a:solidFill>
                  <a:srgbClr val="8C8C8C"/>
                </a:solidFill>
              </a:rPr>
              <a:t>Presenter: </a:t>
            </a:r>
            <a:pPr algn="r" indent="0" marL="0">
              <a:buNone/>
            </a:pPr>
            <a:r>
              <a:rPr lang="en-US" sz="1100" b="1" dirty="0">
                <a:solidFill>
                  <a:srgbClr val="1F3A5F"/>
                </a:solidFill>
              </a:rPr>
              <a:t>Khaled Abdelnasser Morsi Amer</a:t>
            </a:r>
            <a:endParaRPr lang="en-US" sz="1100" dirty="0"/>
          </a:p>
        </p:txBody>
      </p:sp>
      <p:sp>
        <p:nvSpPr>
          <p:cNvPr id="25" name="Slide Number Placeholder 0"/>
          <p:cNvSpPr>
            <a:spLocks noGrp="1"/>
          </p:cNvSpPr>
          <p:nvPr>
            <p:ph type="sldNum" sz="quarter" idx="4294967295"/>
          </p:nvPr>
        </p:nvSpPr>
        <p:spPr>
          <a:xfrm>
            <a:off x="11155680" y="647395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C8C8C"/>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502920"/>
            <a:ext cx="11064240" cy="868680"/>
          </a:xfrm>
          <a:prstGeom prst="rect">
            <a:avLst/>
          </a:prstGeom>
          <a:noFill/>
          <a:ln/>
        </p:spPr>
        <p:txBody>
          <a:bodyPr wrap="square" lIns="0" tIns="0" rIns="0" bIns="0" rtlCol="0" anchor="t"/>
          <a:lstStyle/>
          <a:p>
            <a:pPr algn="l" indent="0" marL="0">
              <a:buNone/>
            </a:pPr>
            <a:r>
              <a:rPr lang="en-US" sz="2600" b="1" dirty="0">
                <a:solidFill>
                  <a:schemeClr val="tx2"/>
                </a:solidFill>
                <a:latin typeface="Cambria" pitchFamily="34" charset="0"/>
                <a:ea typeface="Cambria" pitchFamily="34" charset="-122"/>
                <a:cs typeface="Cambria" pitchFamily="34" charset="-120"/>
              </a:rPr>
              <a:t>Six recommendations, each with evidence, an owner and a KPI</a:t>
            </a:r>
            <a:endParaRPr lang="en-US" sz="2600" dirty="0"/>
          </a:p>
        </p:txBody>
      </p:sp>
      <p:sp>
        <p:nvSpPr>
          <p:cNvPr id="3" name="panel"/>
          <p:cNvSpPr/>
          <p:nvPr/>
        </p:nvSpPr>
        <p:spPr>
          <a:xfrm>
            <a:off x="548640" y="1645920"/>
            <a:ext cx="5440680" cy="1298448"/>
          </a:xfrm>
          <a:prstGeom prst="rect">
            <a:avLst/>
          </a:prstGeom>
          <a:solidFill>
            <a:schemeClr val="bg2"/>
          </a:solidFill>
          <a:ln w="12700">
            <a:solidFill>
              <a:schemeClr val="bg2"/>
            </a:solidFill>
            <a:prstDash val="solid"/>
          </a:ln>
        </p:spPr>
      </p:sp>
      <p:sp>
        <p:nvSpPr>
          <p:cNvPr id="4" name="Text 2"/>
          <p:cNvSpPr txBox="1"/>
          <p:nvPr/>
        </p:nvSpPr>
        <p:spPr>
          <a:xfrm>
            <a:off x="731520" y="1783080"/>
            <a:ext cx="365760" cy="457200"/>
          </a:xfrm>
          <a:prstGeom prst="rect">
            <a:avLst/>
          </a:prstGeom>
          <a:noFill/>
          <a:ln/>
        </p:spPr>
        <p:txBody>
          <a:bodyPr wrap="square" lIns="0" tIns="0" rIns="0" bIns="0" rtlCol="0" anchor="t"/>
          <a:lstStyle/>
          <a:p>
            <a:pPr indent="0" marL="0">
              <a:buNone/>
            </a:pPr>
            <a:r>
              <a:rPr lang="en-US" sz="2400" b="1" dirty="0">
                <a:solidFill>
                  <a:srgbClr val="A23B2A"/>
                </a:solidFill>
                <a:latin typeface="Cambria" pitchFamily="34" charset="0"/>
                <a:ea typeface="Cambria" pitchFamily="34" charset="-122"/>
                <a:cs typeface="Cambria" pitchFamily="34" charset="-120"/>
              </a:rPr>
              <a:t>1</a:t>
            </a:r>
            <a:endParaRPr lang="en-US" sz="2400" dirty="0"/>
          </a:p>
        </p:txBody>
      </p:sp>
      <p:sp>
        <p:nvSpPr>
          <p:cNvPr id="5" name="Text 3"/>
          <p:cNvSpPr txBox="1"/>
          <p:nvPr/>
        </p:nvSpPr>
        <p:spPr>
          <a:xfrm>
            <a:off x="1188720" y="1783080"/>
            <a:ext cx="3291840" cy="347472"/>
          </a:xfrm>
          <a:prstGeom prst="rect">
            <a:avLst/>
          </a:prstGeom>
          <a:noFill/>
          <a:ln/>
        </p:spPr>
        <p:txBody>
          <a:bodyPr wrap="square" lIns="0" tIns="0" rIns="0" bIns="0" rtlCol="0" anchor="t"/>
          <a:lstStyle/>
          <a:p>
            <a:pPr indent="0" marL="0">
              <a:buNone/>
            </a:pPr>
            <a:r>
              <a:rPr lang="en-US" sz="1500" b="1" dirty="0">
                <a:solidFill>
                  <a:schemeClr val="tx2"/>
                </a:solidFill>
              </a:rPr>
              <a:t>Speed up critical repairs</a:t>
            </a:r>
            <a:endParaRPr lang="en-US" sz="1500" dirty="0"/>
          </a:p>
        </p:txBody>
      </p:sp>
      <p:sp>
        <p:nvSpPr>
          <p:cNvPr id="6" name="Text 4"/>
          <p:cNvSpPr txBox="1"/>
          <p:nvPr/>
        </p:nvSpPr>
        <p:spPr>
          <a:xfrm>
            <a:off x="4480560" y="1783080"/>
            <a:ext cx="1371600" cy="347472"/>
          </a:xfrm>
          <a:prstGeom prst="rect">
            <a:avLst/>
          </a:prstGeom>
          <a:noFill/>
          <a:ln/>
        </p:spPr>
        <p:txBody>
          <a:bodyPr wrap="square" lIns="0" tIns="0" rIns="0" bIns="0" rtlCol="0" anchor="t"/>
          <a:lstStyle/>
          <a:p>
            <a:pPr algn="r" indent="0" marL="0">
              <a:buNone/>
            </a:pPr>
            <a:r>
              <a:rPr lang="en-US" sz="1300" b="1" dirty="0">
                <a:solidFill>
                  <a:srgbClr val="A23B2A"/>
                </a:solidFill>
              </a:rPr>
              <a:t>≈1,330 h/yr</a:t>
            </a:r>
            <a:endParaRPr lang="en-US" sz="1300" dirty="0"/>
          </a:p>
        </p:txBody>
      </p:sp>
      <p:sp>
        <p:nvSpPr>
          <p:cNvPr id="7" name="Text 5"/>
          <p:cNvSpPr txBox="1"/>
          <p:nvPr/>
        </p:nvSpPr>
        <p:spPr>
          <a:xfrm>
            <a:off x="1188720" y="2148840"/>
            <a:ext cx="4663440" cy="365760"/>
          </a:xfrm>
          <a:prstGeom prst="rect">
            <a:avLst/>
          </a:prstGeom>
          <a:noFill/>
          <a:ln/>
        </p:spPr>
        <p:txBody>
          <a:bodyPr wrap="square" lIns="0" tIns="0" rIns="0" bIns="0" rtlCol="0" anchor="t"/>
          <a:lstStyle/>
          <a:p>
            <a:pPr indent="0" marL="0">
              <a:buNone/>
            </a:pPr>
            <a:r>
              <a:rPr lang="en-US" sz="1300" dirty="0">
                <a:solidFill>
                  <a:schemeClr val="tx1"/>
                </a:solidFill>
              </a:rPr>
              <a:t>Queue priority, protected spares, escalation</a:t>
            </a:r>
            <a:endParaRPr lang="en-US" sz="1300" dirty="0"/>
          </a:p>
        </p:txBody>
      </p:sp>
      <p:sp>
        <p:nvSpPr>
          <p:cNvPr id="8" name="Text 6"/>
          <p:cNvSpPr txBox="1"/>
          <p:nvPr/>
        </p:nvSpPr>
        <p:spPr>
          <a:xfrm>
            <a:off x="1188720" y="2542032"/>
            <a:ext cx="4663440" cy="292608"/>
          </a:xfrm>
          <a:prstGeom prst="rect">
            <a:avLst/>
          </a:prstGeom>
          <a:noFill/>
          <a:ln/>
        </p:spPr>
        <p:txBody>
          <a:bodyPr wrap="square" lIns="0" tIns="0" rIns="0" bIns="0" rtlCol="0" anchor="t"/>
          <a:lstStyle/>
          <a:p>
            <a:pPr indent="0" marL="0">
              <a:buNone/>
            </a:pPr>
            <a:r>
              <a:rPr lang="en-US" sz="1200" i="1" dirty="0">
                <a:solidFill>
                  <a:srgbClr val="595959"/>
                </a:solidFill>
              </a:rPr>
              <a:t>Owner: Planners + Procurement</a:t>
            </a:r>
            <a:endParaRPr lang="en-US" sz="1200" dirty="0"/>
          </a:p>
        </p:txBody>
      </p:sp>
      <p:sp>
        <p:nvSpPr>
          <p:cNvPr id="9" name="panel"/>
          <p:cNvSpPr/>
          <p:nvPr/>
        </p:nvSpPr>
        <p:spPr>
          <a:xfrm>
            <a:off x="6172200" y="1645920"/>
            <a:ext cx="5440680" cy="1298448"/>
          </a:xfrm>
          <a:prstGeom prst="rect">
            <a:avLst/>
          </a:prstGeom>
          <a:solidFill>
            <a:schemeClr val="bg2"/>
          </a:solidFill>
          <a:ln w="12700">
            <a:solidFill>
              <a:schemeClr val="bg2"/>
            </a:solidFill>
            <a:prstDash val="solid"/>
          </a:ln>
        </p:spPr>
      </p:sp>
      <p:sp>
        <p:nvSpPr>
          <p:cNvPr id="10" name="Text 8"/>
          <p:cNvSpPr txBox="1"/>
          <p:nvPr/>
        </p:nvSpPr>
        <p:spPr>
          <a:xfrm>
            <a:off x="6355080" y="1783080"/>
            <a:ext cx="365760" cy="457200"/>
          </a:xfrm>
          <a:prstGeom prst="rect">
            <a:avLst/>
          </a:prstGeom>
          <a:noFill/>
          <a:ln/>
        </p:spPr>
        <p:txBody>
          <a:bodyPr wrap="square" lIns="0" tIns="0" rIns="0" bIns="0" rtlCol="0" anchor="t"/>
          <a:lstStyle/>
          <a:p>
            <a:pPr indent="0" marL="0">
              <a:buNone/>
            </a:pPr>
            <a:r>
              <a:rPr lang="en-US" sz="2400" b="1" dirty="0">
                <a:solidFill>
                  <a:srgbClr val="A23B2A"/>
                </a:solidFill>
                <a:latin typeface="Cambria" pitchFamily="34" charset="0"/>
                <a:ea typeface="Cambria" pitchFamily="34" charset="-122"/>
                <a:cs typeface="Cambria" pitchFamily="34" charset="-120"/>
              </a:rPr>
              <a:t>2</a:t>
            </a:r>
            <a:endParaRPr lang="en-US" sz="2400" dirty="0"/>
          </a:p>
        </p:txBody>
      </p:sp>
      <p:sp>
        <p:nvSpPr>
          <p:cNvPr id="11" name="Text 9"/>
          <p:cNvSpPr txBox="1"/>
          <p:nvPr/>
        </p:nvSpPr>
        <p:spPr>
          <a:xfrm>
            <a:off x="6812280" y="1783080"/>
            <a:ext cx="3291840" cy="347472"/>
          </a:xfrm>
          <a:prstGeom prst="rect">
            <a:avLst/>
          </a:prstGeom>
          <a:noFill/>
          <a:ln/>
        </p:spPr>
        <p:txBody>
          <a:bodyPr wrap="square" lIns="0" tIns="0" rIns="0" bIns="0" rtlCol="0" anchor="t"/>
          <a:lstStyle/>
          <a:p>
            <a:pPr indent="0" marL="0">
              <a:buNone/>
            </a:pPr>
            <a:r>
              <a:rPr lang="en-US" sz="1500" b="1" dirty="0">
                <a:solidFill>
                  <a:schemeClr val="tx2"/>
                </a:solidFill>
              </a:rPr>
              <a:t>Trial condition-based care</a:t>
            </a:r>
            <a:endParaRPr lang="en-US" sz="1500" dirty="0"/>
          </a:p>
        </p:txBody>
      </p:sp>
      <p:sp>
        <p:nvSpPr>
          <p:cNvPr id="12" name="Text 10"/>
          <p:cNvSpPr txBox="1"/>
          <p:nvPr/>
        </p:nvSpPr>
        <p:spPr>
          <a:xfrm>
            <a:off x="10104120" y="1783080"/>
            <a:ext cx="1371600" cy="347472"/>
          </a:xfrm>
          <a:prstGeom prst="rect">
            <a:avLst/>
          </a:prstGeom>
          <a:noFill/>
          <a:ln/>
        </p:spPr>
        <p:txBody>
          <a:bodyPr wrap="square" lIns="0" tIns="0" rIns="0" bIns="0" rtlCol="0" anchor="t"/>
          <a:lstStyle/>
          <a:p>
            <a:pPr algn="r" indent="0" marL="0">
              <a:buNone/>
            </a:pPr>
            <a:r>
              <a:rPr lang="en-US" sz="1300" b="1" dirty="0">
                <a:solidFill>
                  <a:srgbClr val="A23B2A"/>
                </a:solidFill>
              </a:rPr>
              <a:t>≈790 h/yr</a:t>
            </a:r>
            <a:endParaRPr lang="en-US" sz="1300" dirty="0"/>
          </a:p>
        </p:txBody>
      </p:sp>
      <p:sp>
        <p:nvSpPr>
          <p:cNvPr id="13" name="Text 11"/>
          <p:cNvSpPr txBox="1"/>
          <p:nvPr/>
        </p:nvSpPr>
        <p:spPr>
          <a:xfrm>
            <a:off x="6812280" y="2148840"/>
            <a:ext cx="4663440" cy="365760"/>
          </a:xfrm>
          <a:prstGeom prst="rect">
            <a:avLst/>
          </a:prstGeom>
          <a:noFill/>
          <a:ln/>
        </p:spPr>
        <p:txBody>
          <a:bodyPr wrap="square" lIns="0" tIns="0" rIns="0" bIns="0" rtlCol="0" anchor="t"/>
          <a:lstStyle/>
          <a:p>
            <a:pPr indent="0" marL="0">
              <a:buNone/>
            </a:pPr>
            <a:r>
              <a:rPr lang="en-US" sz="1300" dirty="0">
                <a:solidFill>
                  <a:schemeClr val="tx1"/>
                </a:solidFill>
              </a:rPr>
              <a:t>Older, worn assets; start with critical × reactive</a:t>
            </a:r>
            <a:endParaRPr lang="en-US" sz="1300" dirty="0"/>
          </a:p>
        </p:txBody>
      </p:sp>
      <p:sp>
        <p:nvSpPr>
          <p:cNvPr id="14" name="Text 12"/>
          <p:cNvSpPr txBox="1"/>
          <p:nvPr/>
        </p:nvSpPr>
        <p:spPr>
          <a:xfrm>
            <a:off x="6812280" y="2542032"/>
            <a:ext cx="4663440" cy="292608"/>
          </a:xfrm>
          <a:prstGeom prst="rect">
            <a:avLst/>
          </a:prstGeom>
          <a:noFill/>
          <a:ln/>
        </p:spPr>
        <p:txBody>
          <a:bodyPr wrap="square" lIns="0" tIns="0" rIns="0" bIns="0" rtlCol="0" anchor="t"/>
          <a:lstStyle/>
          <a:p>
            <a:pPr indent="0" marL="0">
              <a:buNone/>
            </a:pPr>
            <a:r>
              <a:rPr lang="en-US" sz="1200" i="1" dirty="0">
                <a:solidFill>
                  <a:srgbClr val="595959"/>
                </a:solidFill>
              </a:rPr>
              <a:t>Owner: Reliability engineers</a:t>
            </a:r>
            <a:endParaRPr lang="en-US" sz="1200" dirty="0"/>
          </a:p>
        </p:txBody>
      </p:sp>
      <p:sp>
        <p:nvSpPr>
          <p:cNvPr id="15" name="panel"/>
          <p:cNvSpPr/>
          <p:nvPr/>
        </p:nvSpPr>
        <p:spPr>
          <a:xfrm>
            <a:off x="548640" y="3108960"/>
            <a:ext cx="5440680" cy="1298448"/>
          </a:xfrm>
          <a:prstGeom prst="rect">
            <a:avLst/>
          </a:prstGeom>
          <a:solidFill>
            <a:schemeClr val="bg2"/>
          </a:solidFill>
          <a:ln w="12700">
            <a:solidFill>
              <a:schemeClr val="bg2"/>
            </a:solidFill>
            <a:prstDash val="solid"/>
          </a:ln>
        </p:spPr>
      </p:sp>
      <p:sp>
        <p:nvSpPr>
          <p:cNvPr id="16" name="Text 14"/>
          <p:cNvSpPr txBox="1"/>
          <p:nvPr/>
        </p:nvSpPr>
        <p:spPr>
          <a:xfrm>
            <a:off x="731520" y="3246120"/>
            <a:ext cx="365760" cy="457200"/>
          </a:xfrm>
          <a:prstGeom prst="rect">
            <a:avLst/>
          </a:prstGeom>
          <a:noFill/>
          <a:ln/>
        </p:spPr>
        <p:txBody>
          <a:bodyPr wrap="square" lIns="0" tIns="0" rIns="0" bIns="0" rtlCol="0" anchor="t"/>
          <a:lstStyle/>
          <a:p>
            <a:pPr indent="0" marL="0">
              <a:buNone/>
            </a:pPr>
            <a:r>
              <a:rPr lang="en-US" sz="2400" b="1" dirty="0">
                <a:solidFill>
                  <a:srgbClr val="A23B2A"/>
                </a:solidFill>
                <a:latin typeface="Cambria" pitchFamily="34" charset="0"/>
                <a:ea typeface="Cambria" pitchFamily="34" charset="-122"/>
                <a:cs typeface="Cambria" pitchFamily="34" charset="-120"/>
              </a:rPr>
              <a:t>3</a:t>
            </a:r>
            <a:endParaRPr lang="en-US" sz="2400" dirty="0"/>
          </a:p>
        </p:txBody>
      </p:sp>
      <p:sp>
        <p:nvSpPr>
          <p:cNvPr id="17" name="Text 15"/>
          <p:cNvSpPr txBox="1"/>
          <p:nvPr/>
        </p:nvSpPr>
        <p:spPr>
          <a:xfrm>
            <a:off x="1188720" y="3246120"/>
            <a:ext cx="3291840" cy="347472"/>
          </a:xfrm>
          <a:prstGeom prst="rect">
            <a:avLst/>
          </a:prstGeom>
          <a:noFill/>
          <a:ln/>
        </p:spPr>
        <p:txBody>
          <a:bodyPr wrap="square" lIns="0" tIns="0" rIns="0" bIns="0" rtlCol="0" anchor="t"/>
          <a:lstStyle/>
          <a:p>
            <a:pPr indent="0" marL="0">
              <a:buNone/>
            </a:pPr>
            <a:r>
              <a:rPr lang="en-US" sz="1500" b="1" dirty="0">
                <a:solidFill>
                  <a:schemeClr val="tx2"/>
                </a:solidFill>
              </a:rPr>
              <a:t>Trial the risk watchlist</a:t>
            </a:r>
            <a:endParaRPr lang="en-US" sz="1500" dirty="0"/>
          </a:p>
        </p:txBody>
      </p:sp>
      <p:sp>
        <p:nvSpPr>
          <p:cNvPr id="18" name="Text 16"/>
          <p:cNvSpPr txBox="1"/>
          <p:nvPr/>
        </p:nvSpPr>
        <p:spPr>
          <a:xfrm>
            <a:off x="4480560" y="3246120"/>
            <a:ext cx="1371600" cy="347472"/>
          </a:xfrm>
          <a:prstGeom prst="rect">
            <a:avLst/>
          </a:prstGeom>
          <a:noFill/>
          <a:ln/>
        </p:spPr>
        <p:txBody>
          <a:bodyPr wrap="square" lIns="0" tIns="0" rIns="0" bIns="0" rtlCol="0" anchor="t"/>
          <a:lstStyle/>
          <a:p>
            <a:pPr algn="r" indent="0" marL="0">
              <a:buNone/>
            </a:pPr>
            <a:r>
              <a:rPr lang="en-US" sz="1300" b="1" dirty="0">
                <a:solidFill>
                  <a:srgbClr val="A23B2A"/>
                </a:solidFill>
              </a:rPr>
              <a:t>≈640 h/yr</a:t>
            </a:r>
            <a:endParaRPr lang="en-US" sz="1300" dirty="0"/>
          </a:p>
        </p:txBody>
      </p:sp>
      <p:sp>
        <p:nvSpPr>
          <p:cNvPr id="19" name="Text 17"/>
          <p:cNvSpPr txBox="1"/>
          <p:nvPr/>
        </p:nvSpPr>
        <p:spPr>
          <a:xfrm>
            <a:off x="1188720" y="3611880"/>
            <a:ext cx="4663440" cy="365760"/>
          </a:xfrm>
          <a:prstGeom prst="rect">
            <a:avLst/>
          </a:prstGeom>
          <a:noFill/>
          <a:ln/>
        </p:spPr>
        <p:txBody>
          <a:bodyPr wrap="square" lIns="0" tIns="0" rIns="0" bIns="0" rtlCol="0" anchor="t"/>
          <a:lstStyle/>
          <a:p>
            <a:pPr indent="0" marL="0">
              <a:buNone/>
            </a:pPr>
            <a:r>
              <a:rPr lang="en-US" sz="1300" dirty="0">
                <a:solidFill>
                  <a:schemeClr val="tx1"/>
                </a:solidFill>
              </a:rPr>
              <a:t>Run alongside planning; a person approves</a:t>
            </a:r>
            <a:endParaRPr lang="en-US" sz="1300" dirty="0"/>
          </a:p>
        </p:txBody>
      </p:sp>
      <p:sp>
        <p:nvSpPr>
          <p:cNvPr id="20" name="Text 18"/>
          <p:cNvSpPr txBox="1"/>
          <p:nvPr/>
        </p:nvSpPr>
        <p:spPr>
          <a:xfrm>
            <a:off x="1188720" y="4005072"/>
            <a:ext cx="4663440" cy="292608"/>
          </a:xfrm>
          <a:prstGeom prst="rect">
            <a:avLst/>
          </a:prstGeom>
          <a:noFill/>
          <a:ln/>
        </p:spPr>
        <p:txBody>
          <a:bodyPr wrap="square" lIns="0" tIns="0" rIns="0" bIns="0" rtlCol="0" anchor="t"/>
          <a:lstStyle/>
          <a:p>
            <a:pPr indent="0" marL="0">
              <a:buNone/>
            </a:pPr>
            <a:r>
              <a:rPr lang="en-US" sz="1200" i="1" dirty="0">
                <a:solidFill>
                  <a:srgbClr val="595959"/>
                </a:solidFill>
              </a:rPr>
              <a:t>Owner: Reliability lead</a:t>
            </a:r>
            <a:endParaRPr lang="en-US" sz="1200" dirty="0"/>
          </a:p>
        </p:txBody>
      </p:sp>
      <p:sp>
        <p:nvSpPr>
          <p:cNvPr id="21" name="panel"/>
          <p:cNvSpPr/>
          <p:nvPr/>
        </p:nvSpPr>
        <p:spPr>
          <a:xfrm>
            <a:off x="6172200" y="3108960"/>
            <a:ext cx="5440680" cy="1298448"/>
          </a:xfrm>
          <a:prstGeom prst="rect">
            <a:avLst/>
          </a:prstGeom>
          <a:solidFill>
            <a:schemeClr val="bg2"/>
          </a:solidFill>
          <a:ln w="12700">
            <a:solidFill>
              <a:schemeClr val="bg2"/>
            </a:solidFill>
            <a:prstDash val="solid"/>
          </a:ln>
        </p:spPr>
      </p:sp>
      <p:sp>
        <p:nvSpPr>
          <p:cNvPr id="22" name="Text 20"/>
          <p:cNvSpPr txBox="1"/>
          <p:nvPr/>
        </p:nvSpPr>
        <p:spPr>
          <a:xfrm>
            <a:off x="6355080" y="3246120"/>
            <a:ext cx="365760" cy="457200"/>
          </a:xfrm>
          <a:prstGeom prst="rect">
            <a:avLst/>
          </a:prstGeom>
          <a:noFill/>
          <a:ln/>
        </p:spPr>
        <p:txBody>
          <a:bodyPr wrap="square" lIns="0" tIns="0" rIns="0" bIns="0" rtlCol="0" anchor="t"/>
          <a:lstStyle/>
          <a:p>
            <a:pPr indent="0" marL="0">
              <a:buNone/>
            </a:pPr>
            <a:r>
              <a:rPr lang="en-US" sz="2400" b="1" dirty="0">
                <a:solidFill>
                  <a:srgbClr val="1F3A5F"/>
                </a:solidFill>
                <a:latin typeface="Cambria" pitchFamily="34" charset="0"/>
                <a:ea typeface="Cambria" pitchFamily="34" charset="-122"/>
                <a:cs typeface="Cambria" pitchFamily="34" charset="-120"/>
              </a:rPr>
              <a:t>4</a:t>
            </a:r>
            <a:endParaRPr lang="en-US" sz="2400" dirty="0"/>
          </a:p>
        </p:txBody>
      </p:sp>
      <p:sp>
        <p:nvSpPr>
          <p:cNvPr id="23" name="Text 21"/>
          <p:cNvSpPr txBox="1"/>
          <p:nvPr/>
        </p:nvSpPr>
        <p:spPr>
          <a:xfrm>
            <a:off x="6812280" y="3246120"/>
            <a:ext cx="3291840" cy="347472"/>
          </a:xfrm>
          <a:prstGeom prst="rect">
            <a:avLst/>
          </a:prstGeom>
          <a:noFill/>
          <a:ln/>
        </p:spPr>
        <p:txBody>
          <a:bodyPr wrap="square" lIns="0" tIns="0" rIns="0" bIns="0" rtlCol="0" anchor="t"/>
          <a:lstStyle/>
          <a:p>
            <a:pPr indent="0" marL="0">
              <a:buNone/>
            </a:pPr>
            <a:r>
              <a:rPr lang="en-US" sz="1500" b="1" dirty="0">
                <a:solidFill>
                  <a:schemeClr val="tx2"/>
                </a:solidFill>
              </a:rPr>
              <a:t>Fix data definitions</a:t>
            </a:r>
            <a:endParaRPr lang="en-US" sz="1500" dirty="0"/>
          </a:p>
        </p:txBody>
      </p:sp>
      <p:sp>
        <p:nvSpPr>
          <p:cNvPr id="24" name="Text 22"/>
          <p:cNvSpPr txBox="1"/>
          <p:nvPr/>
        </p:nvSpPr>
        <p:spPr>
          <a:xfrm>
            <a:off x="10104120" y="3246120"/>
            <a:ext cx="1371600" cy="347472"/>
          </a:xfrm>
          <a:prstGeom prst="rect">
            <a:avLst/>
          </a:prstGeom>
          <a:noFill/>
          <a:ln/>
        </p:spPr>
        <p:txBody>
          <a:bodyPr wrap="square" lIns="0" tIns="0" rIns="0" bIns="0" rtlCol="0" anchor="t"/>
          <a:lstStyle/>
          <a:p>
            <a:pPr algn="r" indent="0" marL="0">
              <a:buNone/>
            </a:pPr>
            <a:r>
              <a:rPr lang="en-US" sz="1300" b="1" dirty="0">
                <a:solidFill>
                  <a:srgbClr val="A23B2A"/>
                </a:solidFill>
              </a:rPr>
              <a:t>Enabler</a:t>
            </a:r>
            <a:endParaRPr lang="en-US" sz="1300" dirty="0"/>
          </a:p>
        </p:txBody>
      </p:sp>
      <p:sp>
        <p:nvSpPr>
          <p:cNvPr id="25" name="Text 23"/>
          <p:cNvSpPr txBox="1"/>
          <p:nvPr/>
        </p:nvSpPr>
        <p:spPr>
          <a:xfrm>
            <a:off x="6812280" y="3611880"/>
            <a:ext cx="4663440" cy="365760"/>
          </a:xfrm>
          <a:prstGeom prst="rect">
            <a:avLst/>
          </a:prstGeom>
          <a:noFill/>
          <a:ln/>
        </p:spPr>
        <p:txBody>
          <a:bodyPr wrap="square" lIns="0" tIns="0" rIns="0" bIns="0" rtlCol="0" anchor="t"/>
          <a:lstStyle/>
          <a:p>
            <a:pPr indent="0" marL="0">
              <a:buNone/>
            </a:pPr>
            <a:r>
              <a:rPr lang="en-US" sz="1300" dirty="0">
                <a:solidFill>
                  <a:schemeClr val="tx1"/>
                </a:solidFill>
              </a:rPr>
              <a:t>Asset codes, costs, one SLA measure, MTTR</a:t>
            </a:r>
            <a:endParaRPr lang="en-US" sz="1300" dirty="0"/>
          </a:p>
        </p:txBody>
      </p:sp>
      <p:sp>
        <p:nvSpPr>
          <p:cNvPr id="26" name="Text 24"/>
          <p:cNvSpPr txBox="1"/>
          <p:nvPr/>
        </p:nvSpPr>
        <p:spPr>
          <a:xfrm>
            <a:off x="6812280" y="4005072"/>
            <a:ext cx="4663440" cy="292608"/>
          </a:xfrm>
          <a:prstGeom prst="rect">
            <a:avLst/>
          </a:prstGeom>
          <a:noFill/>
          <a:ln/>
        </p:spPr>
        <p:txBody>
          <a:bodyPr wrap="square" lIns="0" tIns="0" rIns="0" bIns="0" rtlCol="0" anchor="t"/>
          <a:lstStyle/>
          <a:p>
            <a:pPr indent="0" marL="0">
              <a:buNone/>
            </a:pPr>
            <a:r>
              <a:rPr lang="en-US" sz="1200" i="1" dirty="0">
                <a:solidFill>
                  <a:srgbClr val="595959"/>
                </a:solidFill>
              </a:rPr>
              <a:t>Owner: KPI lead + Finance</a:t>
            </a:r>
            <a:endParaRPr lang="en-US" sz="1200" dirty="0"/>
          </a:p>
        </p:txBody>
      </p:sp>
      <p:sp>
        <p:nvSpPr>
          <p:cNvPr id="27" name="panel"/>
          <p:cNvSpPr/>
          <p:nvPr/>
        </p:nvSpPr>
        <p:spPr>
          <a:xfrm>
            <a:off x="548640" y="4572000"/>
            <a:ext cx="5440680" cy="1298448"/>
          </a:xfrm>
          <a:prstGeom prst="rect">
            <a:avLst/>
          </a:prstGeom>
          <a:solidFill>
            <a:schemeClr val="bg2"/>
          </a:solidFill>
          <a:ln w="12700">
            <a:solidFill>
              <a:schemeClr val="bg2"/>
            </a:solidFill>
            <a:prstDash val="solid"/>
          </a:ln>
        </p:spPr>
      </p:sp>
      <p:sp>
        <p:nvSpPr>
          <p:cNvPr id="28" name="Text 26"/>
          <p:cNvSpPr txBox="1"/>
          <p:nvPr/>
        </p:nvSpPr>
        <p:spPr>
          <a:xfrm>
            <a:off x="731520" y="4709160"/>
            <a:ext cx="365760" cy="457200"/>
          </a:xfrm>
          <a:prstGeom prst="rect">
            <a:avLst/>
          </a:prstGeom>
          <a:noFill/>
          <a:ln/>
        </p:spPr>
        <p:txBody>
          <a:bodyPr wrap="square" lIns="0" tIns="0" rIns="0" bIns="0" rtlCol="0" anchor="t"/>
          <a:lstStyle/>
          <a:p>
            <a:pPr indent="0" marL="0">
              <a:buNone/>
            </a:pPr>
            <a:r>
              <a:rPr lang="en-US" sz="2400" b="1" dirty="0">
                <a:solidFill>
                  <a:srgbClr val="1F3A5F"/>
                </a:solidFill>
                <a:latin typeface="Cambria" pitchFamily="34" charset="0"/>
                <a:ea typeface="Cambria" pitchFamily="34" charset="-122"/>
                <a:cs typeface="Cambria" pitchFamily="34" charset="-120"/>
              </a:rPr>
              <a:t>5</a:t>
            </a:r>
            <a:endParaRPr lang="en-US" sz="2400" dirty="0"/>
          </a:p>
        </p:txBody>
      </p:sp>
      <p:sp>
        <p:nvSpPr>
          <p:cNvPr id="29" name="Text 27"/>
          <p:cNvSpPr txBox="1"/>
          <p:nvPr/>
        </p:nvSpPr>
        <p:spPr>
          <a:xfrm>
            <a:off x="1188720" y="4709160"/>
            <a:ext cx="3291840" cy="347472"/>
          </a:xfrm>
          <a:prstGeom prst="rect">
            <a:avLst/>
          </a:prstGeom>
          <a:noFill/>
          <a:ln/>
        </p:spPr>
        <p:txBody>
          <a:bodyPr wrap="square" lIns="0" tIns="0" rIns="0" bIns="0" rtlCol="0" anchor="t"/>
          <a:lstStyle/>
          <a:p>
            <a:pPr indent="0" marL="0">
              <a:buNone/>
            </a:pPr>
            <a:r>
              <a:rPr lang="en-US" sz="1500" b="1" dirty="0">
                <a:solidFill>
                  <a:schemeClr val="tx2"/>
                </a:solidFill>
              </a:rPr>
              <a:t>Budget on downtime</a:t>
            </a:r>
            <a:endParaRPr lang="en-US" sz="1500" dirty="0"/>
          </a:p>
        </p:txBody>
      </p:sp>
      <p:sp>
        <p:nvSpPr>
          <p:cNvPr id="30" name="Text 28"/>
          <p:cNvSpPr txBox="1"/>
          <p:nvPr/>
        </p:nvSpPr>
        <p:spPr>
          <a:xfrm>
            <a:off x="4480560" y="4709160"/>
            <a:ext cx="1371600" cy="347472"/>
          </a:xfrm>
          <a:prstGeom prst="rect">
            <a:avLst/>
          </a:prstGeom>
          <a:noFill/>
          <a:ln/>
        </p:spPr>
        <p:txBody>
          <a:bodyPr wrap="square" lIns="0" tIns="0" rIns="0" bIns="0" rtlCol="0" anchor="t"/>
          <a:lstStyle/>
          <a:p>
            <a:pPr algn="r" indent="0" marL="0">
              <a:buNone/>
            </a:pPr>
            <a:r>
              <a:rPr lang="en-US" sz="1300" b="1" dirty="0">
                <a:solidFill>
                  <a:srgbClr val="A23B2A"/>
                </a:solidFill>
              </a:rPr>
              <a:t>1% ≈ $0.9M/yr</a:t>
            </a:r>
            <a:endParaRPr lang="en-US" sz="1300" dirty="0"/>
          </a:p>
        </p:txBody>
      </p:sp>
      <p:sp>
        <p:nvSpPr>
          <p:cNvPr id="31" name="Text 29"/>
          <p:cNvSpPr txBox="1"/>
          <p:nvPr/>
        </p:nvSpPr>
        <p:spPr>
          <a:xfrm>
            <a:off x="1188720" y="5074920"/>
            <a:ext cx="4663440" cy="365760"/>
          </a:xfrm>
          <a:prstGeom prst="rect">
            <a:avLst/>
          </a:prstGeom>
          <a:noFill/>
          <a:ln/>
        </p:spPr>
        <p:txBody>
          <a:bodyPr wrap="square" lIns="0" tIns="0" rIns="0" bIns="0" rtlCol="0" anchor="t"/>
          <a:lstStyle/>
          <a:p>
            <a:pPr indent="0" marL="0">
              <a:buNone/>
            </a:pPr>
            <a:r>
              <a:rPr lang="en-US" sz="1300" dirty="0">
                <a:solidFill>
                  <a:schemeClr val="tx1"/>
                </a:solidFill>
              </a:rPr>
              <a:t>Value proposals at $2,513 per hour</a:t>
            </a:r>
            <a:endParaRPr lang="en-US" sz="1300" dirty="0"/>
          </a:p>
        </p:txBody>
      </p:sp>
      <p:sp>
        <p:nvSpPr>
          <p:cNvPr id="32" name="Text 30"/>
          <p:cNvSpPr txBox="1"/>
          <p:nvPr/>
        </p:nvSpPr>
        <p:spPr>
          <a:xfrm>
            <a:off x="1188720" y="5468112"/>
            <a:ext cx="4663440" cy="292608"/>
          </a:xfrm>
          <a:prstGeom prst="rect">
            <a:avLst/>
          </a:prstGeom>
          <a:noFill/>
          <a:ln/>
        </p:spPr>
        <p:txBody>
          <a:bodyPr wrap="square" lIns="0" tIns="0" rIns="0" bIns="0" rtlCol="0" anchor="t"/>
          <a:lstStyle/>
          <a:p>
            <a:pPr indent="0" marL="0">
              <a:buNone/>
            </a:pPr>
            <a:r>
              <a:rPr lang="en-US" sz="1200" i="1" dirty="0">
                <a:solidFill>
                  <a:srgbClr val="595959"/>
                </a:solidFill>
              </a:rPr>
              <a:t>Owner: Finance + Director</a:t>
            </a:r>
            <a:endParaRPr lang="en-US" sz="1200" dirty="0"/>
          </a:p>
        </p:txBody>
      </p:sp>
      <p:sp>
        <p:nvSpPr>
          <p:cNvPr id="33" name="panel"/>
          <p:cNvSpPr/>
          <p:nvPr/>
        </p:nvSpPr>
        <p:spPr>
          <a:xfrm>
            <a:off x="6172200" y="4572000"/>
            <a:ext cx="5440680" cy="1298448"/>
          </a:xfrm>
          <a:prstGeom prst="rect">
            <a:avLst/>
          </a:prstGeom>
          <a:solidFill>
            <a:schemeClr val="bg2"/>
          </a:solidFill>
          <a:ln w="12700">
            <a:solidFill>
              <a:schemeClr val="bg2"/>
            </a:solidFill>
            <a:prstDash val="solid"/>
          </a:ln>
        </p:spPr>
      </p:sp>
      <p:sp>
        <p:nvSpPr>
          <p:cNvPr id="34" name="Text 32"/>
          <p:cNvSpPr txBox="1"/>
          <p:nvPr/>
        </p:nvSpPr>
        <p:spPr>
          <a:xfrm>
            <a:off x="6355080" y="4709160"/>
            <a:ext cx="365760" cy="457200"/>
          </a:xfrm>
          <a:prstGeom prst="rect">
            <a:avLst/>
          </a:prstGeom>
          <a:noFill/>
          <a:ln/>
        </p:spPr>
        <p:txBody>
          <a:bodyPr wrap="square" lIns="0" tIns="0" rIns="0" bIns="0" rtlCol="0" anchor="t"/>
          <a:lstStyle/>
          <a:p>
            <a:pPr indent="0" marL="0">
              <a:buNone/>
            </a:pPr>
            <a:r>
              <a:rPr lang="en-US" sz="2400" b="1" dirty="0">
                <a:solidFill>
                  <a:srgbClr val="1F3A5F"/>
                </a:solidFill>
                <a:latin typeface="Cambria" pitchFamily="34" charset="0"/>
                <a:ea typeface="Cambria" pitchFamily="34" charset="-122"/>
                <a:cs typeface="Cambria" pitchFamily="34" charset="-120"/>
              </a:rPr>
              <a:t>6</a:t>
            </a:r>
            <a:endParaRPr lang="en-US" sz="2400" dirty="0"/>
          </a:p>
        </p:txBody>
      </p:sp>
      <p:sp>
        <p:nvSpPr>
          <p:cNvPr id="35" name="Text 33"/>
          <p:cNvSpPr txBox="1"/>
          <p:nvPr/>
        </p:nvSpPr>
        <p:spPr>
          <a:xfrm>
            <a:off x="6812280" y="4709160"/>
            <a:ext cx="3291840" cy="347472"/>
          </a:xfrm>
          <a:prstGeom prst="rect">
            <a:avLst/>
          </a:prstGeom>
          <a:noFill/>
          <a:ln/>
        </p:spPr>
        <p:txBody>
          <a:bodyPr wrap="square" lIns="0" tIns="0" rIns="0" bIns="0" rtlCol="0" anchor="t"/>
          <a:lstStyle/>
          <a:p>
            <a:pPr indent="0" marL="0">
              <a:buNone/>
            </a:pPr>
            <a:r>
              <a:rPr lang="en-US" sz="1500" b="1" dirty="0">
                <a:solidFill>
                  <a:schemeClr val="tx2"/>
                </a:solidFill>
              </a:rPr>
              <a:t>Reserve for large events</a:t>
            </a:r>
            <a:endParaRPr lang="en-US" sz="1500" dirty="0"/>
          </a:p>
        </p:txBody>
      </p:sp>
      <p:sp>
        <p:nvSpPr>
          <p:cNvPr id="36" name="Text 34"/>
          <p:cNvSpPr txBox="1"/>
          <p:nvPr/>
        </p:nvSpPr>
        <p:spPr>
          <a:xfrm>
            <a:off x="10104120" y="4709160"/>
            <a:ext cx="1371600" cy="347472"/>
          </a:xfrm>
          <a:prstGeom prst="rect">
            <a:avLst/>
          </a:prstGeom>
          <a:noFill/>
          <a:ln/>
        </p:spPr>
        <p:txBody>
          <a:bodyPr wrap="square" lIns="0" tIns="0" rIns="0" bIns="0" rtlCol="0" anchor="t"/>
          <a:lstStyle/>
          <a:p>
            <a:pPr algn="r" indent="0" marL="0">
              <a:buNone/>
            </a:pPr>
            <a:r>
              <a:rPr lang="en-US" sz="1300" b="1" dirty="0">
                <a:solidFill>
                  <a:srgbClr val="A23B2A"/>
                </a:solidFill>
              </a:rPr>
              <a:t>Risk control</a:t>
            </a:r>
            <a:endParaRPr lang="en-US" sz="1300" dirty="0"/>
          </a:p>
        </p:txBody>
      </p:sp>
      <p:sp>
        <p:nvSpPr>
          <p:cNvPr id="37" name="Text 35"/>
          <p:cNvSpPr txBox="1"/>
          <p:nvPr/>
        </p:nvSpPr>
        <p:spPr>
          <a:xfrm>
            <a:off x="6812280" y="5074920"/>
            <a:ext cx="4663440" cy="365760"/>
          </a:xfrm>
          <a:prstGeom prst="rect">
            <a:avLst/>
          </a:prstGeom>
          <a:noFill/>
          <a:ln/>
        </p:spPr>
        <p:txBody>
          <a:bodyPr wrap="square" lIns="0" tIns="0" rIns="0" bIns="0" rtlCol="0" anchor="t"/>
          <a:lstStyle/>
          <a:p>
            <a:pPr indent="0" marL="0">
              <a:buNone/>
            </a:pPr>
            <a:r>
              <a:rPr lang="en-US" sz="1300" dirty="0">
                <a:solidFill>
                  <a:schemeClr val="tx1"/>
                </a:solidFill>
              </a:rPr>
              <a:t>Use P90 loss $120K, not the $57K mean</a:t>
            </a:r>
            <a:endParaRPr lang="en-US" sz="1300" dirty="0"/>
          </a:p>
        </p:txBody>
      </p:sp>
      <p:sp>
        <p:nvSpPr>
          <p:cNvPr id="38" name="Text 36"/>
          <p:cNvSpPr txBox="1"/>
          <p:nvPr/>
        </p:nvSpPr>
        <p:spPr>
          <a:xfrm>
            <a:off x="6812280" y="5468112"/>
            <a:ext cx="4663440" cy="292608"/>
          </a:xfrm>
          <a:prstGeom prst="rect">
            <a:avLst/>
          </a:prstGeom>
          <a:noFill/>
          <a:ln/>
        </p:spPr>
        <p:txBody>
          <a:bodyPr wrap="square" lIns="0" tIns="0" rIns="0" bIns="0" rtlCol="0" anchor="t"/>
          <a:lstStyle/>
          <a:p>
            <a:pPr indent="0" marL="0">
              <a:buNone/>
            </a:pPr>
            <a:r>
              <a:rPr lang="en-US" sz="1200" i="1" dirty="0">
                <a:solidFill>
                  <a:srgbClr val="595959"/>
                </a:solidFill>
              </a:rPr>
              <a:t>Owner: Finance controller</a:t>
            </a:r>
            <a:endParaRPr lang="en-US" sz="1200" dirty="0"/>
          </a:p>
        </p:txBody>
      </p:sp>
      <p:sp>
        <p:nvSpPr>
          <p:cNvPr id="39" name="Text 37"/>
          <p:cNvSpPr txBox="1"/>
          <p:nvPr/>
        </p:nvSpPr>
        <p:spPr>
          <a:xfrm>
            <a:off x="548640" y="6126480"/>
            <a:ext cx="11064240" cy="256032"/>
          </a:xfrm>
          <a:prstGeom prst="rect">
            <a:avLst/>
          </a:prstGeom>
          <a:noFill/>
          <a:ln/>
        </p:spPr>
        <p:txBody>
          <a:bodyPr wrap="square" lIns="0" tIns="0" rIns="0" bIns="0" rtlCol="0" anchor="t"/>
          <a:lstStyle/>
          <a:p>
            <a:pPr indent="0" marL="0">
              <a:buNone/>
            </a:pPr>
            <a:r>
              <a:rPr lang="en-US" sz="1000" i="1" dirty="0">
                <a:solidFill>
                  <a:srgbClr val="7A7A7A"/>
                </a:solidFill>
              </a:rPr>
              <a:t>Hours are expected-scenario estimates from the simulation and remain unvalidated until a controlled trial confirms them.</a:t>
            </a:r>
            <a:endParaRPr lang="en-US" sz="1000" dirty="0"/>
          </a:p>
        </p:txBody>
      </p:sp>
      <p:sp>
        <p:nvSpPr>
          <p:cNvPr id="40" name="presenter name"/>
          <p:cNvSpPr txBox="1"/>
          <p:nvPr/>
        </p:nvSpPr>
        <p:spPr>
          <a:xfrm>
            <a:off x="6949440" y="164592"/>
            <a:ext cx="4690872" cy="274320"/>
          </a:xfrm>
          <a:prstGeom prst="rect">
            <a:avLst/>
          </a:prstGeom>
          <a:noFill/>
          <a:ln/>
        </p:spPr>
        <p:txBody>
          <a:bodyPr wrap="square" lIns="0" tIns="0" rIns="0" bIns="0" rtlCol="0" anchor="ctr"/>
          <a:lstStyle/>
          <a:p>
            <a:pPr algn="r" indent="0" marL="0">
              <a:buNone/>
            </a:pPr>
            <a:r>
              <a:rPr lang="en-US" sz="1100" dirty="0">
                <a:solidFill>
                  <a:srgbClr val="8C8C8C"/>
                </a:solidFill>
              </a:rPr>
              <a:t>Presenter: </a:t>
            </a:r>
            <a:pPr algn="r" indent="0" marL="0">
              <a:buNone/>
            </a:pPr>
            <a:r>
              <a:rPr lang="en-US" sz="1100" b="1" dirty="0">
                <a:solidFill>
                  <a:srgbClr val="1F3A5F"/>
                </a:solidFill>
              </a:rPr>
              <a:t>Malak Philippe Sadek Reiad</a:t>
            </a:r>
            <a:endParaRPr lang="en-US" sz="1100" dirty="0"/>
          </a:p>
        </p:txBody>
      </p:sp>
      <p:sp>
        <p:nvSpPr>
          <p:cNvPr id="25" name="Slide Number Placeholder 0"/>
          <p:cNvSpPr>
            <a:spLocks noGrp="1"/>
          </p:cNvSpPr>
          <p:nvPr>
            <p:ph type="sldNum" sz="quarter" idx="4294967295"/>
          </p:nvPr>
        </p:nvSpPr>
        <p:spPr>
          <a:xfrm>
            <a:off x="11155680" y="647395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C8C8C"/>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502920"/>
            <a:ext cx="11064240" cy="868680"/>
          </a:xfrm>
          <a:prstGeom prst="rect">
            <a:avLst/>
          </a:prstGeom>
          <a:noFill/>
          <a:ln/>
        </p:spPr>
        <p:txBody>
          <a:bodyPr wrap="square" lIns="0" tIns="0" rIns="0" bIns="0" rtlCol="0" anchor="t"/>
          <a:lstStyle/>
          <a:p>
            <a:pPr algn="l" indent="0" marL="0">
              <a:buNone/>
            </a:pPr>
            <a:r>
              <a:rPr lang="en-US" sz="2600" b="1" dirty="0">
                <a:solidFill>
                  <a:schemeClr val="tx2"/>
                </a:solidFill>
                <a:latin typeface="Cambria" pitchFamily="34" charset="0"/>
                <a:ea typeface="Cambria" pitchFamily="34" charset="-122"/>
                <a:cs typeface="Cambria" pitchFamily="34" charset="-120"/>
              </a:rPr>
              <a:t>Next steps: act now, prove it in six months, then decide on scale</a:t>
            </a:r>
            <a:endParaRPr lang="en-US" sz="2600" dirty="0"/>
          </a:p>
        </p:txBody>
      </p:sp>
      <p:sp>
        <p:nvSpPr>
          <p:cNvPr id="3" name="phase"/>
          <p:cNvSpPr/>
          <p:nvPr/>
        </p:nvSpPr>
        <p:spPr>
          <a:xfrm>
            <a:off x="548640" y="1691640"/>
            <a:ext cx="3566160" cy="685800"/>
          </a:xfrm>
          <a:prstGeom prst="rect">
            <a:avLst/>
          </a:prstGeom>
          <a:solidFill>
            <a:srgbClr val="A23B2A"/>
          </a:solidFill>
          <a:ln w="12700">
            <a:solidFill>
              <a:srgbClr val="A23B2A"/>
            </a:solidFill>
            <a:prstDash val="solid"/>
          </a:ln>
        </p:spPr>
      </p:sp>
      <p:sp>
        <p:nvSpPr>
          <p:cNvPr id="4" name="Text 2"/>
          <p:cNvSpPr txBox="1"/>
          <p:nvPr/>
        </p:nvSpPr>
        <p:spPr>
          <a:xfrm>
            <a:off x="731520" y="1691640"/>
            <a:ext cx="3200400" cy="685800"/>
          </a:xfrm>
          <a:prstGeom prst="rect">
            <a:avLst/>
          </a:prstGeom>
          <a:noFill/>
          <a:ln/>
        </p:spPr>
        <p:txBody>
          <a:bodyPr wrap="square" lIns="0" tIns="0" rIns="0" bIns="0" rtlCol="0" anchor="ctr"/>
          <a:lstStyle/>
          <a:p>
            <a:pPr indent="0" marL="0">
              <a:buNone/>
            </a:pPr>
            <a:r>
              <a:rPr lang="en-US" sz="1700" b="1" dirty="0">
                <a:solidFill>
                  <a:schemeClr val="bg1"/>
                </a:solidFill>
              </a:rPr>
              <a:t>0–30 days  </a:t>
            </a:r>
            <a:pPr indent="0" marL="0">
              <a:buNone/>
            </a:pPr>
            <a:r>
              <a:rPr lang="en-US" sz="1400" dirty="0">
                <a:solidFill>
                  <a:schemeClr val="bg1"/>
                </a:solidFill>
              </a:rPr>
              <a:t>Act now</a:t>
            </a:r>
            <a:endParaRPr lang="en-US" sz="1500" dirty="0"/>
          </a:p>
        </p:txBody>
      </p:sp>
      <p:sp>
        <p:nvSpPr>
          <p:cNvPr id="5" name="panel"/>
          <p:cNvSpPr/>
          <p:nvPr/>
        </p:nvSpPr>
        <p:spPr>
          <a:xfrm>
            <a:off x="548640" y="2468880"/>
            <a:ext cx="3566160" cy="1691640"/>
          </a:xfrm>
          <a:prstGeom prst="rect">
            <a:avLst/>
          </a:prstGeom>
          <a:solidFill>
            <a:schemeClr val="bg2"/>
          </a:solidFill>
          <a:ln w="12700">
            <a:solidFill>
              <a:schemeClr val="bg2"/>
            </a:solidFill>
            <a:prstDash val="solid"/>
          </a:ln>
        </p:spPr>
      </p:sp>
      <p:sp>
        <p:nvSpPr>
          <p:cNvPr id="6" name="Text 4"/>
          <p:cNvSpPr txBox="1"/>
          <p:nvPr/>
        </p:nvSpPr>
        <p:spPr>
          <a:xfrm>
            <a:off x="777240" y="2651760"/>
            <a:ext cx="3154680" cy="1463040"/>
          </a:xfrm>
          <a:prstGeom prst="rect">
            <a:avLst/>
          </a:prstGeom>
          <a:noFill/>
          <a:ln/>
        </p:spPr>
        <p:txBody>
          <a:bodyPr wrap="square" lIns="0" tIns="0" rIns="0" bIns="0" rtlCol="0" anchor="t"/>
          <a:lstStyle/>
          <a:p>
            <a:pPr marL="190500" indent="-190500">
              <a:spcAft>
                <a:spcPts val="900"/>
              </a:spcAft>
              <a:buSzPct val="100000"/>
              <a:buChar char="•"/>
            </a:pPr>
            <a:r>
              <a:rPr lang="en-US" sz="1400" dirty="0">
                <a:solidFill>
                  <a:schemeClr val="tx1"/>
                </a:solidFill>
              </a:rPr>
              <a:t>Review critical work orders</a:t>
            </a:r>
            <a:endParaRPr lang="en-US" sz="1400" dirty="0"/>
          </a:p>
          <a:p>
            <a:pPr marL="190500" indent="-190500">
              <a:spcAft>
                <a:spcPts val="900"/>
              </a:spcAft>
              <a:buSzPct val="100000"/>
              <a:buChar char="•"/>
            </a:pPr>
            <a:r>
              <a:rPr lang="en-US" sz="1400" dirty="0">
                <a:solidFill>
                  <a:schemeClr val="tx1"/>
                </a:solidFill>
              </a:rPr>
              <a:t>Agree data definitions</a:t>
            </a:r>
            <a:endParaRPr lang="en-US" sz="1400" dirty="0"/>
          </a:p>
          <a:p>
            <a:pPr marL="190500" indent="-190500">
              <a:spcAft>
                <a:spcPts val="900"/>
              </a:spcAft>
              <a:buSzPct val="100000"/>
              <a:buChar char="•"/>
            </a:pPr>
            <a:r>
              <a:rPr lang="en-US" sz="1400" dirty="0">
                <a:solidFill>
                  <a:schemeClr val="tx1"/>
                </a:solidFill>
              </a:rPr>
              <a:t>Set P90 reserve policy</a:t>
            </a:r>
            <a:endParaRPr lang="en-US" sz="1400" dirty="0"/>
          </a:p>
        </p:txBody>
      </p:sp>
      <p:sp>
        <p:nvSpPr>
          <p:cNvPr id="7" name="phase"/>
          <p:cNvSpPr/>
          <p:nvPr/>
        </p:nvSpPr>
        <p:spPr>
          <a:xfrm>
            <a:off x="4297680" y="1691640"/>
            <a:ext cx="3566160" cy="685800"/>
          </a:xfrm>
          <a:prstGeom prst="rect">
            <a:avLst/>
          </a:prstGeom>
          <a:solidFill>
            <a:srgbClr val="1F3A5F"/>
          </a:solidFill>
          <a:ln w="12700">
            <a:solidFill>
              <a:srgbClr val="1F3A5F"/>
            </a:solidFill>
            <a:prstDash val="solid"/>
          </a:ln>
        </p:spPr>
      </p:sp>
      <p:sp>
        <p:nvSpPr>
          <p:cNvPr id="8" name="Text 6"/>
          <p:cNvSpPr txBox="1"/>
          <p:nvPr/>
        </p:nvSpPr>
        <p:spPr>
          <a:xfrm>
            <a:off x="4480560" y="1691640"/>
            <a:ext cx="3200400" cy="685800"/>
          </a:xfrm>
          <a:prstGeom prst="rect">
            <a:avLst/>
          </a:prstGeom>
          <a:noFill/>
          <a:ln/>
        </p:spPr>
        <p:txBody>
          <a:bodyPr wrap="square" lIns="0" tIns="0" rIns="0" bIns="0" rtlCol="0" anchor="ctr"/>
          <a:lstStyle/>
          <a:p>
            <a:pPr indent="0" marL="0">
              <a:buNone/>
            </a:pPr>
            <a:r>
              <a:rPr lang="en-US" sz="1700" b="1" dirty="0">
                <a:solidFill>
                  <a:schemeClr val="bg1"/>
                </a:solidFill>
              </a:rPr>
              <a:t>1–3 months  </a:t>
            </a:r>
            <a:pPr indent="0" marL="0">
              <a:buNone/>
            </a:pPr>
            <a:r>
              <a:rPr lang="en-US" sz="1400" dirty="0">
                <a:solidFill>
                  <a:schemeClr val="bg1"/>
                </a:solidFill>
              </a:rPr>
              <a:t>Prove it</a:t>
            </a:r>
            <a:endParaRPr lang="en-US" sz="1500" dirty="0"/>
          </a:p>
        </p:txBody>
      </p:sp>
      <p:sp>
        <p:nvSpPr>
          <p:cNvPr id="9" name="panel"/>
          <p:cNvSpPr/>
          <p:nvPr/>
        </p:nvSpPr>
        <p:spPr>
          <a:xfrm>
            <a:off x="4297680" y="2468880"/>
            <a:ext cx="3566160" cy="1691640"/>
          </a:xfrm>
          <a:prstGeom prst="rect">
            <a:avLst/>
          </a:prstGeom>
          <a:solidFill>
            <a:schemeClr val="bg2"/>
          </a:solidFill>
          <a:ln w="12700">
            <a:solidFill>
              <a:schemeClr val="bg2"/>
            </a:solidFill>
            <a:prstDash val="solid"/>
          </a:ln>
        </p:spPr>
      </p:sp>
      <p:sp>
        <p:nvSpPr>
          <p:cNvPr id="10" name="Text 8"/>
          <p:cNvSpPr txBox="1"/>
          <p:nvPr/>
        </p:nvSpPr>
        <p:spPr>
          <a:xfrm>
            <a:off x="4526280" y="2651760"/>
            <a:ext cx="3154680" cy="1463040"/>
          </a:xfrm>
          <a:prstGeom prst="rect">
            <a:avLst/>
          </a:prstGeom>
          <a:noFill/>
          <a:ln/>
        </p:spPr>
        <p:txBody>
          <a:bodyPr wrap="square" lIns="0" tIns="0" rIns="0" bIns="0" rtlCol="0" anchor="t"/>
          <a:lstStyle/>
          <a:p>
            <a:pPr marL="190500" indent="-190500">
              <a:spcAft>
                <a:spcPts val="900"/>
              </a:spcAft>
              <a:buSzPct val="100000"/>
              <a:buChar char="•"/>
            </a:pPr>
            <a:r>
              <a:rPr lang="en-US" sz="1400" dirty="0">
                <a:solidFill>
                  <a:schemeClr val="tx1"/>
                </a:solidFill>
              </a:rPr>
              <a:t>Watchlist alongside planning</a:t>
            </a:r>
            <a:endParaRPr lang="en-US" sz="1400" dirty="0"/>
          </a:p>
          <a:p>
            <a:pPr marL="190500" indent="-190500">
              <a:spcAft>
                <a:spcPts val="900"/>
              </a:spcAft>
              <a:buSzPct val="100000"/>
              <a:buChar char="•"/>
            </a:pPr>
            <a:r>
              <a:rPr lang="en-US" sz="1400" dirty="0">
                <a:solidFill>
                  <a:schemeClr val="tx1"/>
                </a:solidFill>
              </a:rPr>
              <a:t>Trial and control groups</a:t>
            </a:r>
            <a:endParaRPr lang="en-US" sz="1400" dirty="0"/>
          </a:p>
          <a:p>
            <a:pPr marL="190500" indent="-190500">
              <a:spcAft>
                <a:spcPts val="900"/>
              </a:spcAft>
              <a:buSzPct val="100000"/>
              <a:buChar char="•"/>
            </a:pPr>
            <a:r>
              <a:rPr lang="en-US" sz="1400" dirty="0">
                <a:solidFill>
                  <a:schemeClr val="tx1"/>
                </a:solidFill>
              </a:rPr>
              <a:t>Spares uplift for critical assets</a:t>
            </a:r>
            <a:endParaRPr lang="en-US" sz="1400" dirty="0"/>
          </a:p>
        </p:txBody>
      </p:sp>
      <p:sp>
        <p:nvSpPr>
          <p:cNvPr id="11" name="phase"/>
          <p:cNvSpPr/>
          <p:nvPr/>
        </p:nvSpPr>
        <p:spPr>
          <a:xfrm>
            <a:off x="8046720" y="1691640"/>
            <a:ext cx="3566160" cy="685800"/>
          </a:xfrm>
          <a:prstGeom prst="rect">
            <a:avLst/>
          </a:prstGeom>
          <a:solidFill>
            <a:srgbClr val="C08A2B"/>
          </a:solidFill>
          <a:ln w="12700">
            <a:solidFill>
              <a:srgbClr val="C08A2B"/>
            </a:solidFill>
            <a:prstDash val="solid"/>
          </a:ln>
        </p:spPr>
      </p:sp>
      <p:sp>
        <p:nvSpPr>
          <p:cNvPr id="12" name="Text 10"/>
          <p:cNvSpPr txBox="1"/>
          <p:nvPr/>
        </p:nvSpPr>
        <p:spPr>
          <a:xfrm>
            <a:off x="8229600" y="1691640"/>
            <a:ext cx="3200400" cy="685800"/>
          </a:xfrm>
          <a:prstGeom prst="rect">
            <a:avLst/>
          </a:prstGeom>
          <a:noFill/>
          <a:ln/>
        </p:spPr>
        <p:txBody>
          <a:bodyPr wrap="square" lIns="0" tIns="0" rIns="0" bIns="0" rtlCol="0" anchor="ctr"/>
          <a:lstStyle/>
          <a:p>
            <a:pPr indent="0" marL="0">
              <a:buNone/>
            </a:pPr>
            <a:r>
              <a:rPr lang="en-US" sz="1700" b="1" dirty="0">
                <a:solidFill>
                  <a:schemeClr val="bg1"/>
                </a:solidFill>
              </a:rPr>
              <a:t>3–6 months  </a:t>
            </a:r>
            <a:pPr indent="0" marL="0">
              <a:buNone/>
            </a:pPr>
            <a:r>
              <a:rPr lang="en-US" sz="1400" dirty="0">
                <a:solidFill>
                  <a:schemeClr val="bg1"/>
                </a:solidFill>
              </a:rPr>
              <a:t>Decide</a:t>
            </a:r>
            <a:endParaRPr lang="en-US" sz="1500" dirty="0"/>
          </a:p>
        </p:txBody>
      </p:sp>
      <p:sp>
        <p:nvSpPr>
          <p:cNvPr id="13" name="panel"/>
          <p:cNvSpPr/>
          <p:nvPr/>
        </p:nvSpPr>
        <p:spPr>
          <a:xfrm>
            <a:off x="8046720" y="2468880"/>
            <a:ext cx="3566160" cy="1691640"/>
          </a:xfrm>
          <a:prstGeom prst="rect">
            <a:avLst/>
          </a:prstGeom>
          <a:solidFill>
            <a:schemeClr val="bg2"/>
          </a:solidFill>
          <a:ln w="12700">
            <a:solidFill>
              <a:schemeClr val="bg2"/>
            </a:solidFill>
            <a:prstDash val="solid"/>
          </a:ln>
        </p:spPr>
      </p:sp>
      <p:sp>
        <p:nvSpPr>
          <p:cNvPr id="14" name="Text 12"/>
          <p:cNvSpPr txBox="1"/>
          <p:nvPr/>
        </p:nvSpPr>
        <p:spPr>
          <a:xfrm>
            <a:off x="8275320" y="2651760"/>
            <a:ext cx="3154680" cy="1463040"/>
          </a:xfrm>
          <a:prstGeom prst="rect">
            <a:avLst/>
          </a:prstGeom>
          <a:noFill/>
          <a:ln/>
        </p:spPr>
        <p:txBody>
          <a:bodyPr wrap="square" lIns="0" tIns="0" rIns="0" bIns="0" rtlCol="0" anchor="t"/>
          <a:lstStyle/>
          <a:p>
            <a:pPr marL="190500" indent="-190500">
              <a:spcAft>
                <a:spcPts val="900"/>
              </a:spcAft>
              <a:buSzPct val="100000"/>
              <a:buChar char="•"/>
            </a:pPr>
            <a:r>
              <a:rPr lang="en-US" sz="1400" dirty="0">
                <a:solidFill>
                  <a:schemeClr val="tx1"/>
                </a:solidFill>
              </a:rPr>
              <a:t>Compare trial vs control</a:t>
            </a:r>
            <a:endParaRPr lang="en-US" sz="1400" dirty="0"/>
          </a:p>
          <a:p>
            <a:pPr marL="190500" indent="-190500">
              <a:spcAft>
                <a:spcPts val="900"/>
              </a:spcAft>
              <a:buSzPct val="100000"/>
              <a:buChar char="•"/>
            </a:pPr>
            <a:r>
              <a:rPr lang="en-US" sz="1400" dirty="0">
                <a:solidFill>
                  <a:schemeClr val="tx1"/>
                </a:solidFill>
              </a:rPr>
              <a:t>Go / no-go on watchlist</a:t>
            </a:r>
            <a:endParaRPr lang="en-US" sz="1400" dirty="0"/>
          </a:p>
          <a:p>
            <a:pPr marL="190500" indent="-190500">
              <a:spcAft>
                <a:spcPts val="900"/>
              </a:spcAft>
              <a:buSzPct val="100000"/>
              <a:buChar char="•"/>
            </a:pPr>
            <a:r>
              <a:rPr lang="en-US" sz="1400" dirty="0">
                <a:solidFill>
                  <a:schemeClr val="tx1"/>
                </a:solidFill>
              </a:rPr>
              <a:t>Budget on downtime hours</a:t>
            </a:r>
            <a:endParaRPr lang="en-US" sz="1400" dirty="0"/>
          </a:p>
        </p:txBody>
      </p:sp>
      <p:sp>
        <p:nvSpPr>
          <p:cNvPr id="15" name="decision request"/>
          <p:cNvSpPr/>
          <p:nvPr/>
        </p:nvSpPr>
        <p:spPr>
          <a:xfrm>
            <a:off x="548640" y="4389120"/>
            <a:ext cx="11064240" cy="1600200"/>
          </a:xfrm>
          <a:prstGeom prst="rect">
            <a:avLst/>
          </a:prstGeom>
          <a:solidFill>
            <a:schemeClr val="tx2"/>
          </a:solidFill>
          <a:ln w="12700">
            <a:solidFill>
              <a:schemeClr val="tx2"/>
            </a:solidFill>
            <a:prstDash val="solid"/>
          </a:ln>
        </p:spPr>
      </p:sp>
      <p:sp>
        <p:nvSpPr>
          <p:cNvPr id="16" name="Text 14"/>
          <p:cNvSpPr txBox="1"/>
          <p:nvPr/>
        </p:nvSpPr>
        <p:spPr>
          <a:xfrm>
            <a:off x="868680" y="4480560"/>
            <a:ext cx="10424160" cy="1417320"/>
          </a:xfrm>
          <a:prstGeom prst="rect">
            <a:avLst/>
          </a:prstGeom>
          <a:noFill/>
          <a:ln/>
        </p:spPr>
        <p:txBody>
          <a:bodyPr wrap="square" lIns="0" tIns="0" rIns="0" bIns="0" rtlCol="0" anchor="ctr"/>
          <a:lstStyle/>
          <a:p>
            <a:pPr indent="0" marL="0">
              <a:buNone/>
            </a:pPr>
            <a:r>
              <a:rPr lang="en-US" sz="1800" b="1" dirty="0">
                <a:solidFill>
                  <a:srgbClr val="E3C78A"/>
                </a:solidFill>
              </a:rPr>
              <a:t>Decision requested today</a:t>
            </a:r>
            <a:endParaRPr lang="en-US" sz="1500" dirty="0"/>
          </a:p>
          <a:p>
            <a:pPr indent="0" marL="0">
              <a:buNone/>
            </a:pPr>
            <a:r>
              <a:rPr lang="en-US" sz="1600" dirty="0">
                <a:solidFill>
                  <a:srgbClr val="FFFFFF"/>
                </a:solidFill>
              </a:rPr>
              <a:t>Approve recommendations 1, 4 and 6 now, and fund a six-month controlled trial of condition-based maintenance and the risk watchlist, judged on downtime hours avoided against a control group.</a:t>
            </a:r>
            <a:endParaRPr lang="en-US" sz="1500" dirty="0"/>
          </a:p>
          <a:p>
            <a:pPr indent="0" marL="0">
              <a:buNone/>
            </a:pPr>
            <a:r>
              <a:rPr lang="en-US" sz="1400" i="1" dirty="0">
                <a:solidFill>
                  <a:srgbClr val="C9D6E8"/>
                </a:solidFill>
              </a:rPr>
              <a:t>Thank you. We welcome your questions.</a:t>
            </a:r>
            <a:endParaRPr lang="en-US" sz="1500" dirty="0"/>
          </a:p>
        </p:txBody>
      </p:sp>
      <p:sp>
        <p:nvSpPr>
          <p:cNvPr id="17" name="presenter name"/>
          <p:cNvSpPr txBox="1"/>
          <p:nvPr/>
        </p:nvSpPr>
        <p:spPr>
          <a:xfrm>
            <a:off x="6949440" y="164592"/>
            <a:ext cx="4690872" cy="274320"/>
          </a:xfrm>
          <a:prstGeom prst="rect">
            <a:avLst/>
          </a:prstGeom>
          <a:noFill/>
          <a:ln/>
        </p:spPr>
        <p:txBody>
          <a:bodyPr wrap="square" lIns="0" tIns="0" rIns="0" bIns="0" rtlCol="0" anchor="ctr"/>
          <a:lstStyle/>
          <a:p>
            <a:pPr algn="r" indent="0" marL="0">
              <a:buNone/>
            </a:pPr>
            <a:r>
              <a:rPr lang="en-US" sz="1100" dirty="0">
                <a:solidFill>
                  <a:srgbClr val="8C8C8C"/>
                </a:solidFill>
              </a:rPr>
              <a:t>Presenter: </a:t>
            </a:r>
            <a:pPr algn="r" indent="0" marL="0">
              <a:buNone/>
            </a:pPr>
            <a:r>
              <a:rPr lang="en-US" sz="1100" b="1" dirty="0">
                <a:solidFill>
                  <a:srgbClr val="1F3A5F"/>
                </a:solidFill>
              </a:rPr>
              <a:t>Malak Philippe Sadek Reiad</a:t>
            </a:r>
            <a:endParaRPr lang="en-US" sz="1100" dirty="0"/>
          </a:p>
        </p:txBody>
      </p:sp>
      <p:sp>
        <p:nvSpPr>
          <p:cNvPr id="25" name="Slide Number Placeholder 0"/>
          <p:cNvSpPr>
            <a:spLocks noGrp="1"/>
          </p:cNvSpPr>
          <p:nvPr>
            <p:ph type="sldNum" sz="quarter" idx="4294967295"/>
          </p:nvPr>
        </p:nvSpPr>
        <p:spPr>
          <a:xfrm>
            <a:off x="11155680" y="647395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C8C8C"/>
                </a:solidFill>
              </a:defRPr>
            </a:lvl1pPr>
          </a:lstStyle>
          <a:p>
            <a:pPr algn="r"/>
            <a:fld id="{F7021451-1387-4CA6-816F-3879F97B5CBC}" type="slidenum">
              <a:rPr b="0" lang="en-US"/>
              <a:t>15</a:t>
            </a:fld>
            <a:endParaRPr lang="en-US"/>
          </a:p>
        </p:txBody>
      </p:sp>
    </p:spTree>
  </p:cSld>
  <p:clrMapOvr>
    <a:masterClrMapping/>
  </p:clrMapOvr>
</p:sld>
</file>

<file path=ppt/theme/theme1.xml><?xml version="1.0" encoding="utf-8"?>
<a:theme xmlns:a="http://schemas.openxmlformats.org/drawingml/2006/main" name="Team3 Academic">
  <a:themeElements>
    <a:clrScheme name="Team3 Academic">
      <a:dk1>
        <a:srgbClr val="1A1A1A"/>
      </a:dk1>
      <a:lt1>
        <a:srgbClr val="FFFFFF"/>
      </a:lt1>
      <a:dk2>
        <a:srgbClr val="1F3A5F"/>
      </a:dk2>
      <a:lt2>
        <a:srgbClr val="F3F4F6"/>
      </a:lt2>
      <a:accent1>
        <a:srgbClr val="1F3A5F"/>
      </a:accent1>
      <a:accent2>
        <a:srgbClr val="A23B2A"/>
      </a:accent2>
      <a:accent3>
        <a:srgbClr val="C08A2B"/>
      </a:accent3>
      <a:accent4>
        <a:srgbClr val="7F8C99"/>
      </a:accent4>
      <a:accent5>
        <a:srgbClr val="5D7593"/>
      </a:accent5>
      <a:accent6>
        <a:srgbClr val="B9C4D2"/>
      </a:accent6>
      <a:hlink>
        <a:srgbClr val="1F3A5F"/>
      </a:hlink>
      <a:folHlink>
        <a:srgbClr val="5D7593"/>
      </a:folHlink>
    </a:clrScheme>
    <a:fontScheme name="Team3 Academic">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Group 9226 Team 3 Executive Presentation</dc:title>
  <dc:subject>PptxGenJS Presentation</dc:subject>
  <dc:creator>Group 9226 Team 3</dc:creator>
  <cp:lastModifiedBy>Group 9226 Team 3</cp:lastModifiedBy>
  <cp:revision>1</cp:revision>
  <dcterms:created xsi:type="dcterms:W3CDTF">2026-10-22T18:22:31Z</dcterms:created>
  <dcterms:modified xsi:type="dcterms:W3CDTF">2026-10-22T18:22:31Z</dcterms:modified>
</cp:coreProperties>
</file>